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34"/>
  </p:notesMasterIdLst>
  <p:handoutMasterIdLst>
    <p:handoutMasterId r:id="rId35"/>
  </p:handoutMasterIdLst>
  <p:sldIdLst>
    <p:sldId id="256" r:id="rId5"/>
    <p:sldId id="389" r:id="rId6"/>
    <p:sldId id="419" r:id="rId7"/>
    <p:sldId id="395" r:id="rId8"/>
    <p:sldId id="420" r:id="rId9"/>
    <p:sldId id="421" r:id="rId10"/>
    <p:sldId id="422" r:id="rId11"/>
    <p:sldId id="423" r:id="rId12"/>
    <p:sldId id="424" r:id="rId13"/>
    <p:sldId id="425" r:id="rId14"/>
    <p:sldId id="426" r:id="rId15"/>
    <p:sldId id="427" r:id="rId16"/>
    <p:sldId id="428" r:id="rId17"/>
    <p:sldId id="429" r:id="rId18"/>
    <p:sldId id="430" r:id="rId19"/>
    <p:sldId id="431" r:id="rId20"/>
    <p:sldId id="432" r:id="rId21"/>
    <p:sldId id="433" r:id="rId22"/>
    <p:sldId id="434" r:id="rId23"/>
    <p:sldId id="435" r:id="rId24"/>
    <p:sldId id="436" r:id="rId25"/>
    <p:sldId id="437" r:id="rId26"/>
    <p:sldId id="438" r:id="rId27"/>
    <p:sldId id="356" r:id="rId28"/>
    <p:sldId id="357" r:id="rId29"/>
    <p:sldId id="439" r:id="rId30"/>
    <p:sldId id="365" r:id="rId31"/>
    <p:sldId id="366" r:id="rId32"/>
    <p:sldId id="268" r:id="rId33"/>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441"/>
    <a:srgbClr val="663300"/>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 pośredni 2 — Ak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5934"/>
  </p:normalViewPr>
  <p:slideViewPr>
    <p:cSldViewPr snapToGrid="0">
      <p:cViewPr varScale="1">
        <p:scale>
          <a:sx n="113" d="100"/>
          <a:sy n="113" d="100"/>
        </p:scale>
        <p:origin x="510" y="11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28.10.2025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28.10.2025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3521587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3256921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2565240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3836435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381792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183200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858833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1588075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1465364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1149626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141141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1762331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4023819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2070623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1272310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1492951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2915278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2072468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3302665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1677717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23617401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2823165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3329023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2606040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12845405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27</a:t>
            </a:fld>
            <a:endParaRPr lang="pl-PL"/>
          </a:p>
        </p:txBody>
      </p:sp>
    </p:spTree>
    <p:extLst>
      <p:ext uri="{BB962C8B-B14F-4D97-AF65-F5344CB8AC3E}">
        <p14:creationId xmlns:p14="http://schemas.microsoft.com/office/powerpoint/2010/main" val="1281002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28</a:t>
            </a:fld>
            <a:endParaRPr lang="pl-PL"/>
          </a:p>
        </p:txBody>
      </p:sp>
    </p:spTree>
    <p:extLst>
      <p:ext uri="{BB962C8B-B14F-4D97-AF65-F5344CB8AC3E}">
        <p14:creationId xmlns:p14="http://schemas.microsoft.com/office/powerpoint/2010/main" val="1469462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29</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5</a:t>
            </a:r>
          </a:p>
          <a:p>
            <a:pPr rtl="0"/>
            <a:r>
              <a:rPr lang="pl-PL" sz="2800" dirty="0" err="1">
                <a:solidFill>
                  <a:srgbClr val="663300"/>
                </a:solidFill>
                <a:latin typeface="Tenorite" panose="00000500000000000000" pitchFamily="2" charset="0"/>
              </a:rPr>
              <a:t>Organizational</a:t>
            </a:r>
            <a:r>
              <a:rPr lang="pl-PL" sz="2800" dirty="0">
                <a:solidFill>
                  <a:srgbClr val="663300"/>
                </a:solidFill>
                <a:latin typeface="Tenorite" panose="00000500000000000000" pitchFamily="2" charset="0"/>
              </a:rPr>
              <a:t> </a:t>
            </a:r>
            <a:r>
              <a:rPr lang="pl-PL" sz="2800" dirty="0" err="1">
                <a:solidFill>
                  <a:srgbClr val="663300"/>
                </a:solidFill>
                <a:latin typeface="Tenorite" panose="00000500000000000000" pitchFamily="2" charset="0"/>
              </a:rPr>
              <a:t>structure</a:t>
            </a:r>
            <a:endParaRPr lang="pl-PL" sz="28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pic>
        <p:nvPicPr>
          <p:cNvPr id="10" name="Picture 4" descr="jmo1920l">
            <a:extLst>
              <a:ext uri="{FF2B5EF4-FFF2-40B4-BE49-F238E27FC236}">
                <a16:creationId xmlns:a16="http://schemas.microsoft.com/office/drawing/2014/main" id="{3904AE63-CFA5-D7BF-6620-CF702CCF2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234" y="1988712"/>
            <a:ext cx="5545532" cy="4411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9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structure</a:t>
            </a:r>
            <a:r>
              <a:rPr lang="pl-PL" sz="5000" dirty="0">
                <a:latin typeface="Tenorite" panose="00000500000000000000" pitchFamily="2" charset="0"/>
              </a:rPr>
              <a:t> - </a:t>
            </a:r>
            <a:r>
              <a:rPr lang="pl-PL" sz="5000" dirty="0" err="1">
                <a:latin typeface="Tenorite" panose="00000500000000000000" pitchFamily="2" charset="0"/>
              </a:rPr>
              <a:t>definitions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317265" y="2840227"/>
            <a:ext cx="7557470" cy="3303900"/>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Organizational structure </a:t>
            </a:r>
            <a:r>
              <a:rPr lang="en-US" sz="2100" dirty="0">
                <a:solidFill>
                  <a:srgbClr val="663300"/>
                </a:solidFill>
                <a:latin typeface="Tenorite" panose="00000500000000000000" pitchFamily="2" charset="0"/>
              </a:rPr>
              <a:t>– the formal arrangement of task, communication and authority relationships that influence and control how people co-ordinate and conduct their work.</a:t>
            </a: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Organigram</a:t>
            </a:r>
            <a:r>
              <a:rPr lang="en-US" sz="2100" dirty="0">
                <a:solidFill>
                  <a:srgbClr val="663300"/>
                </a:solidFill>
                <a:latin typeface="Tenorite" panose="00000500000000000000" pitchFamily="2" charset="0"/>
              </a:rPr>
              <a:t> or organization chart – diagram which consists of </a:t>
            </a:r>
            <a:r>
              <a:rPr lang="en-US" sz="2100" b="1" dirty="0">
                <a:solidFill>
                  <a:srgbClr val="663300"/>
                </a:solidFill>
                <a:latin typeface="Tenorite" panose="00000500000000000000" pitchFamily="2" charset="0"/>
              </a:rPr>
              <a:t>boxes</a:t>
            </a:r>
            <a:r>
              <a:rPr lang="en-US" sz="2100" dirty="0">
                <a:solidFill>
                  <a:srgbClr val="663300"/>
                </a:solidFill>
                <a:latin typeface="Tenorite" panose="00000500000000000000" pitchFamily="2" charset="0"/>
              </a:rPr>
              <a:t> (representing groupings, positions or other structural units) and </a:t>
            </a:r>
            <a:r>
              <a:rPr lang="en-US" sz="2100" b="1" dirty="0">
                <a:solidFill>
                  <a:srgbClr val="663300"/>
                </a:solidFill>
                <a:latin typeface="Tenorite" panose="00000500000000000000" pitchFamily="2" charset="0"/>
              </a:rPr>
              <a:t>lines</a:t>
            </a:r>
            <a:r>
              <a:rPr lang="en-US" sz="2100" dirty="0">
                <a:solidFill>
                  <a:srgbClr val="663300"/>
                </a:solidFill>
                <a:latin typeface="Tenorite" panose="00000500000000000000" pitchFamily="2" charset="0"/>
              </a:rPr>
              <a:t> (depicting reporting relationships).</a:t>
            </a: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379090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1166" y="216507"/>
            <a:ext cx="6229665" cy="1453003"/>
          </a:xfrm>
        </p:spPr>
        <p:txBody>
          <a:bodyPr wrap="square" rtlCol="0" anchor="b">
            <a:normAutofit fontScale="90000"/>
          </a:bodyPr>
          <a:lstStyle/>
          <a:p>
            <a:pPr rtl="0"/>
            <a:r>
              <a:rPr lang="en-US" sz="5000" dirty="0">
                <a:latin typeface="Tenorite" panose="00000500000000000000" pitchFamily="2" charset="0"/>
              </a:rPr>
              <a:t>Organigram – </a:t>
            </a:r>
            <a:br>
              <a:rPr lang="pl-PL" sz="5000" dirty="0">
                <a:latin typeface="Tenorite" panose="00000500000000000000" pitchFamily="2" charset="0"/>
              </a:rPr>
            </a:br>
            <a:r>
              <a:rPr lang="en-US" sz="5000" dirty="0">
                <a:latin typeface="Tenorite" panose="00000500000000000000" pitchFamily="2" charset="0"/>
              </a:rPr>
              <a:t>example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pic>
        <p:nvPicPr>
          <p:cNvPr id="7" name="Picture 2" descr="Znalezione obrazy dla zapytania organigram">
            <a:extLst>
              <a:ext uri="{FF2B5EF4-FFF2-40B4-BE49-F238E27FC236}">
                <a16:creationId xmlns:a16="http://schemas.microsoft.com/office/drawing/2014/main" id="{B26C80B7-168E-D784-0CDB-19E324D4E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2" y="1821681"/>
            <a:ext cx="8512175"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aśnienie prostokątne 3">
            <a:extLst>
              <a:ext uri="{FF2B5EF4-FFF2-40B4-BE49-F238E27FC236}">
                <a16:creationId xmlns:a16="http://schemas.microsoft.com/office/drawing/2014/main" id="{704445B1-D828-D300-B625-66B397426508}"/>
              </a:ext>
            </a:extLst>
          </p:cNvPr>
          <p:cNvSpPr>
            <a:spLocks noChangeArrowheads="1"/>
          </p:cNvSpPr>
          <p:nvPr/>
        </p:nvSpPr>
        <p:spPr bwMode="auto">
          <a:xfrm>
            <a:off x="8769349" y="1893118"/>
            <a:ext cx="1582738" cy="504825"/>
          </a:xfrm>
          <a:prstGeom prst="wedgeRectCallout">
            <a:avLst>
              <a:gd name="adj1" fmla="val -79139"/>
              <a:gd name="adj2" fmla="val 214588"/>
            </a:avLst>
          </a:prstGeom>
          <a:solidFill>
            <a:schemeClr val="tx2"/>
          </a:solidFill>
          <a:ln w="9525" algn="ctr">
            <a:solidFill>
              <a:schemeClr val="tx2"/>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p>
        </p:txBody>
      </p:sp>
      <p:sp>
        <p:nvSpPr>
          <p:cNvPr id="9" name="Objaśnienie prostokątne 6">
            <a:extLst>
              <a:ext uri="{FF2B5EF4-FFF2-40B4-BE49-F238E27FC236}">
                <a16:creationId xmlns:a16="http://schemas.microsoft.com/office/drawing/2014/main" id="{3A3E24A0-F224-226F-EA4A-EBDD1F924BE2}"/>
              </a:ext>
            </a:extLst>
          </p:cNvPr>
          <p:cNvSpPr>
            <a:spLocks noChangeArrowheads="1"/>
          </p:cNvSpPr>
          <p:nvPr/>
        </p:nvSpPr>
        <p:spPr bwMode="auto">
          <a:xfrm>
            <a:off x="8769349" y="1893118"/>
            <a:ext cx="1582738" cy="504825"/>
          </a:xfrm>
          <a:prstGeom prst="wedgeRectCallout">
            <a:avLst>
              <a:gd name="adj1" fmla="val 3074"/>
              <a:gd name="adj2" fmla="val 225583"/>
            </a:avLst>
          </a:prstGeom>
          <a:solidFill>
            <a:schemeClr val="tx2"/>
          </a:solidFill>
          <a:ln w="9525" algn="ctr">
            <a:solidFill>
              <a:schemeClr val="tx2"/>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p>
        </p:txBody>
      </p:sp>
      <p:sp>
        <p:nvSpPr>
          <p:cNvPr id="17" name="Objaśnienie prostokątne 7">
            <a:extLst>
              <a:ext uri="{FF2B5EF4-FFF2-40B4-BE49-F238E27FC236}">
                <a16:creationId xmlns:a16="http://schemas.microsoft.com/office/drawing/2014/main" id="{92285CEA-26EC-0583-3894-300A569C4878}"/>
              </a:ext>
            </a:extLst>
          </p:cNvPr>
          <p:cNvSpPr/>
          <p:nvPr/>
        </p:nvSpPr>
        <p:spPr bwMode="auto">
          <a:xfrm>
            <a:off x="8769349" y="1893118"/>
            <a:ext cx="1582738" cy="504825"/>
          </a:xfrm>
          <a:prstGeom prst="wedgeRectCallout">
            <a:avLst>
              <a:gd name="adj1" fmla="val -92547"/>
              <a:gd name="adj2" fmla="val 491284"/>
            </a:avLst>
          </a:prstGeom>
          <a:solidFill>
            <a:schemeClr val="tx2"/>
          </a:solidFill>
          <a:ln w="9525" cap="flat" cmpd="sng" algn="ctr">
            <a:solidFill>
              <a:schemeClr val="tx2"/>
            </a:solidFill>
            <a:prstDash val="solid"/>
            <a:round/>
            <a:headEnd type="none" w="med" len="med"/>
            <a:tailEnd type="none" w="med" len="med"/>
          </a:ln>
          <a:effectLst/>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b="1" u="none" dirty="0">
                <a:solidFill>
                  <a:schemeClr val="bg1"/>
                </a:solidFill>
                <a:effectLst>
                  <a:outerShdw blurRad="38100" dist="38100" dir="2700000" algn="tl">
                    <a:srgbClr val="000000">
                      <a:alpha val="43137"/>
                    </a:srgbClr>
                  </a:outerShdw>
                </a:effectLst>
                <a:cs typeface="Arial" charset="0"/>
              </a:rPr>
              <a:t>BOXES</a:t>
            </a:r>
          </a:p>
        </p:txBody>
      </p:sp>
      <p:sp>
        <p:nvSpPr>
          <p:cNvPr id="18" name="Objaśnienie prostokątne 8">
            <a:extLst>
              <a:ext uri="{FF2B5EF4-FFF2-40B4-BE49-F238E27FC236}">
                <a16:creationId xmlns:a16="http://schemas.microsoft.com/office/drawing/2014/main" id="{9F8CD749-E041-7955-58CE-C0A4B12412C0}"/>
              </a:ext>
            </a:extLst>
          </p:cNvPr>
          <p:cNvSpPr/>
          <p:nvPr/>
        </p:nvSpPr>
        <p:spPr bwMode="auto">
          <a:xfrm>
            <a:off x="2287587" y="1893118"/>
            <a:ext cx="1584325" cy="504825"/>
          </a:xfrm>
          <a:prstGeom prst="wedgeRectCallout">
            <a:avLst>
              <a:gd name="adj1" fmla="val -3342"/>
              <a:gd name="adj2" fmla="val 231082"/>
            </a:avLst>
          </a:prstGeom>
          <a:solidFill>
            <a:srgbClr val="FFC000"/>
          </a:solidFill>
          <a:ln w="9525" cap="flat" cmpd="sng" algn="ctr">
            <a:solidFill>
              <a:srgbClr val="FFC000"/>
            </a:solidFill>
            <a:prstDash val="solid"/>
            <a:round/>
            <a:headEnd type="none" w="med" len="med"/>
            <a:tailEnd type="none" w="med" len="med"/>
          </a:ln>
          <a:effectLst/>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endParaRPr lang="pl-PL" b="1" u="none" dirty="0">
              <a:solidFill>
                <a:schemeClr val="bg1"/>
              </a:solidFill>
              <a:effectLst>
                <a:outerShdw blurRad="38100" dist="38100" dir="2700000" algn="tl">
                  <a:srgbClr val="000000">
                    <a:alpha val="43137"/>
                  </a:srgbClr>
                </a:outerShdw>
              </a:effectLst>
              <a:cs typeface="Arial" charset="0"/>
            </a:endParaRPr>
          </a:p>
        </p:txBody>
      </p:sp>
      <p:sp>
        <p:nvSpPr>
          <p:cNvPr id="19" name="Objaśnienie prostokątne 9">
            <a:extLst>
              <a:ext uri="{FF2B5EF4-FFF2-40B4-BE49-F238E27FC236}">
                <a16:creationId xmlns:a16="http://schemas.microsoft.com/office/drawing/2014/main" id="{0007A802-CD78-CC57-5935-A64E33D00BB7}"/>
              </a:ext>
            </a:extLst>
          </p:cNvPr>
          <p:cNvSpPr/>
          <p:nvPr/>
        </p:nvSpPr>
        <p:spPr bwMode="auto">
          <a:xfrm>
            <a:off x="2287587" y="1893118"/>
            <a:ext cx="1584325" cy="504825"/>
          </a:xfrm>
          <a:prstGeom prst="wedgeRectCallout">
            <a:avLst>
              <a:gd name="adj1" fmla="val 42135"/>
              <a:gd name="adj2" fmla="val 331865"/>
            </a:avLst>
          </a:prstGeom>
          <a:solidFill>
            <a:srgbClr val="FFC000"/>
          </a:solidFill>
          <a:ln w="9525" cap="flat" cmpd="sng" algn="ctr">
            <a:solidFill>
              <a:srgbClr val="FFC000"/>
            </a:solidFill>
            <a:prstDash val="solid"/>
            <a:round/>
            <a:headEnd type="none" w="med" len="med"/>
            <a:tailEnd type="none" w="med" len="med"/>
          </a:ln>
          <a:effectLst/>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endParaRPr lang="pl-PL" b="1" u="none" dirty="0">
              <a:solidFill>
                <a:schemeClr val="bg1"/>
              </a:solidFill>
              <a:effectLst>
                <a:outerShdw blurRad="38100" dist="38100" dir="2700000" algn="tl">
                  <a:srgbClr val="000000">
                    <a:alpha val="43137"/>
                  </a:srgbClr>
                </a:outerShdw>
              </a:effectLst>
              <a:cs typeface="Arial" charset="0"/>
            </a:endParaRPr>
          </a:p>
        </p:txBody>
      </p:sp>
      <p:sp>
        <p:nvSpPr>
          <p:cNvPr id="20" name="Objaśnienie prostokątne 10">
            <a:extLst>
              <a:ext uri="{FF2B5EF4-FFF2-40B4-BE49-F238E27FC236}">
                <a16:creationId xmlns:a16="http://schemas.microsoft.com/office/drawing/2014/main" id="{592982ED-6137-61AB-1C1D-2BCCC9B299A5}"/>
              </a:ext>
            </a:extLst>
          </p:cNvPr>
          <p:cNvSpPr>
            <a:spLocks noChangeArrowheads="1"/>
          </p:cNvSpPr>
          <p:nvPr/>
        </p:nvSpPr>
        <p:spPr bwMode="auto">
          <a:xfrm>
            <a:off x="2287587" y="1893118"/>
            <a:ext cx="1584325" cy="504825"/>
          </a:xfrm>
          <a:prstGeom prst="wedgeRectCallout">
            <a:avLst>
              <a:gd name="adj1" fmla="val 196639"/>
              <a:gd name="adj2" fmla="val 13028"/>
            </a:avLst>
          </a:prstGeom>
          <a:solidFill>
            <a:srgbClr val="FFC000"/>
          </a:solidFill>
          <a:ln w="9525" algn="ctr">
            <a:solidFill>
              <a:srgbClr val="FFC000"/>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t>LINES</a:t>
            </a:r>
          </a:p>
        </p:txBody>
      </p:sp>
    </p:spTree>
    <p:extLst>
      <p:ext uri="{BB962C8B-B14F-4D97-AF65-F5344CB8AC3E}">
        <p14:creationId xmlns:p14="http://schemas.microsoft.com/office/powerpoint/2010/main" val="2453497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structure</a:t>
            </a:r>
            <a:r>
              <a:rPr lang="pl-PL" sz="5000" dirty="0">
                <a:latin typeface="Tenorite" panose="00000500000000000000" pitchFamily="2" charset="0"/>
              </a:rPr>
              <a:t> - </a:t>
            </a:r>
            <a:r>
              <a:rPr lang="pl-PL" sz="5000" dirty="0" err="1">
                <a:latin typeface="Tenorite" panose="00000500000000000000" pitchFamily="2" charset="0"/>
              </a:rPr>
              <a:t>definitions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317265" y="2840227"/>
            <a:ext cx="7557470" cy="3047226"/>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Span of control </a:t>
            </a:r>
            <a:r>
              <a:rPr lang="en-US" sz="2100" dirty="0">
                <a:solidFill>
                  <a:srgbClr val="663300"/>
                </a:solidFill>
                <a:latin typeface="Tenorite" panose="00000500000000000000" pitchFamily="2" charset="0"/>
              </a:rPr>
              <a:t>– the number of subordinates that </a:t>
            </a:r>
            <a:br>
              <a:rPr lang="en-US" sz="2100" dirty="0">
                <a:solidFill>
                  <a:srgbClr val="663300"/>
                </a:solidFill>
                <a:latin typeface="Tenorite" panose="00000500000000000000" pitchFamily="2" charset="0"/>
              </a:rPr>
            </a:br>
            <a:r>
              <a:rPr lang="en-US" sz="2100" dirty="0">
                <a:solidFill>
                  <a:srgbClr val="663300"/>
                </a:solidFill>
                <a:latin typeface="Tenorite" panose="00000500000000000000" pitchFamily="2" charset="0"/>
              </a:rPr>
              <a:t>a manager or supervisor can directly control.</a:t>
            </a: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Unity of command </a:t>
            </a:r>
            <a:r>
              <a:rPr lang="en-US" sz="2100" dirty="0">
                <a:solidFill>
                  <a:srgbClr val="663300"/>
                </a:solidFill>
                <a:latin typeface="Tenorite" panose="00000500000000000000" pitchFamily="2" charset="0"/>
              </a:rPr>
              <a:t>- provides that an employee is responsible to only one supervisor, who in turn is responsible to only one supervisor, and so on up the organizational hierarchy.</a:t>
            </a:r>
          </a:p>
        </p:txBody>
      </p:sp>
    </p:spTree>
    <p:extLst>
      <p:ext uri="{BB962C8B-B14F-4D97-AF65-F5344CB8AC3E}">
        <p14:creationId xmlns:p14="http://schemas.microsoft.com/office/powerpoint/2010/main" val="3435583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structure</a:t>
            </a:r>
            <a:r>
              <a:rPr lang="pl-PL" sz="5000" dirty="0">
                <a:latin typeface="Tenorite" panose="00000500000000000000" pitchFamily="2" charset="0"/>
              </a:rPr>
              <a:t> - </a:t>
            </a:r>
            <a:r>
              <a:rPr lang="pl-PL" sz="5000" dirty="0" err="1">
                <a:latin typeface="Tenorite" panose="00000500000000000000" pitchFamily="2" charset="0"/>
              </a:rPr>
              <a:t>types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35788" y="2541256"/>
            <a:ext cx="7120423" cy="588773"/>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Layers of management in the organization's hierarchy</a:t>
            </a:r>
          </a:p>
          <a:p>
            <a:pPr algn="just" rtl="0">
              <a:lnSpc>
                <a:spcPct val="100000"/>
              </a:lnSpc>
              <a:buClr>
                <a:srgbClr val="663300"/>
              </a:buClr>
            </a:pPr>
            <a:endParaRPr lang="en-US" sz="2100" dirty="0">
              <a:solidFill>
                <a:srgbClr val="663300"/>
              </a:solidFill>
              <a:latin typeface="Tenorite" panose="00000500000000000000" pitchFamily="2" charset="0"/>
            </a:endParaRPr>
          </a:p>
        </p:txBody>
      </p:sp>
      <p:sp>
        <p:nvSpPr>
          <p:cNvPr id="7" name="Trójkąt równoramienny 6">
            <a:extLst>
              <a:ext uri="{FF2B5EF4-FFF2-40B4-BE49-F238E27FC236}">
                <a16:creationId xmlns:a16="http://schemas.microsoft.com/office/drawing/2014/main" id="{D2A73940-AEA1-A908-B091-E59DA1E911C0}"/>
              </a:ext>
            </a:extLst>
          </p:cNvPr>
          <p:cNvSpPr>
            <a:spLocks noChangeArrowheads="1"/>
          </p:cNvSpPr>
          <p:nvPr/>
        </p:nvSpPr>
        <p:spPr bwMode="auto">
          <a:xfrm>
            <a:off x="2232746" y="4745856"/>
            <a:ext cx="4105275" cy="1223962"/>
          </a:xfrm>
          <a:prstGeom prst="triangle">
            <a:avLst>
              <a:gd name="adj" fmla="val 50000"/>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8" name="Trójkąt równoramienny 7">
            <a:extLst>
              <a:ext uri="{FF2B5EF4-FFF2-40B4-BE49-F238E27FC236}">
                <a16:creationId xmlns:a16="http://schemas.microsoft.com/office/drawing/2014/main" id="{675E7566-96A3-B1CD-B0E3-3B52AF2F3313}"/>
              </a:ext>
            </a:extLst>
          </p:cNvPr>
          <p:cNvSpPr>
            <a:spLocks noChangeArrowheads="1"/>
          </p:cNvSpPr>
          <p:nvPr/>
        </p:nvSpPr>
        <p:spPr bwMode="auto">
          <a:xfrm>
            <a:off x="7395296" y="2944043"/>
            <a:ext cx="1655762" cy="3044825"/>
          </a:xfrm>
          <a:prstGeom prst="triangle">
            <a:avLst>
              <a:gd name="adj" fmla="val 42977"/>
            </a:avLst>
          </a:prstGeom>
          <a:solidFill>
            <a:schemeClr val="accent3">
              <a:lumMod val="20000"/>
              <a:lumOff val="80000"/>
            </a:schemeClr>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9" name="TextBox 19">
            <a:extLst>
              <a:ext uri="{FF2B5EF4-FFF2-40B4-BE49-F238E27FC236}">
                <a16:creationId xmlns:a16="http://schemas.microsoft.com/office/drawing/2014/main" id="{DA6F6B92-53A5-45AD-131F-E167574F6F45}"/>
              </a:ext>
            </a:extLst>
          </p:cNvPr>
          <p:cNvSpPr txBox="1">
            <a:spLocks noChangeArrowheads="1"/>
          </p:cNvSpPr>
          <p:nvPr/>
        </p:nvSpPr>
        <p:spPr bwMode="auto">
          <a:xfrm>
            <a:off x="2570883" y="5988868"/>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r>
              <a:rPr lang="pl-PL" altLang="pl-PL" sz="1800" b="1" u="none">
                <a:latin typeface="Tenorite" panose="00000500000000000000" pitchFamily="2" charset="0"/>
                <a:cs typeface="Tahoma" panose="020B0604030504040204" pitchFamily="34" charset="0"/>
              </a:rPr>
              <a:t>Flat </a:t>
            </a:r>
            <a:r>
              <a:rPr lang="pl-PL" altLang="pl-PL" sz="1800" u="none">
                <a:latin typeface="Tenorite" panose="00000500000000000000" pitchFamily="2" charset="0"/>
                <a:cs typeface="Tahoma" panose="020B0604030504040204" pitchFamily="34" charset="0"/>
              </a:rPr>
              <a:t>organizational structure</a:t>
            </a:r>
          </a:p>
        </p:txBody>
      </p:sp>
      <p:sp>
        <p:nvSpPr>
          <p:cNvPr id="10" name="TextBox 19">
            <a:extLst>
              <a:ext uri="{FF2B5EF4-FFF2-40B4-BE49-F238E27FC236}">
                <a16:creationId xmlns:a16="http://schemas.microsoft.com/office/drawing/2014/main" id="{F0652C44-7347-FFEB-2C4F-ACAA3F04FE86}"/>
              </a:ext>
            </a:extLst>
          </p:cNvPr>
          <p:cNvSpPr txBox="1">
            <a:spLocks noChangeArrowheads="1"/>
          </p:cNvSpPr>
          <p:nvPr/>
        </p:nvSpPr>
        <p:spPr bwMode="auto">
          <a:xfrm>
            <a:off x="6963496" y="5988868"/>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r>
              <a:rPr lang="pl-PL" altLang="pl-PL" sz="1800" b="1" u="none">
                <a:latin typeface="Tenorite" panose="00000500000000000000" pitchFamily="2" charset="0"/>
                <a:cs typeface="Tahoma" panose="020B0604030504040204" pitchFamily="34" charset="0"/>
              </a:rPr>
              <a:t>Tall </a:t>
            </a:r>
            <a:r>
              <a:rPr lang="pl-PL" altLang="pl-PL" sz="1800" u="none">
                <a:latin typeface="Tenorite" panose="00000500000000000000" pitchFamily="2" charset="0"/>
                <a:cs typeface="Tahoma" panose="020B0604030504040204" pitchFamily="34" charset="0"/>
              </a:rPr>
              <a:t>organizational structure</a:t>
            </a:r>
          </a:p>
        </p:txBody>
      </p:sp>
    </p:spTree>
    <p:extLst>
      <p:ext uri="{BB962C8B-B14F-4D97-AF65-F5344CB8AC3E}">
        <p14:creationId xmlns:p14="http://schemas.microsoft.com/office/powerpoint/2010/main" val="1672998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pPr rtl="0"/>
            <a:r>
              <a:rPr lang="pl-PL" sz="5000" dirty="0">
                <a:latin typeface="Tenorite" panose="00000500000000000000" pitchFamily="2" charset="0"/>
              </a:rPr>
              <a:t>Flat and </a:t>
            </a:r>
            <a:r>
              <a:rPr lang="pl-PL" sz="5000" dirty="0" err="1">
                <a:latin typeface="Tenorite" panose="00000500000000000000" pitchFamily="2" charset="0"/>
              </a:rPr>
              <a:t>tall</a:t>
            </a:r>
            <a:r>
              <a:rPr lang="pl-PL" sz="5000" dirty="0">
                <a:latin typeface="Tenorite" panose="00000500000000000000" pitchFamily="2" charset="0"/>
              </a:rPr>
              <a:t> </a:t>
            </a:r>
            <a:r>
              <a:rPr lang="pl-PL" sz="5000" dirty="0" err="1">
                <a:latin typeface="Tenorite" panose="00000500000000000000" pitchFamily="2" charset="0"/>
              </a:rPr>
              <a:t>structure</a:t>
            </a:r>
            <a:r>
              <a:rPr lang="pl-PL" sz="5000" dirty="0">
                <a:latin typeface="Tenorite" panose="00000500000000000000" pitchFamily="2" charset="0"/>
              </a:rPr>
              <a:t> </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
        <p:nvSpPr>
          <p:cNvPr id="13" name="Prostokąt 12">
            <a:extLst>
              <a:ext uri="{FF2B5EF4-FFF2-40B4-BE49-F238E27FC236}">
                <a16:creationId xmlns:a16="http://schemas.microsoft.com/office/drawing/2014/main" id="{261B4DD2-B75A-1422-5DB4-84086A9B8F28}"/>
              </a:ext>
            </a:extLst>
          </p:cNvPr>
          <p:cNvSpPr>
            <a:spLocks noChangeArrowheads="1"/>
          </p:cNvSpPr>
          <p:nvPr/>
        </p:nvSpPr>
        <p:spPr bwMode="auto">
          <a:xfrm>
            <a:off x="3238583" y="2676639"/>
            <a:ext cx="360363" cy="360362"/>
          </a:xfrm>
          <a:prstGeom prst="rect">
            <a:avLst/>
          </a:prstGeom>
          <a:solidFill>
            <a:schemeClr val="tx2"/>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solidFill>
                  <a:schemeClr val="bg1"/>
                </a:solidFill>
                <a:latin typeface="Tenorite" panose="00000500000000000000" pitchFamily="2" charset="0"/>
              </a:rPr>
              <a:t>1</a:t>
            </a:r>
          </a:p>
        </p:txBody>
      </p:sp>
      <p:sp>
        <p:nvSpPr>
          <p:cNvPr id="14" name="Prostokąt 13">
            <a:extLst>
              <a:ext uri="{FF2B5EF4-FFF2-40B4-BE49-F238E27FC236}">
                <a16:creationId xmlns:a16="http://schemas.microsoft.com/office/drawing/2014/main" id="{D753686A-2848-B8DF-6AA9-5E48EE7164B1}"/>
              </a:ext>
            </a:extLst>
          </p:cNvPr>
          <p:cNvSpPr>
            <a:spLocks noChangeArrowheads="1"/>
          </p:cNvSpPr>
          <p:nvPr/>
        </p:nvSpPr>
        <p:spPr bwMode="auto">
          <a:xfrm>
            <a:off x="1692358" y="3189401"/>
            <a:ext cx="360363"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15" name="Prostokąt 14">
            <a:extLst>
              <a:ext uri="{FF2B5EF4-FFF2-40B4-BE49-F238E27FC236}">
                <a16:creationId xmlns:a16="http://schemas.microsoft.com/office/drawing/2014/main" id="{7F8EDBB0-6212-DAD9-005E-78935FD7C624}"/>
              </a:ext>
            </a:extLst>
          </p:cNvPr>
          <p:cNvSpPr>
            <a:spLocks noChangeArrowheads="1"/>
          </p:cNvSpPr>
          <p:nvPr/>
        </p:nvSpPr>
        <p:spPr bwMode="auto">
          <a:xfrm>
            <a:off x="2341646" y="3189401"/>
            <a:ext cx="358775"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16" name="Prostokąt 15">
            <a:extLst>
              <a:ext uri="{FF2B5EF4-FFF2-40B4-BE49-F238E27FC236}">
                <a16:creationId xmlns:a16="http://schemas.microsoft.com/office/drawing/2014/main" id="{2DA7F4E2-4D0E-E547-5D76-B14F93B95793}"/>
              </a:ext>
            </a:extLst>
          </p:cNvPr>
          <p:cNvSpPr/>
          <p:nvPr/>
        </p:nvSpPr>
        <p:spPr bwMode="auto">
          <a:xfrm>
            <a:off x="2952833" y="3189401"/>
            <a:ext cx="360363" cy="360363"/>
          </a:xfrm>
          <a:prstGeom prst="rect">
            <a:avLst/>
          </a:prstGeom>
          <a:solidFill>
            <a:schemeClr val="tx2"/>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2</a:t>
            </a:r>
          </a:p>
        </p:txBody>
      </p:sp>
      <p:sp>
        <p:nvSpPr>
          <p:cNvPr id="17" name="Prostokąt 16">
            <a:extLst>
              <a:ext uri="{FF2B5EF4-FFF2-40B4-BE49-F238E27FC236}">
                <a16:creationId xmlns:a16="http://schemas.microsoft.com/office/drawing/2014/main" id="{E478B154-3CDC-081B-2D26-EF8E213DEB82}"/>
              </a:ext>
            </a:extLst>
          </p:cNvPr>
          <p:cNvSpPr>
            <a:spLocks noChangeArrowheads="1"/>
          </p:cNvSpPr>
          <p:nvPr/>
        </p:nvSpPr>
        <p:spPr bwMode="auto">
          <a:xfrm>
            <a:off x="3598946" y="3200514"/>
            <a:ext cx="358775"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18" name="Prostokąt 17">
            <a:extLst>
              <a:ext uri="{FF2B5EF4-FFF2-40B4-BE49-F238E27FC236}">
                <a16:creationId xmlns:a16="http://schemas.microsoft.com/office/drawing/2014/main" id="{B66C8E88-E836-7251-A5A0-1BF9CB9260D9}"/>
              </a:ext>
            </a:extLst>
          </p:cNvPr>
          <p:cNvSpPr>
            <a:spLocks noChangeArrowheads="1"/>
          </p:cNvSpPr>
          <p:nvPr/>
        </p:nvSpPr>
        <p:spPr bwMode="auto">
          <a:xfrm>
            <a:off x="4164096" y="3200514"/>
            <a:ext cx="360362"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19" name="Prostokąt 18">
            <a:extLst>
              <a:ext uri="{FF2B5EF4-FFF2-40B4-BE49-F238E27FC236}">
                <a16:creationId xmlns:a16="http://schemas.microsoft.com/office/drawing/2014/main" id="{C3E383B4-5211-D59E-A0AD-04D50B17E414}"/>
              </a:ext>
            </a:extLst>
          </p:cNvPr>
          <p:cNvSpPr>
            <a:spLocks noChangeArrowheads="1"/>
          </p:cNvSpPr>
          <p:nvPr/>
        </p:nvSpPr>
        <p:spPr bwMode="auto">
          <a:xfrm>
            <a:off x="4718133" y="3200514"/>
            <a:ext cx="358775"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0" name="Prostokąt 19">
            <a:extLst>
              <a:ext uri="{FF2B5EF4-FFF2-40B4-BE49-F238E27FC236}">
                <a16:creationId xmlns:a16="http://schemas.microsoft.com/office/drawing/2014/main" id="{106FED09-E9F4-3411-A1D9-89F130C39185}"/>
              </a:ext>
            </a:extLst>
          </p:cNvPr>
          <p:cNvSpPr>
            <a:spLocks noChangeArrowheads="1"/>
          </p:cNvSpPr>
          <p:nvPr/>
        </p:nvSpPr>
        <p:spPr bwMode="auto">
          <a:xfrm>
            <a:off x="2268621" y="3691051"/>
            <a:ext cx="360362"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1" name="Prostokąt 20">
            <a:extLst>
              <a:ext uri="{FF2B5EF4-FFF2-40B4-BE49-F238E27FC236}">
                <a16:creationId xmlns:a16="http://schemas.microsoft.com/office/drawing/2014/main" id="{41FAEAF4-F4A9-6DB2-35C3-7154C5C5C28F}"/>
              </a:ext>
            </a:extLst>
          </p:cNvPr>
          <p:cNvSpPr>
            <a:spLocks noChangeArrowheads="1"/>
          </p:cNvSpPr>
          <p:nvPr/>
        </p:nvSpPr>
        <p:spPr bwMode="auto">
          <a:xfrm>
            <a:off x="2711533" y="3691051"/>
            <a:ext cx="360363"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2" name="Prostokąt 21">
            <a:extLst>
              <a:ext uri="{FF2B5EF4-FFF2-40B4-BE49-F238E27FC236}">
                <a16:creationId xmlns:a16="http://schemas.microsoft.com/office/drawing/2014/main" id="{6306FF26-AF43-77FD-A514-8F42A8DB7051}"/>
              </a:ext>
            </a:extLst>
          </p:cNvPr>
          <p:cNvSpPr/>
          <p:nvPr/>
        </p:nvSpPr>
        <p:spPr bwMode="auto">
          <a:xfrm>
            <a:off x="3136983" y="3691051"/>
            <a:ext cx="358775" cy="360363"/>
          </a:xfrm>
          <a:prstGeom prst="rect">
            <a:avLst/>
          </a:prstGeom>
          <a:solidFill>
            <a:schemeClr val="tx2"/>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3</a:t>
            </a:r>
          </a:p>
        </p:txBody>
      </p:sp>
      <p:cxnSp>
        <p:nvCxnSpPr>
          <p:cNvPr id="23" name="Łącznik prostoliniowy 5">
            <a:extLst>
              <a:ext uri="{FF2B5EF4-FFF2-40B4-BE49-F238E27FC236}">
                <a16:creationId xmlns:a16="http://schemas.microsoft.com/office/drawing/2014/main" id="{4B5E99AF-CBE7-5B84-155F-03955ECD6AD7}"/>
              </a:ext>
            </a:extLst>
          </p:cNvPr>
          <p:cNvCxnSpPr>
            <a:cxnSpLocks noChangeShapeType="1"/>
            <a:stCxn id="13" idx="2"/>
          </p:cNvCxnSpPr>
          <p:nvPr/>
        </p:nvCxnSpPr>
        <p:spPr bwMode="auto">
          <a:xfrm>
            <a:off x="3417971" y="3037001"/>
            <a:ext cx="0" cy="349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4" name="Łącznik prostoliniowy 7">
            <a:extLst>
              <a:ext uri="{FF2B5EF4-FFF2-40B4-BE49-F238E27FC236}">
                <a16:creationId xmlns:a16="http://schemas.microsoft.com/office/drawing/2014/main" id="{1DFD70F2-6D2B-8CEE-4391-052B6C259088}"/>
              </a:ext>
            </a:extLst>
          </p:cNvPr>
          <p:cNvCxnSpPr>
            <a:cxnSpLocks noChangeShapeType="1"/>
          </p:cNvCxnSpPr>
          <p:nvPr/>
        </p:nvCxnSpPr>
        <p:spPr bwMode="auto">
          <a:xfrm>
            <a:off x="1873333" y="3086214"/>
            <a:ext cx="302418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 name="Łącznik prostoliniowy 26">
            <a:extLst>
              <a:ext uri="{FF2B5EF4-FFF2-40B4-BE49-F238E27FC236}">
                <a16:creationId xmlns:a16="http://schemas.microsoft.com/office/drawing/2014/main" id="{14679B42-7AEE-3A98-9E6A-770EB33D91A6}"/>
              </a:ext>
            </a:extLst>
          </p:cNvPr>
          <p:cNvCxnSpPr>
            <a:cxnSpLocks noChangeShapeType="1"/>
            <a:endCxn id="14" idx="0"/>
          </p:cNvCxnSpPr>
          <p:nvPr/>
        </p:nvCxnSpPr>
        <p:spPr bwMode="auto">
          <a:xfrm>
            <a:off x="1873333" y="3086214"/>
            <a:ext cx="0" cy="103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 name="Łącznik prostoliniowy 31">
            <a:extLst>
              <a:ext uri="{FF2B5EF4-FFF2-40B4-BE49-F238E27FC236}">
                <a16:creationId xmlns:a16="http://schemas.microsoft.com/office/drawing/2014/main" id="{091FC32A-BB5D-4111-3497-FE196096051F}"/>
              </a:ext>
            </a:extLst>
          </p:cNvPr>
          <p:cNvCxnSpPr>
            <a:cxnSpLocks noChangeShapeType="1"/>
          </p:cNvCxnSpPr>
          <p:nvPr/>
        </p:nvCxnSpPr>
        <p:spPr bwMode="auto">
          <a:xfrm>
            <a:off x="2524208" y="3081451"/>
            <a:ext cx="0" cy="1031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 name="Łącznik prostoliniowy 32">
            <a:extLst>
              <a:ext uri="{FF2B5EF4-FFF2-40B4-BE49-F238E27FC236}">
                <a16:creationId xmlns:a16="http://schemas.microsoft.com/office/drawing/2014/main" id="{9405C319-A955-21CB-545D-7D7DDC33C52B}"/>
              </a:ext>
            </a:extLst>
          </p:cNvPr>
          <p:cNvCxnSpPr>
            <a:cxnSpLocks noChangeShapeType="1"/>
          </p:cNvCxnSpPr>
          <p:nvPr/>
        </p:nvCxnSpPr>
        <p:spPr bwMode="auto">
          <a:xfrm>
            <a:off x="3133808" y="3086214"/>
            <a:ext cx="0" cy="103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 name="Łącznik prostoliniowy 33">
            <a:extLst>
              <a:ext uri="{FF2B5EF4-FFF2-40B4-BE49-F238E27FC236}">
                <a16:creationId xmlns:a16="http://schemas.microsoft.com/office/drawing/2014/main" id="{FEF13EA7-069C-6C14-68BB-D3033E02B413}"/>
              </a:ext>
            </a:extLst>
          </p:cNvPr>
          <p:cNvCxnSpPr>
            <a:cxnSpLocks noChangeShapeType="1"/>
          </p:cNvCxnSpPr>
          <p:nvPr/>
        </p:nvCxnSpPr>
        <p:spPr bwMode="auto">
          <a:xfrm>
            <a:off x="3778333" y="3086214"/>
            <a:ext cx="0" cy="103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 name="Łącznik prostoliniowy 34">
            <a:extLst>
              <a:ext uri="{FF2B5EF4-FFF2-40B4-BE49-F238E27FC236}">
                <a16:creationId xmlns:a16="http://schemas.microsoft.com/office/drawing/2014/main" id="{A93901C1-8AA4-3AD3-F534-4182990A80FA}"/>
              </a:ext>
            </a:extLst>
          </p:cNvPr>
          <p:cNvCxnSpPr>
            <a:cxnSpLocks noChangeShapeType="1"/>
          </p:cNvCxnSpPr>
          <p:nvPr/>
        </p:nvCxnSpPr>
        <p:spPr bwMode="auto">
          <a:xfrm>
            <a:off x="4357771" y="3081451"/>
            <a:ext cx="0" cy="1031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 name="Łącznik prostoliniowy 37">
            <a:extLst>
              <a:ext uri="{FF2B5EF4-FFF2-40B4-BE49-F238E27FC236}">
                <a16:creationId xmlns:a16="http://schemas.microsoft.com/office/drawing/2014/main" id="{AD245E05-157C-E204-30C9-572E7FD5B174}"/>
              </a:ext>
            </a:extLst>
          </p:cNvPr>
          <p:cNvCxnSpPr>
            <a:cxnSpLocks noChangeShapeType="1"/>
          </p:cNvCxnSpPr>
          <p:nvPr/>
        </p:nvCxnSpPr>
        <p:spPr bwMode="auto">
          <a:xfrm>
            <a:off x="4899108" y="3090976"/>
            <a:ext cx="0" cy="1031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1" name="Prostokąt 30">
            <a:extLst>
              <a:ext uri="{FF2B5EF4-FFF2-40B4-BE49-F238E27FC236}">
                <a16:creationId xmlns:a16="http://schemas.microsoft.com/office/drawing/2014/main" id="{60409591-8E2F-79D1-DC5F-EFEFCF043222}"/>
              </a:ext>
            </a:extLst>
          </p:cNvPr>
          <p:cNvSpPr>
            <a:spLocks noChangeArrowheads="1"/>
          </p:cNvSpPr>
          <p:nvPr/>
        </p:nvSpPr>
        <p:spPr bwMode="auto">
          <a:xfrm>
            <a:off x="3570371" y="3684701"/>
            <a:ext cx="360362"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32" name="Prostokąt 31">
            <a:extLst>
              <a:ext uri="{FF2B5EF4-FFF2-40B4-BE49-F238E27FC236}">
                <a16:creationId xmlns:a16="http://schemas.microsoft.com/office/drawing/2014/main" id="{A86C2AB7-56A8-C055-B61E-83961864DBCC}"/>
              </a:ext>
            </a:extLst>
          </p:cNvPr>
          <p:cNvSpPr>
            <a:spLocks noChangeArrowheads="1"/>
          </p:cNvSpPr>
          <p:nvPr/>
        </p:nvSpPr>
        <p:spPr bwMode="auto">
          <a:xfrm>
            <a:off x="4097421" y="3684701"/>
            <a:ext cx="360362" cy="360363"/>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33" name="Prostokąt 32">
            <a:extLst>
              <a:ext uri="{FF2B5EF4-FFF2-40B4-BE49-F238E27FC236}">
                <a16:creationId xmlns:a16="http://schemas.microsoft.com/office/drawing/2014/main" id="{DF4616D3-06D1-E6A1-4B9B-CDFC05D0E90B}"/>
              </a:ext>
            </a:extLst>
          </p:cNvPr>
          <p:cNvSpPr>
            <a:spLocks noChangeArrowheads="1"/>
          </p:cNvSpPr>
          <p:nvPr/>
        </p:nvSpPr>
        <p:spPr bwMode="auto">
          <a:xfrm>
            <a:off x="4549858" y="3689464"/>
            <a:ext cx="360363"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34" name="Prostokąt 33">
            <a:extLst>
              <a:ext uri="{FF2B5EF4-FFF2-40B4-BE49-F238E27FC236}">
                <a16:creationId xmlns:a16="http://schemas.microsoft.com/office/drawing/2014/main" id="{6C866588-2A56-541B-069E-F1D498F8171B}"/>
              </a:ext>
            </a:extLst>
          </p:cNvPr>
          <p:cNvSpPr>
            <a:spLocks noChangeArrowheads="1"/>
          </p:cNvSpPr>
          <p:nvPr/>
        </p:nvSpPr>
        <p:spPr bwMode="auto">
          <a:xfrm>
            <a:off x="5005471" y="3679939"/>
            <a:ext cx="360362"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35" name="Prostokąt 34">
            <a:extLst>
              <a:ext uri="{FF2B5EF4-FFF2-40B4-BE49-F238E27FC236}">
                <a16:creationId xmlns:a16="http://schemas.microsoft.com/office/drawing/2014/main" id="{68FDE722-26F2-B758-C27B-72A21245B1EE}"/>
              </a:ext>
            </a:extLst>
          </p:cNvPr>
          <p:cNvSpPr>
            <a:spLocks noChangeArrowheads="1"/>
          </p:cNvSpPr>
          <p:nvPr/>
        </p:nvSpPr>
        <p:spPr bwMode="auto">
          <a:xfrm>
            <a:off x="5465846" y="3679939"/>
            <a:ext cx="360362" cy="360362"/>
          </a:xfrm>
          <a:prstGeom prst="rect">
            <a:avLst/>
          </a:prstGeom>
          <a:solidFill>
            <a:schemeClr val="tx2"/>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cxnSp>
        <p:nvCxnSpPr>
          <p:cNvPr id="36" name="Łącznik prostoliniowy 46">
            <a:extLst>
              <a:ext uri="{FF2B5EF4-FFF2-40B4-BE49-F238E27FC236}">
                <a16:creationId xmlns:a16="http://schemas.microsoft.com/office/drawing/2014/main" id="{8240206E-141B-1FCF-5772-240BEBC502CC}"/>
              </a:ext>
            </a:extLst>
          </p:cNvPr>
          <p:cNvCxnSpPr>
            <a:cxnSpLocks noChangeShapeType="1"/>
          </p:cNvCxnSpPr>
          <p:nvPr/>
        </p:nvCxnSpPr>
        <p:spPr bwMode="auto">
          <a:xfrm>
            <a:off x="3136983" y="3549764"/>
            <a:ext cx="0" cy="523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7" name="Łącznik prostoliniowy 48">
            <a:extLst>
              <a:ext uri="{FF2B5EF4-FFF2-40B4-BE49-F238E27FC236}">
                <a16:creationId xmlns:a16="http://schemas.microsoft.com/office/drawing/2014/main" id="{4A7842E9-CEFC-4F19-5B22-8326C7831D87}"/>
              </a:ext>
            </a:extLst>
          </p:cNvPr>
          <p:cNvCxnSpPr>
            <a:cxnSpLocks noChangeShapeType="1"/>
          </p:cNvCxnSpPr>
          <p:nvPr/>
        </p:nvCxnSpPr>
        <p:spPr bwMode="auto">
          <a:xfrm>
            <a:off x="2449596" y="3602151"/>
            <a:ext cx="13287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8" name="Łącznik prostoliniowy 55">
            <a:extLst>
              <a:ext uri="{FF2B5EF4-FFF2-40B4-BE49-F238E27FC236}">
                <a16:creationId xmlns:a16="http://schemas.microsoft.com/office/drawing/2014/main" id="{E7DBB986-36FB-0C69-AD27-2314FC6CA8D8}"/>
              </a:ext>
            </a:extLst>
          </p:cNvPr>
          <p:cNvCxnSpPr>
            <a:cxnSpLocks noChangeShapeType="1"/>
            <a:endCxn id="20" idx="0"/>
          </p:cNvCxnSpPr>
          <p:nvPr/>
        </p:nvCxnSpPr>
        <p:spPr bwMode="auto">
          <a:xfrm>
            <a:off x="2449596" y="360215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9" name="Łącznik prostoliniowy 57">
            <a:extLst>
              <a:ext uri="{FF2B5EF4-FFF2-40B4-BE49-F238E27FC236}">
                <a16:creationId xmlns:a16="http://schemas.microsoft.com/office/drawing/2014/main" id="{9721A102-E02F-049A-EBF5-0A5C9DDD28F1}"/>
              </a:ext>
            </a:extLst>
          </p:cNvPr>
          <p:cNvCxnSpPr>
            <a:cxnSpLocks noChangeShapeType="1"/>
          </p:cNvCxnSpPr>
          <p:nvPr/>
        </p:nvCxnSpPr>
        <p:spPr bwMode="auto">
          <a:xfrm>
            <a:off x="2902033" y="359580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0" name="Łącznik prostoliniowy 58">
            <a:extLst>
              <a:ext uri="{FF2B5EF4-FFF2-40B4-BE49-F238E27FC236}">
                <a16:creationId xmlns:a16="http://schemas.microsoft.com/office/drawing/2014/main" id="{832E31E4-79FA-249C-3647-EB22654162C0}"/>
              </a:ext>
            </a:extLst>
          </p:cNvPr>
          <p:cNvCxnSpPr>
            <a:cxnSpLocks noChangeShapeType="1"/>
          </p:cNvCxnSpPr>
          <p:nvPr/>
        </p:nvCxnSpPr>
        <p:spPr bwMode="auto">
          <a:xfrm>
            <a:off x="3327483" y="3600564"/>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1" name="Łącznik prostoliniowy 59">
            <a:extLst>
              <a:ext uri="{FF2B5EF4-FFF2-40B4-BE49-F238E27FC236}">
                <a16:creationId xmlns:a16="http://schemas.microsoft.com/office/drawing/2014/main" id="{7268B61B-4C78-7BCA-899E-2742F1456225}"/>
              </a:ext>
            </a:extLst>
          </p:cNvPr>
          <p:cNvCxnSpPr>
            <a:cxnSpLocks noChangeShapeType="1"/>
          </p:cNvCxnSpPr>
          <p:nvPr/>
        </p:nvCxnSpPr>
        <p:spPr bwMode="auto">
          <a:xfrm>
            <a:off x="3778333" y="360215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2" name="Łącznik prostoliniowy 60">
            <a:extLst>
              <a:ext uri="{FF2B5EF4-FFF2-40B4-BE49-F238E27FC236}">
                <a16:creationId xmlns:a16="http://schemas.microsoft.com/office/drawing/2014/main" id="{440879F0-9D66-C6CD-8FC7-3F7DAE2B59CE}"/>
              </a:ext>
            </a:extLst>
          </p:cNvPr>
          <p:cNvCxnSpPr>
            <a:cxnSpLocks noChangeShapeType="1"/>
          </p:cNvCxnSpPr>
          <p:nvPr/>
        </p:nvCxnSpPr>
        <p:spPr bwMode="auto">
          <a:xfrm>
            <a:off x="4900696" y="3549764"/>
            <a:ext cx="0" cy="523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3" name="Łącznik prostoliniowy 61">
            <a:extLst>
              <a:ext uri="{FF2B5EF4-FFF2-40B4-BE49-F238E27FC236}">
                <a16:creationId xmlns:a16="http://schemas.microsoft.com/office/drawing/2014/main" id="{C1592170-0748-3F95-B7F2-BCFB34AE06B1}"/>
              </a:ext>
            </a:extLst>
          </p:cNvPr>
          <p:cNvCxnSpPr>
            <a:cxnSpLocks noChangeShapeType="1"/>
          </p:cNvCxnSpPr>
          <p:nvPr/>
        </p:nvCxnSpPr>
        <p:spPr bwMode="auto">
          <a:xfrm>
            <a:off x="4278396" y="3602151"/>
            <a:ext cx="13287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4" name="Łącznik prostoliniowy 62">
            <a:extLst>
              <a:ext uri="{FF2B5EF4-FFF2-40B4-BE49-F238E27FC236}">
                <a16:creationId xmlns:a16="http://schemas.microsoft.com/office/drawing/2014/main" id="{4EFB4E4C-CDB3-3038-76B5-7B7ABE4D4FD4}"/>
              </a:ext>
            </a:extLst>
          </p:cNvPr>
          <p:cNvCxnSpPr>
            <a:cxnSpLocks noChangeShapeType="1"/>
          </p:cNvCxnSpPr>
          <p:nvPr/>
        </p:nvCxnSpPr>
        <p:spPr bwMode="auto">
          <a:xfrm>
            <a:off x="4278396" y="359580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5" name="Łącznik prostoliniowy 63">
            <a:extLst>
              <a:ext uri="{FF2B5EF4-FFF2-40B4-BE49-F238E27FC236}">
                <a16:creationId xmlns:a16="http://schemas.microsoft.com/office/drawing/2014/main" id="{55FE0200-7F50-E53A-29F2-24AF8AAC5732}"/>
              </a:ext>
            </a:extLst>
          </p:cNvPr>
          <p:cNvCxnSpPr>
            <a:cxnSpLocks noChangeShapeType="1"/>
          </p:cNvCxnSpPr>
          <p:nvPr/>
        </p:nvCxnSpPr>
        <p:spPr bwMode="auto">
          <a:xfrm>
            <a:off x="4732421" y="360215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6" name="Łącznik prostoliniowy 64">
            <a:extLst>
              <a:ext uri="{FF2B5EF4-FFF2-40B4-BE49-F238E27FC236}">
                <a16:creationId xmlns:a16="http://schemas.microsoft.com/office/drawing/2014/main" id="{B3515F0E-3376-4BC8-DF01-264CF24B973A}"/>
              </a:ext>
            </a:extLst>
          </p:cNvPr>
          <p:cNvCxnSpPr>
            <a:cxnSpLocks noChangeShapeType="1"/>
          </p:cNvCxnSpPr>
          <p:nvPr/>
        </p:nvCxnSpPr>
        <p:spPr bwMode="auto">
          <a:xfrm>
            <a:off x="5186446" y="360215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7" name="Łącznik prostoliniowy 65">
            <a:extLst>
              <a:ext uri="{FF2B5EF4-FFF2-40B4-BE49-F238E27FC236}">
                <a16:creationId xmlns:a16="http://schemas.microsoft.com/office/drawing/2014/main" id="{A9E90C4F-D46A-BBBD-BFB9-93E74E476601}"/>
              </a:ext>
            </a:extLst>
          </p:cNvPr>
          <p:cNvCxnSpPr>
            <a:cxnSpLocks noChangeShapeType="1"/>
          </p:cNvCxnSpPr>
          <p:nvPr/>
        </p:nvCxnSpPr>
        <p:spPr bwMode="auto">
          <a:xfrm>
            <a:off x="5607133" y="3602151"/>
            <a:ext cx="0" cy="88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48" name="TextBox 19">
            <a:extLst>
              <a:ext uri="{FF2B5EF4-FFF2-40B4-BE49-F238E27FC236}">
                <a16:creationId xmlns:a16="http://schemas.microsoft.com/office/drawing/2014/main" id="{434A27AE-4470-4093-99E5-9B9675719B36}"/>
              </a:ext>
            </a:extLst>
          </p:cNvPr>
          <p:cNvSpPr txBox="1">
            <a:spLocks noChangeArrowheads="1"/>
          </p:cNvSpPr>
          <p:nvPr/>
        </p:nvSpPr>
        <p:spPr bwMode="auto">
          <a:xfrm>
            <a:off x="1641558" y="4359389"/>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cs typeface="Tahoma" panose="020B0604030504040204" pitchFamily="34" charset="0"/>
              </a:rPr>
              <a:t>3–level hierarchy </a:t>
            </a:r>
            <a:endParaRPr lang="pl-PL" altLang="pl-PL" sz="1800" u="none">
              <a:latin typeface="Tenorite" panose="00000500000000000000" pitchFamily="2" charset="0"/>
              <a:cs typeface="Tahoma" panose="020B0604030504040204" pitchFamily="34" charset="0"/>
            </a:endParaRPr>
          </a:p>
        </p:txBody>
      </p:sp>
      <p:sp>
        <p:nvSpPr>
          <p:cNvPr id="49" name="Prostokąt 48">
            <a:extLst>
              <a:ext uri="{FF2B5EF4-FFF2-40B4-BE49-F238E27FC236}">
                <a16:creationId xmlns:a16="http://schemas.microsoft.com/office/drawing/2014/main" id="{EB7F91C5-CCBB-8982-0B82-DCF74759121D}"/>
              </a:ext>
            </a:extLst>
          </p:cNvPr>
          <p:cNvSpPr>
            <a:spLocks noChangeArrowheads="1"/>
          </p:cNvSpPr>
          <p:nvPr/>
        </p:nvSpPr>
        <p:spPr bwMode="auto">
          <a:xfrm>
            <a:off x="8316996" y="2773476"/>
            <a:ext cx="360362" cy="358775"/>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1</a:t>
            </a:r>
          </a:p>
        </p:txBody>
      </p:sp>
      <p:sp>
        <p:nvSpPr>
          <p:cNvPr id="50" name="Prostokąt 49">
            <a:extLst>
              <a:ext uri="{FF2B5EF4-FFF2-40B4-BE49-F238E27FC236}">
                <a16:creationId xmlns:a16="http://schemas.microsoft.com/office/drawing/2014/main" id="{E0968AF3-EBDA-C805-9412-6E40573F1CF5}"/>
              </a:ext>
            </a:extLst>
          </p:cNvPr>
          <p:cNvSpPr>
            <a:spLocks noChangeArrowheads="1"/>
          </p:cNvSpPr>
          <p:nvPr/>
        </p:nvSpPr>
        <p:spPr bwMode="auto">
          <a:xfrm>
            <a:off x="7289883" y="5232514"/>
            <a:ext cx="360363" cy="358775"/>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51" name="Prostokąt 50">
            <a:extLst>
              <a:ext uri="{FF2B5EF4-FFF2-40B4-BE49-F238E27FC236}">
                <a16:creationId xmlns:a16="http://schemas.microsoft.com/office/drawing/2014/main" id="{49B4C47F-4C12-2626-D09B-BB8F06880788}"/>
              </a:ext>
            </a:extLst>
          </p:cNvPr>
          <p:cNvSpPr>
            <a:spLocks noChangeArrowheads="1"/>
          </p:cNvSpPr>
          <p:nvPr/>
        </p:nvSpPr>
        <p:spPr bwMode="auto">
          <a:xfrm>
            <a:off x="8010608" y="4727689"/>
            <a:ext cx="360363"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5</a:t>
            </a:r>
          </a:p>
        </p:txBody>
      </p:sp>
      <p:sp>
        <p:nvSpPr>
          <p:cNvPr id="52" name="Prostokąt 51">
            <a:extLst>
              <a:ext uri="{FF2B5EF4-FFF2-40B4-BE49-F238E27FC236}">
                <a16:creationId xmlns:a16="http://schemas.microsoft.com/office/drawing/2014/main" id="{80B5FD00-5769-77A7-93D0-BAA7521CCC3B}"/>
              </a:ext>
            </a:extLst>
          </p:cNvPr>
          <p:cNvSpPr>
            <a:spLocks noChangeArrowheads="1"/>
          </p:cNvSpPr>
          <p:nvPr/>
        </p:nvSpPr>
        <p:spPr bwMode="auto">
          <a:xfrm>
            <a:off x="7289883" y="4727689"/>
            <a:ext cx="360363"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53" name="Prostokąt 52">
            <a:extLst>
              <a:ext uri="{FF2B5EF4-FFF2-40B4-BE49-F238E27FC236}">
                <a16:creationId xmlns:a16="http://schemas.microsoft.com/office/drawing/2014/main" id="{A45BBC0D-B4DD-935A-BB9B-96B99F4E9A33}"/>
              </a:ext>
            </a:extLst>
          </p:cNvPr>
          <p:cNvSpPr>
            <a:spLocks noChangeArrowheads="1"/>
          </p:cNvSpPr>
          <p:nvPr/>
        </p:nvSpPr>
        <p:spPr bwMode="auto">
          <a:xfrm>
            <a:off x="8010608" y="4183176"/>
            <a:ext cx="360363"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4</a:t>
            </a:r>
          </a:p>
        </p:txBody>
      </p:sp>
      <p:sp>
        <p:nvSpPr>
          <p:cNvPr id="54" name="Prostokąt 53">
            <a:extLst>
              <a:ext uri="{FF2B5EF4-FFF2-40B4-BE49-F238E27FC236}">
                <a16:creationId xmlns:a16="http://schemas.microsoft.com/office/drawing/2014/main" id="{0FD54C18-D447-9A9E-CFFD-2E955D9F8EE7}"/>
              </a:ext>
            </a:extLst>
          </p:cNvPr>
          <p:cNvSpPr>
            <a:spLocks noChangeArrowheads="1"/>
          </p:cNvSpPr>
          <p:nvPr/>
        </p:nvSpPr>
        <p:spPr bwMode="auto">
          <a:xfrm>
            <a:off x="7289883" y="4191114"/>
            <a:ext cx="360363"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55" name="Prostokąt 54">
            <a:extLst>
              <a:ext uri="{FF2B5EF4-FFF2-40B4-BE49-F238E27FC236}">
                <a16:creationId xmlns:a16="http://schemas.microsoft.com/office/drawing/2014/main" id="{FF6339E5-75C3-3A6F-BAF9-ECFFF84D5F0B}"/>
              </a:ext>
            </a:extLst>
          </p:cNvPr>
          <p:cNvSpPr>
            <a:spLocks noChangeArrowheads="1"/>
          </p:cNvSpPr>
          <p:nvPr/>
        </p:nvSpPr>
        <p:spPr bwMode="auto">
          <a:xfrm>
            <a:off x="7650246" y="3691051"/>
            <a:ext cx="360362"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3</a:t>
            </a:r>
          </a:p>
        </p:txBody>
      </p:sp>
      <p:sp>
        <p:nvSpPr>
          <p:cNvPr id="56" name="Prostokąt 55">
            <a:extLst>
              <a:ext uri="{FF2B5EF4-FFF2-40B4-BE49-F238E27FC236}">
                <a16:creationId xmlns:a16="http://schemas.microsoft.com/office/drawing/2014/main" id="{4C3A81EC-5E1E-2159-337C-B8BBD228D389}"/>
              </a:ext>
            </a:extLst>
          </p:cNvPr>
          <p:cNvSpPr>
            <a:spLocks noChangeArrowheads="1"/>
          </p:cNvSpPr>
          <p:nvPr/>
        </p:nvSpPr>
        <p:spPr bwMode="auto">
          <a:xfrm>
            <a:off x="6931108" y="3691051"/>
            <a:ext cx="358775"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57" name="Prostokąt 56">
            <a:extLst>
              <a:ext uri="{FF2B5EF4-FFF2-40B4-BE49-F238E27FC236}">
                <a16:creationId xmlns:a16="http://schemas.microsoft.com/office/drawing/2014/main" id="{82E8F293-D151-A7A8-0CBB-8848461834C2}"/>
              </a:ext>
            </a:extLst>
          </p:cNvPr>
          <p:cNvSpPr>
            <a:spLocks noChangeArrowheads="1"/>
          </p:cNvSpPr>
          <p:nvPr/>
        </p:nvSpPr>
        <p:spPr bwMode="auto">
          <a:xfrm>
            <a:off x="9326646" y="3200514"/>
            <a:ext cx="358775"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2</a:t>
            </a:r>
          </a:p>
        </p:txBody>
      </p:sp>
      <p:sp>
        <p:nvSpPr>
          <p:cNvPr id="58" name="Prostokąt 57">
            <a:extLst>
              <a:ext uri="{FF2B5EF4-FFF2-40B4-BE49-F238E27FC236}">
                <a16:creationId xmlns:a16="http://schemas.microsoft.com/office/drawing/2014/main" id="{BFABF734-BCF7-5E47-5FC5-092BD5D0460A}"/>
              </a:ext>
            </a:extLst>
          </p:cNvPr>
          <p:cNvSpPr>
            <a:spLocks noChangeArrowheads="1"/>
          </p:cNvSpPr>
          <p:nvPr/>
        </p:nvSpPr>
        <p:spPr bwMode="auto">
          <a:xfrm>
            <a:off x="7289883" y="3200514"/>
            <a:ext cx="360363"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2</a:t>
            </a:r>
          </a:p>
        </p:txBody>
      </p:sp>
      <p:sp>
        <p:nvSpPr>
          <p:cNvPr id="59" name="Prostokąt 58">
            <a:extLst>
              <a:ext uri="{FF2B5EF4-FFF2-40B4-BE49-F238E27FC236}">
                <a16:creationId xmlns:a16="http://schemas.microsoft.com/office/drawing/2014/main" id="{D2FFF5CC-AF40-10D0-1B06-28D12C220D56}"/>
              </a:ext>
            </a:extLst>
          </p:cNvPr>
          <p:cNvSpPr>
            <a:spLocks noChangeArrowheads="1"/>
          </p:cNvSpPr>
          <p:nvPr/>
        </p:nvSpPr>
        <p:spPr bwMode="auto">
          <a:xfrm>
            <a:off x="8010608" y="5232514"/>
            <a:ext cx="360363" cy="358775"/>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6</a:t>
            </a:r>
          </a:p>
        </p:txBody>
      </p:sp>
      <p:sp>
        <p:nvSpPr>
          <p:cNvPr id="60" name="Prostokąt 59">
            <a:extLst>
              <a:ext uri="{FF2B5EF4-FFF2-40B4-BE49-F238E27FC236}">
                <a16:creationId xmlns:a16="http://schemas.microsoft.com/office/drawing/2014/main" id="{D354E35A-BB0D-2DF0-C421-8609EA2B86FB}"/>
              </a:ext>
            </a:extLst>
          </p:cNvPr>
          <p:cNvSpPr>
            <a:spLocks noChangeArrowheads="1"/>
          </p:cNvSpPr>
          <p:nvPr/>
        </p:nvSpPr>
        <p:spPr bwMode="auto">
          <a:xfrm>
            <a:off x="8750383" y="3684701"/>
            <a:ext cx="358775"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61" name="Prostokąt 60">
            <a:extLst>
              <a:ext uri="{FF2B5EF4-FFF2-40B4-BE49-F238E27FC236}">
                <a16:creationId xmlns:a16="http://schemas.microsoft.com/office/drawing/2014/main" id="{B59FEDF1-719E-0ADA-2994-FEB53B6F1DE1}"/>
              </a:ext>
            </a:extLst>
          </p:cNvPr>
          <p:cNvSpPr>
            <a:spLocks noChangeArrowheads="1"/>
          </p:cNvSpPr>
          <p:nvPr/>
        </p:nvSpPr>
        <p:spPr bwMode="auto">
          <a:xfrm>
            <a:off x="9326646" y="3679939"/>
            <a:ext cx="358775"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3</a:t>
            </a:r>
          </a:p>
        </p:txBody>
      </p:sp>
      <p:sp>
        <p:nvSpPr>
          <p:cNvPr id="62" name="Prostokąt 61">
            <a:extLst>
              <a:ext uri="{FF2B5EF4-FFF2-40B4-BE49-F238E27FC236}">
                <a16:creationId xmlns:a16="http://schemas.microsoft.com/office/drawing/2014/main" id="{99D11037-F93D-3E8C-8817-5CF5F40E444D}"/>
              </a:ext>
            </a:extLst>
          </p:cNvPr>
          <p:cNvSpPr>
            <a:spLocks noChangeArrowheads="1"/>
          </p:cNvSpPr>
          <p:nvPr/>
        </p:nvSpPr>
        <p:spPr bwMode="auto">
          <a:xfrm>
            <a:off x="9901321" y="3681526"/>
            <a:ext cx="360362"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63" name="Prostokąt 62">
            <a:extLst>
              <a:ext uri="{FF2B5EF4-FFF2-40B4-BE49-F238E27FC236}">
                <a16:creationId xmlns:a16="http://schemas.microsoft.com/office/drawing/2014/main" id="{BCC9B47D-ABFD-AAED-3C60-AF5711AB9D4D}"/>
              </a:ext>
            </a:extLst>
          </p:cNvPr>
          <p:cNvSpPr>
            <a:spLocks noChangeArrowheads="1"/>
          </p:cNvSpPr>
          <p:nvPr/>
        </p:nvSpPr>
        <p:spPr bwMode="auto">
          <a:xfrm>
            <a:off x="9326646" y="4178414"/>
            <a:ext cx="358775"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4</a:t>
            </a:r>
          </a:p>
        </p:txBody>
      </p:sp>
      <p:sp>
        <p:nvSpPr>
          <p:cNvPr id="64" name="Prostokąt 63">
            <a:extLst>
              <a:ext uri="{FF2B5EF4-FFF2-40B4-BE49-F238E27FC236}">
                <a16:creationId xmlns:a16="http://schemas.microsoft.com/office/drawing/2014/main" id="{10D0BA1F-4135-1687-A4A9-9E382E886162}"/>
              </a:ext>
            </a:extLst>
          </p:cNvPr>
          <p:cNvSpPr>
            <a:spLocks noChangeArrowheads="1"/>
          </p:cNvSpPr>
          <p:nvPr/>
        </p:nvSpPr>
        <p:spPr bwMode="auto">
          <a:xfrm>
            <a:off x="9326646" y="4691176"/>
            <a:ext cx="358775"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5</a:t>
            </a:r>
          </a:p>
        </p:txBody>
      </p:sp>
      <p:sp>
        <p:nvSpPr>
          <p:cNvPr id="65" name="Prostokąt 64">
            <a:extLst>
              <a:ext uri="{FF2B5EF4-FFF2-40B4-BE49-F238E27FC236}">
                <a16:creationId xmlns:a16="http://schemas.microsoft.com/office/drawing/2014/main" id="{F5D7813F-D263-E040-A4BE-09C09DD6CFB3}"/>
              </a:ext>
            </a:extLst>
          </p:cNvPr>
          <p:cNvSpPr>
            <a:spLocks noChangeArrowheads="1"/>
          </p:cNvSpPr>
          <p:nvPr/>
        </p:nvSpPr>
        <p:spPr bwMode="auto">
          <a:xfrm>
            <a:off x="9326646" y="5224576"/>
            <a:ext cx="358775" cy="360363"/>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6</a:t>
            </a:r>
          </a:p>
        </p:txBody>
      </p:sp>
      <p:sp>
        <p:nvSpPr>
          <p:cNvPr id="66" name="Prostokąt 65">
            <a:extLst>
              <a:ext uri="{FF2B5EF4-FFF2-40B4-BE49-F238E27FC236}">
                <a16:creationId xmlns:a16="http://schemas.microsoft.com/office/drawing/2014/main" id="{4CA94FAE-A39B-A566-6029-FC05123CBD49}"/>
              </a:ext>
            </a:extLst>
          </p:cNvPr>
          <p:cNvSpPr>
            <a:spLocks noChangeArrowheads="1"/>
          </p:cNvSpPr>
          <p:nvPr/>
        </p:nvSpPr>
        <p:spPr bwMode="auto">
          <a:xfrm>
            <a:off x="8756733" y="5232514"/>
            <a:ext cx="360363" cy="358775"/>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67" name="Prostokąt 66">
            <a:extLst>
              <a:ext uri="{FF2B5EF4-FFF2-40B4-BE49-F238E27FC236}">
                <a16:creationId xmlns:a16="http://schemas.microsoft.com/office/drawing/2014/main" id="{FC28837A-428E-35A7-4DA3-A2EC8DB0CD0E}"/>
              </a:ext>
            </a:extLst>
          </p:cNvPr>
          <p:cNvSpPr>
            <a:spLocks noChangeArrowheads="1"/>
          </p:cNvSpPr>
          <p:nvPr/>
        </p:nvSpPr>
        <p:spPr bwMode="auto">
          <a:xfrm>
            <a:off x="9901321" y="5232514"/>
            <a:ext cx="360362" cy="358775"/>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endParaRPr lang="pl-PL" altLang="pl-PL" sz="1800" b="1" u="none">
              <a:latin typeface="Tenorite" panose="00000500000000000000" pitchFamily="2" charset="0"/>
            </a:endParaRPr>
          </a:p>
        </p:txBody>
      </p:sp>
      <p:sp>
        <p:nvSpPr>
          <p:cNvPr id="68" name="Prostokąt 67">
            <a:extLst>
              <a:ext uri="{FF2B5EF4-FFF2-40B4-BE49-F238E27FC236}">
                <a16:creationId xmlns:a16="http://schemas.microsoft.com/office/drawing/2014/main" id="{943D58F8-E7FA-AF13-BE5A-48B3CAF921A0}"/>
              </a:ext>
            </a:extLst>
          </p:cNvPr>
          <p:cNvSpPr>
            <a:spLocks noChangeArrowheads="1"/>
          </p:cNvSpPr>
          <p:nvPr/>
        </p:nvSpPr>
        <p:spPr bwMode="auto">
          <a:xfrm>
            <a:off x="9325058" y="5737339"/>
            <a:ext cx="358775" cy="360362"/>
          </a:xfrm>
          <a:prstGeom prst="rect">
            <a:avLst/>
          </a:prstGeom>
          <a:solidFill>
            <a:schemeClr val="accent3">
              <a:lumMod val="20000"/>
              <a:lumOff val="80000"/>
            </a:schemeClr>
          </a:solidFill>
          <a:ln w="9525" algn="ctr">
            <a:solidFill>
              <a:schemeClr val="tx1"/>
            </a:solidFill>
            <a:round/>
            <a:headEnd/>
            <a:tailEnd/>
          </a:ln>
        </p:spPr>
        <p:txBody>
          <a:bodyPr anchor="ct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a:latin typeface="Tenorite" panose="00000500000000000000" pitchFamily="2" charset="0"/>
              </a:rPr>
              <a:t>7</a:t>
            </a:r>
          </a:p>
        </p:txBody>
      </p:sp>
      <p:cxnSp>
        <p:nvCxnSpPr>
          <p:cNvPr id="69" name="Łącznik prostoliniowy 87">
            <a:extLst>
              <a:ext uri="{FF2B5EF4-FFF2-40B4-BE49-F238E27FC236}">
                <a16:creationId xmlns:a16="http://schemas.microsoft.com/office/drawing/2014/main" id="{33880C12-87B0-EACC-60D3-9E614EE82085}"/>
              </a:ext>
            </a:extLst>
          </p:cNvPr>
          <p:cNvCxnSpPr>
            <a:cxnSpLocks noChangeShapeType="1"/>
          </p:cNvCxnSpPr>
          <p:nvPr/>
        </p:nvCxnSpPr>
        <p:spPr bwMode="auto">
          <a:xfrm>
            <a:off x="8510671" y="3132251"/>
            <a:ext cx="0" cy="365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0" name="Łącznik prostoliniowy 88">
            <a:extLst>
              <a:ext uri="{FF2B5EF4-FFF2-40B4-BE49-F238E27FC236}">
                <a16:creationId xmlns:a16="http://schemas.microsoft.com/office/drawing/2014/main" id="{B1923B68-5483-805A-7B16-7D144A855570}"/>
              </a:ext>
            </a:extLst>
          </p:cNvPr>
          <p:cNvCxnSpPr>
            <a:cxnSpLocks noChangeShapeType="1"/>
          </p:cNvCxnSpPr>
          <p:nvPr/>
        </p:nvCxnSpPr>
        <p:spPr bwMode="auto">
          <a:xfrm>
            <a:off x="7470858" y="3168764"/>
            <a:ext cx="20351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1" name="Łącznik prostoliniowy 96">
            <a:extLst>
              <a:ext uri="{FF2B5EF4-FFF2-40B4-BE49-F238E27FC236}">
                <a16:creationId xmlns:a16="http://schemas.microsoft.com/office/drawing/2014/main" id="{EF91B59D-0641-6BE7-7D1F-6FD434AF0B78}"/>
              </a:ext>
            </a:extLst>
          </p:cNvPr>
          <p:cNvCxnSpPr>
            <a:cxnSpLocks noChangeShapeType="1"/>
            <a:endCxn id="58" idx="0"/>
          </p:cNvCxnSpPr>
          <p:nvPr/>
        </p:nvCxnSpPr>
        <p:spPr bwMode="auto">
          <a:xfrm flipH="1">
            <a:off x="7470858" y="3168764"/>
            <a:ext cx="0" cy="317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 name="Łącznik prostoliniowy 99">
            <a:extLst>
              <a:ext uri="{FF2B5EF4-FFF2-40B4-BE49-F238E27FC236}">
                <a16:creationId xmlns:a16="http://schemas.microsoft.com/office/drawing/2014/main" id="{4B4CA9FE-BBE0-3C59-3849-B1C6984A344D}"/>
              </a:ext>
            </a:extLst>
          </p:cNvPr>
          <p:cNvCxnSpPr>
            <a:cxnSpLocks noChangeShapeType="1"/>
          </p:cNvCxnSpPr>
          <p:nvPr/>
        </p:nvCxnSpPr>
        <p:spPr bwMode="auto">
          <a:xfrm flipH="1">
            <a:off x="9506033" y="3170351"/>
            <a:ext cx="0" cy="301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3" name="Łącznik prostoliniowy 100">
            <a:extLst>
              <a:ext uri="{FF2B5EF4-FFF2-40B4-BE49-F238E27FC236}">
                <a16:creationId xmlns:a16="http://schemas.microsoft.com/office/drawing/2014/main" id="{550455B9-DC6D-36A4-2862-E49F931A0BDC}"/>
              </a:ext>
            </a:extLst>
          </p:cNvPr>
          <p:cNvCxnSpPr>
            <a:cxnSpLocks noChangeShapeType="1"/>
          </p:cNvCxnSpPr>
          <p:nvPr/>
        </p:nvCxnSpPr>
        <p:spPr bwMode="auto">
          <a:xfrm flipH="1">
            <a:off x="7467683" y="3562464"/>
            <a:ext cx="0" cy="317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 name="Łącznik prostoliniowy 101">
            <a:extLst>
              <a:ext uri="{FF2B5EF4-FFF2-40B4-BE49-F238E27FC236}">
                <a16:creationId xmlns:a16="http://schemas.microsoft.com/office/drawing/2014/main" id="{30D3EB4C-EDEA-34CF-C368-72F59D28E4D9}"/>
              </a:ext>
            </a:extLst>
          </p:cNvPr>
          <p:cNvCxnSpPr>
            <a:cxnSpLocks noChangeShapeType="1"/>
          </p:cNvCxnSpPr>
          <p:nvPr/>
        </p:nvCxnSpPr>
        <p:spPr bwMode="auto">
          <a:xfrm flipH="1">
            <a:off x="9506033" y="3560876"/>
            <a:ext cx="0" cy="301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5" name="Łącznik prostoliniowy 103">
            <a:extLst>
              <a:ext uri="{FF2B5EF4-FFF2-40B4-BE49-F238E27FC236}">
                <a16:creationId xmlns:a16="http://schemas.microsoft.com/office/drawing/2014/main" id="{7D4EC17E-C3CE-B3F9-BEBF-43AD8F96ECC8}"/>
              </a:ext>
            </a:extLst>
          </p:cNvPr>
          <p:cNvCxnSpPr>
            <a:cxnSpLocks noChangeShapeType="1"/>
          </p:cNvCxnSpPr>
          <p:nvPr/>
        </p:nvCxnSpPr>
        <p:spPr bwMode="auto">
          <a:xfrm>
            <a:off x="7110496" y="3600564"/>
            <a:ext cx="7032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6" name="Łącznik prostoliniowy 106">
            <a:extLst>
              <a:ext uri="{FF2B5EF4-FFF2-40B4-BE49-F238E27FC236}">
                <a16:creationId xmlns:a16="http://schemas.microsoft.com/office/drawing/2014/main" id="{78730BDE-DF24-567A-8220-01DDF7498117}"/>
              </a:ext>
            </a:extLst>
          </p:cNvPr>
          <p:cNvCxnSpPr>
            <a:cxnSpLocks noChangeShapeType="1"/>
            <a:endCxn id="56" idx="0"/>
          </p:cNvCxnSpPr>
          <p:nvPr/>
        </p:nvCxnSpPr>
        <p:spPr bwMode="auto">
          <a:xfrm>
            <a:off x="7110496" y="3600564"/>
            <a:ext cx="0" cy="904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7" name="Łącznik prostoliniowy 111">
            <a:extLst>
              <a:ext uri="{FF2B5EF4-FFF2-40B4-BE49-F238E27FC236}">
                <a16:creationId xmlns:a16="http://schemas.microsoft.com/office/drawing/2014/main" id="{E661631C-BCB7-760C-A7C9-3B76E85DC717}"/>
              </a:ext>
            </a:extLst>
          </p:cNvPr>
          <p:cNvCxnSpPr>
            <a:cxnSpLocks noChangeShapeType="1"/>
          </p:cNvCxnSpPr>
          <p:nvPr/>
        </p:nvCxnSpPr>
        <p:spPr bwMode="auto">
          <a:xfrm>
            <a:off x="7813758" y="3600564"/>
            <a:ext cx="0" cy="904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8" name="Łącznik prostoliniowy 112">
            <a:extLst>
              <a:ext uri="{FF2B5EF4-FFF2-40B4-BE49-F238E27FC236}">
                <a16:creationId xmlns:a16="http://schemas.microsoft.com/office/drawing/2014/main" id="{58698A1E-1E2D-F848-04F4-82012D98675E}"/>
              </a:ext>
            </a:extLst>
          </p:cNvPr>
          <p:cNvCxnSpPr>
            <a:cxnSpLocks noChangeShapeType="1"/>
          </p:cNvCxnSpPr>
          <p:nvPr/>
        </p:nvCxnSpPr>
        <p:spPr bwMode="auto">
          <a:xfrm>
            <a:off x="8932946" y="3598976"/>
            <a:ext cx="0" cy="904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9" name="Łącznik prostoliniowy 113">
            <a:extLst>
              <a:ext uri="{FF2B5EF4-FFF2-40B4-BE49-F238E27FC236}">
                <a16:creationId xmlns:a16="http://schemas.microsoft.com/office/drawing/2014/main" id="{24809457-9032-50CA-ADC2-4390AC979629}"/>
              </a:ext>
            </a:extLst>
          </p:cNvPr>
          <p:cNvCxnSpPr>
            <a:cxnSpLocks noChangeShapeType="1"/>
          </p:cNvCxnSpPr>
          <p:nvPr/>
        </p:nvCxnSpPr>
        <p:spPr bwMode="auto">
          <a:xfrm>
            <a:off x="9504446" y="3589451"/>
            <a:ext cx="0" cy="904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0" name="Łącznik prostoliniowy 114">
            <a:extLst>
              <a:ext uri="{FF2B5EF4-FFF2-40B4-BE49-F238E27FC236}">
                <a16:creationId xmlns:a16="http://schemas.microsoft.com/office/drawing/2014/main" id="{6FC7238C-BEBF-52CD-4621-B0A4C05F1C98}"/>
              </a:ext>
            </a:extLst>
          </p:cNvPr>
          <p:cNvCxnSpPr>
            <a:cxnSpLocks noChangeShapeType="1"/>
          </p:cNvCxnSpPr>
          <p:nvPr/>
        </p:nvCxnSpPr>
        <p:spPr bwMode="auto">
          <a:xfrm>
            <a:off x="10082296" y="3595801"/>
            <a:ext cx="0" cy="904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1" name="Łącznik prostoliniowy 115">
            <a:extLst>
              <a:ext uri="{FF2B5EF4-FFF2-40B4-BE49-F238E27FC236}">
                <a16:creationId xmlns:a16="http://schemas.microsoft.com/office/drawing/2014/main" id="{2296061F-06A1-39F5-4C97-6EC1EF508DF8}"/>
              </a:ext>
            </a:extLst>
          </p:cNvPr>
          <p:cNvCxnSpPr>
            <a:cxnSpLocks noChangeShapeType="1"/>
          </p:cNvCxnSpPr>
          <p:nvPr/>
        </p:nvCxnSpPr>
        <p:spPr bwMode="auto">
          <a:xfrm>
            <a:off x="8929771" y="3595801"/>
            <a:ext cx="11525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2" name="Łącznik prostoliniowy 121">
            <a:extLst>
              <a:ext uri="{FF2B5EF4-FFF2-40B4-BE49-F238E27FC236}">
                <a16:creationId xmlns:a16="http://schemas.microsoft.com/office/drawing/2014/main" id="{AE610A13-0065-1206-B3F6-A0A783EDF86B}"/>
              </a:ext>
            </a:extLst>
          </p:cNvPr>
          <p:cNvCxnSpPr>
            <a:cxnSpLocks noChangeShapeType="1"/>
            <a:stCxn id="61" idx="2"/>
            <a:endCxn id="63" idx="0"/>
          </p:cNvCxnSpPr>
          <p:nvPr/>
        </p:nvCxnSpPr>
        <p:spPr bwMode="auto">
          <a:xfrm>
            <a:off x="9506033" y="4040301"/>
            <a:ext cx="0" cy="1381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3" name="Łącznik prostoliniowy 125">
            <a:extLst>
              <a:ext uri="{FF2B5EF4-FFF2-40B4-BE49-F238E27FC236}">
                <a16:creationId xmlns:a16="http://schemas.microsoft.com/office/drawing/2014/main" id="{1B9C853B-280A-6E23-BE4C-26F2B6AFD585}"/>
              </a:ext>
            </a:extLst>
          </p:cNvPr>
          <p:cNvCxnSpPr>
            <a:cxnSpLocks noChangeShapeType="1"/>
          </p:cNvCxnSpPr>
          <p:nvPr/>
        </p:nvCxnSpPr>
        <p:spPr bwMode="auto">
          <a:xfrm>
            <a:off x="9504446" y="4543539"/>
            <a:ext cx="0" cy="1397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4" name="Łącznik prostoliniowy 126">
            <a:extLst>
              <a:ext uri="{FF2B5EF4-FFF2-40B4-BE49-F238E27FC236}">
                <a16:creationId xmlns:a16="http://schemas.microsoft.com/office/drawing/2014/main" id="{74A14B2E-0982-5E37-592B-D9F8E2F71E79}"/>
              </a:ext>
            </a:extLst>
          </p:cNvPr>
          <p:cNvCxnSpPr>
            <a:cxnSpLocks noChangeShapeType="1"/>
            <a:endCxn id="65" idx="0"/>
          </p:cNvCxnSpPr>
          <p:nvPr/>
        </p:nvCxnSpPr>
        <p:spPr bwMode="auto">
          <a:xfrm>
            <a:off x="9504446" y="5051539"/>
            <a:ext cx="1587" cy="1730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5" name="Łącznik prostoliniowy 128">
            <a:extLst>
              <a:ext uri="{FF2B5EF4-FFF2-40B4-BE49-F238E27FC236}">
                <a16:creationId xmlns:a16="http://schemas.microsoft.com/office/drawing/2014/main" id="{BFF2D810-ACF8-25DD-0800-542E4CC5BD78}"/>
              </a:ext>
            </a:extLst>
          </p:cNvPr>
          <p:cNvCxnSpPr>
            <a:cxnSpLocks noChangeShapeType="1"/>
          </p:cNvCxnSpPr>
          <p:nvPr/>
        </p:nvCxnSpPr>
        <p:spPr bwMode="auto">
          <a:xfrm>
            <a:off x="8940883" y="5137264"/>
            <a:ext cx="1150938"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6" name="Łącznik prostoliniowy 129">
            <a:extLst>
              <a:ext uri="{FF2B5EF4-FFF2-40B4-BE49-F238E27FC236}">
                <a16:creationId xmlns:a16="http://schemas.microsoft.com/office/drawing/2014/main" id="{3160CE4F-3FD9-30C5-B70F-05F0AAB9D02A}"/>
              </a:ext>
            </a:extLst>
          </p:cNvPr>
          <p:cNvCxnSpPr>
            <a:cxnSpLocks noChangeShapeType="1"/>
          </p:cNvCxnSpPr>
          <p:nvPr/>
        </p:nvCxnSpPr>
        <p:spPr bwMode="auto">
          <a:xfrm>
            <a:off x="8945646" y="5134089"/>
            <a:ext cx="0" cy="904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7" name="Łącznik prostoliniowy 130">
            <a:extLst>
              <a:ext uri="{FF2B5EF4-FFF2-40B4-BE49-F238E27FC236}">
                <a16:creationId xmlns:a16="http://schemas.microsoft.com/office/drawing/2014/main" id="{31C158B6-272B-8E37-553C-3CAF4D24D5B6}"/>
              </a:ext>
            </a:extLst>
          </p:cNvPr>
          <p:cNvCxnSpPr>
            <a:cxnSpLocks noChangeShapeType="1"/>
          </p:cNvCxnSpPr>
          <p:nvPr/>
        </p:nvCxnSpPr>
        <p:spPr bwMode="auto">
          <a:xfrm>
            <a:off x="10093408" y="5140439"/>
            <a:ext cx="0" cy="920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8" name="Łącznik prostoliniowy 131">
            <a:extLst>
              <a:ext uri="{FF2B5EF4-FFF2-40B4-BE49-F238E27FC236}">
                <a16:creationId xmlns:a16="http://schemas.microsoft.com/office/drawing/2014/main" id="{8EA226F5-D45D-7456-3474-6DF5DBA4581F}"/>
              </a:ext>
            </a:extLst>
          </p:cNvPr>
          <p:cNvCxnSpPr>
            <a:cxnSpLocks noChangeShapeType="1"/>
            <a:stCxn id="65" idx="2"/>
            <a:endCxn id="68" idx="0"/>
          </p:cNvCxnSpPr>
          <p:nvPr/>
        </p:nvCxnSpPr>
        <p:spPr bwMode="auto">
          <a:xfrm flipH="1">
            <a:off x="9504446" y="5584939"/>
            <a:ext cx="1587"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9" name="Łącznik prostoliniowy 138">
            <a:extLst>
              <a:ext uri="{FF2B5EF4-FFF2-40B4-BE49-F238E27FC236}">
                <a16:creationId xmlns:a16="http://schemas.microsoft.com/office/drawing/2014/main" id="{5F6E3485-FB8C-15BA-098D-DB247EA5024B}"/>
              </a:ext>
            </a:extLst>
          </p:cNvPr>
          <p:cNvCxnSpPr>
            <a:cxnSpLocks noChangeShapeType="1"/>
            <a:stCxn id="51" idx="2"/>
            <a:endCxn id="59" idx="0"/>
          </p:cNvCxnSpPr>
          <p:nvPr/>
        </p:nvCxnSpPr>
        <p:spPr bwMode="auto">
          <a:xfrm>
            <a:off x="8189996" y="5088051"/>
            <a:ext cx="0" cy="1444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0" name="Łącznik prostoliniowy 141">
            <a:extLst>
              <a:ext uri="{FF2B5EF4-FFF2-40B4-BE49-F238E27FC236}">
                <a16:creationId xmlns:a16="http://schemas.microsoft.com/office/drawing/2014/main" id="{55094FDB-0C8C-7426-AA17-D664848652C5}"/>
              </a:ext>
            </a:extLst>
          </p:cNvPr>
          <p:cNvCxnSpPr>
            <a:cxnSpLocks noChangeShapeType="1"/>
          </p:cNvCxnSpPr>
          <p:nvPr/>
        </p:nvCxnSpPr>
        <p:spPr bwMode="auto">
          <a:xfrm>
            <a:off x="8188408" y="4551476"/>
            <a:ext cx="1588" cy="1730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1" name="Łącznik prostoliniowy 142">
            <a:extLst>
              <a:ext uri="{FF2B5EF4-FFF2-40B4-BE49-F238E27FC236}">
                <a16:creationId xmlns:a16="http://schemas.microsoft.com/office/drawing/2014/main" id="{1B3A1750-73BF-B7AC-2586-976F3E682468}"/>
              </a:ext>
            </a:extLst>
          </p:cNvPr>
          <p:cNvCxnSpPr>
            <a:cxnSpLocks noChangeShapeType="1"/>
            <a:stCxn id="52" idx="2"/>
            <a:endCxn id="50" idx="0"/>
          </p:cNvCxnSpPr>
          <p:nvPr/>
        </p:nvCxnSpPr>
        <p:spPr bwMode="auto">
          <a:xfrm>
            <a:off x="7470858" y="5088051"/>
            <a:ext cx="0" cy="1444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2" name="Łącznik prostoliniowy 144">
            <a:extLst>
              <a:ext uri="{FF2B5EF4-FFF2-40B4-BE49-F238E27FC236}">
                <a16:creationId xmlns:a16="http://schemas.microsoft.com/office/drawing/2014/main" id="{D4B8B9D4-6E15-1CDF-E8BE-FB8E55F26CE0}"/>
              </a:ext>
            </a:extLst>
          </p:cNvPr>
          <p:cNvCxnSpPr>
            <a:cxnSpLocks noChangeShapeType="1"/>
          </p:cNvCxnSpPr>
          <p:nvPr/>
        </p:nvCxnSpPr>
        <p:spPr bwMode="auto">
          <a:xfrm>
            <a:off x="7466096" y="4553064"/>
            <a:ext cx="0" cy="1698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3" name="Łącznik prostoliniowy 148">
            <a:extLst>
              <a:ext uri="{FF2B5EF4-FFF2-40B4-BE49-F238E27FC236}">
                <a16:creationId xmlns:a16="http://schemas.microsoft.com/office/drawing/2014/main" id="{C63E3120-DB3A-17C5-31CE-DEA314118F4F}"/>
              </a:ext>
            </a:extLst>
          </p:cNvPr>
          <p:cNvCxnSpPr>
            <a:cxnSpLocks noChangeShapeType="1"/>
          </p:cNvCxnSpPr>
          <p:nvPr/>
        </p:nvCxnSpPr>
        <p:spPr bwMode="auto">
          <a:xfrm>
            <a:off x="7466096" y="4110151"/>
            <a:ext cx="723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4" name="Łącznik prostoliniowy 149">
            <a:extLst>
              <a:ext uri="{FF2B5EF4-FFF2-40B4-BE49-F238E27FC236}">
                <a16:creationId xmlns:a16="http://schemas.microsoft.com/office/drawing/2014/main" id="{25C773C3-ECAD-E134-6F95-553719930C7E}"/>
              </a:ext>
            </a:extLst>
          </p:cNvPr>
          <p:cNvCxnSpPr>
            <a:cxnSpLocks noChangeShapeType="1"/>
            <a:endCxn id="54" idx="0"/>
          </p:cNvCxnSpPr>
          <p:nvPr/>
        </p:nvCxnSpPr>
        <p:spPr bwMode="auto">
          <a:xfrm flipH="1">
            <a:off x="7470858" y="4110151"/>
            <a:ext cx="0" cy="809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5" name="Łącznik prostoliniowy 154">
            <a:extLst>
              <a:ext uri="{FF2B5EF4-FFF2-40B4-BE49-F238E27FC236}">
                <a16:creationId xmlns:a16="http://schemas.microsoft.com/office/drawing/2014/main" id="{8C38B7A3-B35F-A687-D17F-3DEAC0A65BD2}"/>
              </a:ext>
            </a:extLst>
          </p:cNvPr>
          <p:cNvCxnSpPr>
            <a:cxnSpLocks noChangeShapeType="1"/>
          </p:cNvCxnSpPr>
          <p:nvPr/>
        </p:nvCxnSpPr>
        <p:spPr bwMode="auto">
          <a:xfrm flipH="1">
            <a:off x="8185233" y="4102214"/>
            <a:ext cx="0" cy="809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 name="Łącznik prostoliniowy 155">
            <a:extLst>
              <a:ext uri="{FF2B5EF4-FFF2-40B4-BE49-F238E27FC236}">
                <a16:creationId xmlns:a16="http://schemas.microsoft.com/office/drawing/2014/main" id="{3B4DB5C6-80DA-8466-6030-A09D2883B101}"/>
              </a:ext>
            </a:extLst>
          </p:cNvPr>
          <p:cNvCxnSpPr>
            <a:cxnSpLocks noChangeShapeType="1"/>
            <a:stCxn id="55" idx="2"/>
          </p:cNvCxnSpPr>
          <p:nvPr/>
        </p:nvCxnSpPr>
        <p:spPr bwMode="auto">
          <a:xfrm flipH="1">
            <a:off x="7829633" y="4051414"/>
            <a:ext cx="0" cy="50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7" name="TextBox 19">
            <a:extLst>
              <a:ext uri="{FF2B5EF4-FFF2-40B4-BE49-F238E27FC236}">
                <a16:creationId xmlns:a16="http://schemas.microsoft.com/office/drawing/2014/main" id="{A9CF17A9-9972-EC3B-FBE7-6A7510C9F88A}"/>
              </a:ext>
            </a:extLst>
          </p:cNvPr>
          <p:cNvSpPr txBox="1">
            <a:spLocks noChangeArrowheads="1"/>
          </p:cNvSpPr>
          <p:nvPr/>
        </p:nvSpPr>
        <p:spPr bwMode="auto">
          <a:xfrm>
            <a:off x="6427077" y="5859351"/>
            <a:ext cx="37798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1800" b="1" u="none" dirty="0">
                <a:latin typeface="Tenorite" panose="00000500000000000000" pitchFamily="2" charset="0"/>
                <a:cs typeface="Tahoma" panose="020B0604030504040204" pitchFamily="34" charset="0"/>
              </a:rPr>
              <a:t>7–</a:t>
            </a:r>
            <a:r>
              <a:rPr lang="pl-PL" altLang="pl-PL" sz="1800" b="1" u="none" dirty="0" err="1">
                <a:latin typeface="Tenorite" panose="00000500000000000000" pitchFamily="2" charset="0"/>
                <a:cs typeface="Tahoma" panose="020B0604030504040204" pitchFamily="34" charset="0"/>
              </a:rPr>
              <a:t>level</a:t>
            </a:r>
            <a:r>
              <a:rPr lang="pl-PL" altLang="pl-PL" sz="1800" b="1" u="none" dirty="0">
                <a:latin typeface="Tenorite" panose="00000500000000000000" pitchFamily="2" charset="0"/>
                <a:cs typeface="Tahoma" panose="020B0604030504040204" pitchFamily="34" charset="0"/>
              </a:rPr>
              <a:t> hierarchy </a:t>
            </a:r>
            <a:endParaRPr lang="pl-PL" altLang="pl-PL" sz="1800" u="none" dirty="0">
              <a:latin typeface="Tenorite" panose="00000500000000000000" pitchFamily="2" charset="0"/>
              <a:cs typeface="Tahoma" panose="020B0604030504040204" pitchFamily="34" charset="0"/>
            </a:endParaRPr>
          </a:p>
        </p:txBody>
      </p:sp>
    </p:spTree>
    <p:extLst>
      <p:ext uri="{BB962C8B-B14F-4D97-AF65-F5344CB8AC3E}">
        <p14:creationId xmlns:p14="http://schemas.microsoft.com/office/powerpoint/2010/main" val="125795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en-US" sz="5000" dirty="0">
                <a:latin typeface="Tenorite" panose="00000500000000000000" pitchFamily="2" charset="0"/>
              </a:rPr>
              <a:t>Differences between flat and tall structures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graphicFrame>
        <p:nvGraphicFramePr>
          <p:cNvPr id="10" name="Tabela 9">
            <a:extLst>
              <a:ext uri="{FF2B5EF4-FFF2-40B4-BE49-F238E27FC236}">
                <a16:creationId xmlns:a16="http://schemas.microsoft.com/office/drawing/2014/main" id="{3D271574-1EB3-25DF-83F0-982B4F045130}"/>
              </a:ext>
            </a:extLst>
          </p:cNvPr>
          <p:cNvGraphicFramePr>
            <a:graphicFrameLocks noGrp="1"/>
          </p:cNvGraphicFramePr>
          <p:nvPr>
            <p:extLst>
              <p:ext uri="{D42A27DB-BD31-4B8C-83A1-F6EECF244321}">
                <p14:modId xmlns:p14="http://schemas.microsoft.com/office/powerpoint/2010/main" val="3566031449"/>
              </p:ext>
            </p:extLst>
          </p:nvPr>
        </p:nvGraphicFramePr>
        <p:xfrm>
          <a:off x="1920080" y="2078812"/>
          <a:ext cx="8351839" cy="4187824"/>
        </p:xfrm>
        <a:graphic>
          <a:graphicData uri="http://schemas.openxmlformats.org/drawingml/2006/table">
            <a:tbl>
              <a:tblPr firstRow="1" bandRow="1">
                <a:tableStyleId>{F5AB1C69-6EDB-4FF4-983F-18BD219EF322}</a:tableStyleId>
              </a:tblPr>
              <a:tblGrid>
                <a:gridCol w="1943963">
                  <a:extLst>
                    <a:ext uri="{9D8B030D-6E8A-4147-A177-3AD203B41FA5}">
                      <a16:colId xmlns:a16="http://schemas.microsoft.com/office/drawing/2014/main" val="20000"/>
                    </a:ext>
                  </a:extLst>
                </a:gridCol>
                <a:gridCol w="3167939">
                  <a:extLst>
                    <a:ext uri="{9D8B030D-6E8A-4147-A177-3AD203B41FA5}">
                      <a16:colId xmlns:a16="http://schemas.microsoft.com/office/drawing/2014/main" val="20001"/>
                    </a:ext>
                  </a:extLst>
                </a:gridCol>
                <a:gridCol w="3239937">
                  <a:extLst>
                    <a:ext uri="{9D8B030D-6E8A-4147-A177-3AD203B41FA5}">
                      <a16:colId xmlns:a16="http://schemas.microsoft.com/office/drawing/2014/main" val="20002"/>
                    </a:ext>
                  </a:extLst>
                </a:gridCol>
              </a:tblGrid>
              <a:tr h="522104">
                <a:tc>
                  <a:txBody>
                    <a:bodyPr/>
                    <a:lstStyle/>
                    <a:p>
                      <a:r>
                        <a:rPr lang="pl-PL" sz="1800" dirty="0">
                          <a:solidFill>
                            <a:schemeClr val="tx1"/>
                          </a:solidFill>
                        </a:rPr>
                        <a:t>Structure</a:t>
                      </a:r>
                      <a:endParaRPr lang="pl-PL" sz="1800" dirty="0">
                        <a:solidFill>
                          <a:schemeClr val="tx1"/>
                        </a:solidFill>
                        <a:latin typeface="Tenorite" panose="00000500000000000000" pitchFamily="2" charset="0"/>
                      </a:endParaRPr>
                    </a:p>
                  </a:txBody>
                  <a:tcPr marL="91428" marR="91428" marT="45724" marB="45724" anchor="ctr"/>
                </a:tc>
                <a:tc>
                  <a:txBody>
                    <a:bodyPr/>
                    <a:lstStyle/>
                    <a:p>
                      <a:pPr algn="ctr"/>
                      <a:r>
                        <a:rPr lang="pl-PL" sz="1800" dirty="0">
                          <a:solidFill>
                            <a:schemeClr val="tx1"/>
                          </a:solidFill>
                        </a:rPr>
                        <a:t>FLAT</a:t>
                      </a:r>
                      <a:endParaRPr lang="pl-PL" sz="1800" dirty="0">
                        <a:solidFill>
                          <a:schemeClr val="tx1"/>
                        </a:solidFill>
                        <a:latin typeface="Tenorite" panose="00000500000000000000" pitchFamily="2" charset="0"/>
                      </a:endParaRPr>
                    </a:p>
                  </a:txBody>
                  <a:tcPr marL="91428" marR="91428" marT="45724" marB="45724" anchor="ctr"/>
                </a:tc>
                <a:tc>
                  <a:txBody>
                    <a:bodyPr/>
                    <a:lstStyle/>
                    <a:p>
                      <a:pPr algn="ctr"/>
                      <a:r>
                        <a:rPr lang="pl-PL" sz="1800" dirty="0">
                          <a:solidFill>
                            <a:schemeClr val="tx1"/>
                          </a:solidFill>
                        </a:rPr>
                        <a:t>TALL</a:t>
                      </a:r>
                      <a:endParaRPr lang="pl-PL" sz="1800" dirty="0">
                        <a:solidFill>
                          <a:schemeClr val="tx1"/>
                        </a:solidFill>
                        <a:latin typeface="Tenorite" panose="00000500000000000000" pitchFamily="2" charset="0"/>
                      </a:endParaRPr>
                    </a:p>
                  </a:txBody>
                  <a:tcPr marL="91428" marR="91428" marT="45724" marB="45724" anchor="ctr"/>
                </a:tc>
                <a:extLst>
                  <a:ext uri="{0D108BD9-81ED-4DB2-BD59-A6C34878D82A}">
                    <a16:rowId xmlns:a16="http://schemas.microsoft.com/office/drawing/2014/main" val="10000"/>
                  </a:ext>
                </a:extLst>
              </a:tr>
              <a:tr h="731585">
                <a:tc>
                  <a:txBody>
                    <a:bodyPr/>
                    <a:lstStyle/>
                    <a:p>
                      <a:r>
                        <a:rPr lang="pl-PL" sz="1600" b="1" dirty="0" err="1"/>
                        <a:t>Span</a:t>
                      </a:r>
                      <a:r>
                        <a:rPr lang="pl-PL" sz="1600" b="1" dirty="0"/>
                        <a:t> of </a:t>
                      </a:r>
                      <a:r>
                        <a:rPr lang="pl-PL" sz="1600" b="1" dirty="0" err="1"/>
                        <a:t>control</a:t>
                      </a:r>
                      <a:endParaRPr lang="pl-PL" sz="1600" b="1" dirty="0">
                        <a:latin typeface="Tenorite" panose="00000500000000000000" pitchFamily="2" charset="0"/>
                      </a:endParaRPr>
                    </a:p>
                  </a:txBody>
                  <a:tcPr marL="91428" marR="91428" marT="45724" marB="45724" anchor="ctr"/>
                </a:tc>
                <a:tc>
                  <a:txBody>
                    <a:bodyPr/>
                    <a:lstStyle/>
                    <a:p>
                      <a:pPr algn="just"/>
                      <a:r>
                        <a:rPr lang="en-US" sz="1400" b="1" kern="1200" dirty="0">
                          <a:solidFill>
                            <a:schemeClr val="dk1"/>
                          </a:solidFill>
                          <a:effectLst/>
                        </a:rPr>
                        <a:t>Wide </a:t>
                      </a:r>
                      <a:r>
                        <a:rPr lang="en-US" sz="1400" b="0" kern="1200" dirty="0">
                          <a:solidFill>
                            <a:schemeClr val="dk1"/>
                          </a:solidFill>
                          <a:effectLst/>
                        </a:rPr>
                        <a:t>span of control </a:t>
                      </a:r>
                      <a:r>
                        <a:rPr lang="pl-PL" sz="1400" b="0" kern="1200" dirty="0">
                          <a:solidFill>
                            <a:schemeClr val="dk1"/>
                          </a:solidFill>
                          <a:effectLst/>
                        </a:rPr>
                        <a:t>(e</a:t>
                      </a:r>
                      <a:r>
                        <a:rPr lang="en-US" sz="1400" b="0" kern="1200" dirty="0">
                          <a:solidFill>
                            <a:schemeClr val="dk1"/>
                          </a:solidFill>
                          <a:effectLst/>
                        </a:rPr>
                        <a:t>ach manager has to manage many subordinates</a:t>
                      </a:r>
                      <a:r>
                        <a:rPr lang="pl-PL" sz="1400" b="0" kern="1200" dirty="0">
                          <a:solidFill>
                            <a:schemeClr val="dk1"/>
                          </a:solidFill>
                          <a:effectLst/>
                        </a:rPr>
                        <a:t>)</a:t>
                      </a:r>
                      <a:endParaRPr lang="pl-PL" sz="1400" dirty="0">
                        <a:latin typeface="Tenorite" panose="00000500000000000000" pitchFamily="2" charset="0"/>
                      </a:endParaRPr>
                    </a:p>
                  </a:txBody>
                  <a:tcPr marL="91428" marR="91428" marT="45724" marB="45724"/>
                </a:tc>
                <a:tc>
                  <a:txBody>
                    <a:bodyPr/>
                    <a:lstStyle/>
                    <a:p>
                      <a:r>
                        <a:rPr lang="pl-PL" sz="1400" b="1" dirty="0" err="1"/>
                        <a:t>Narrow</a:t>
                      </a:r>
                      <a:r>
                        <a:rPr lang="pl-PL" sz="1400" b="1" dirty="0"/>
                        <a:t> </a:t>
                      </a:r>
                      <a:r>
                        <a:rPr lang="pl-PL" sz="1400" dirty="0" err="1"/>
                        <a:t>span</a:t>
                      </a:r>
                      <a:r>
                        <a:rPr lang="pl-PL" sz="1400" dirty="0"/>
                        <a:t> of </a:t>
                      </a:r>
                      <a:r>
                        <a:rPr lang="pl-PL" sz="1400" dirty="0" err="1"/>
                        <a:t>control</a:t>
                      </a:r>
                      <a:r>
                        <a:rPr lang="pl-PL" sz="1400" dirty="0"/>
                        <a:t> (</a:t>
                      </a:r>
                      <a:r>
                        <a:rPr lang="pl-PL" sz="1400" b="0" kern="1200" dirty="0">
                          <a:solidFill>
                            <a:schemeClr val="dk1"/>
                          </a:solidFill>
                          <a:effectLst/>
                        </a:rPr>
                        <a:t>e</a:t>
                      </a:r>
                      <a:r>
                        <a:rPr lang="en-US" sz="1400" b="0" kern="1200" dirty="0">
                          <a:solidFill>
                            <a:schemeClr val="dk1"/>
                          </a:solidFill>
                          <a:effectLst/>
                        </a:rPr>
                        <a:t>ach manager has to manage only few subordinates</a:t>
                      </a:r>
                      <a:r>
                        <a:rPr lang="pl-PL" sz="1400" b="0" kern="1200" dirty="0">
                          <a:solidFill>
                            <a:schemeClr val="dk1"/>
                          </a:solidFill>
                          <a:effectLst/>
                        </a:rPr>
                        <a:t>)</a:t>
                      </a:r>
                      <a:endParaRPr lang="pl-PL" sz="1400" dirty="0">
                        <a:latin typeface="Tenorite" panose="00000500000000000000" pitchFamily="2" charset="0"/>
                      </a:endParaRPr>
                    </a:p>
                  </a:txBody>
                  <a:tcPr marL="91428" marR="91428" marT="45724" marB="45724"/>
                </a:tc>
                <a:extLst>
                  <a:ext uri="{0D108BD9-81ED-4DB2-BD59-A6C34878D82A}">
                    <a16:rowId xmlns:a16="http://schemas.microsoft.com/office/drawing/2014/main" val="10001"/>
                  </a:ext>
                </a:extLst>
              </a:tr>
              <a:tr h="579171">
                <a:tc>
                  <a:txBody>
                    <a:bodyPr/>
                    <a:lstStyle/>
                    <a:p>
                      <a:r>
                        <a:rPr lang="pl-PL" sz="1600" b="1" dirty="0"/>
                        <a:t>Control of </a:t>
                      </a:r>
                      <a:r>
                        <a:rPr lang="pl-PL" sz="1600" b="1" dirty="0" err="1"/>
                        <a:t>subordinates</a:t>
                      </a:r>
                      <a:endParaRPr lang="pl-PL" sz="1600" b="1" dirty="0">
                        <a:latin typeface="Tenorite" panose="00000500000000000000" pitchFamily="2" charset="0"/>
                      </a:endParaRPr>
                    </a:p>
                  </a:txBody>
                  <a:tcPr marL="91428" marR="91428" marT="45724" marB="45724" anchor="ctr"/>
                </a:tc>
                <a:tc>
                  <a:txBody>
                    <a:bodyPr/>
                    <a:lstStyle/>
                    <a:p>
                      <a:r>
                        <a:rPr lang="pl-PL" sz="1400" dirty="0" err="1"/>
                        <a:t>Loose</a:t>
                      </a:r>
                      <a:r>
                        <a:rPr lang="pl-PL" sz="1400" dirty="0"/>
                        <a:t> </a:t>
                      </a:r>
                      <a:r>
                        <a:rPr lang="pl-PL" sz="1400" dirty="0" err="1"/>
                        <a:t>control</a:t>
                      </a:r>
                      <a:endParaRPr lang="pl-PL" sz="1400" dirty="0">
                        <a:latin typeface="Tenorite" panose="00000500000000000000" pitchFamily="2" charset="0"/>
                      </a:endParaRPr>
                    </a:p>
                  </a:txBody>
                  <a:tcPr marL="91428" marR="91428" marT="45724" marB="45724" anchor="ctr"/>
                </a:tc>
                <a:tc>
                  <a:txBody>
                    <a:bodyPr/>
                    <a:lstStyle/>
                    <a:p>
                      <a:r>
                        <a:rPr lang="pl-PL" sz="1400" dirty="0"/>
                        <a:t>Close </a:t>
                      </a:r>
                      <a:r>
                        <a:rPr lang="pl-PL" sz="1400" dirty="0" err="1"/>
                        <a:t>control</a:t>
                      </a:r>
                      <a:endParaRPr lang="pl-PL" sz="1400" dirty="0">
                        <a:latin typeface="Tenorite" panose="00000500000000000000" pitchFamily="2" charset="0"/>
                      </a:endParaRPr>
                    </a:p>
                  </a:txBody>
                  <a:tcPr marL="91428" marR="91428" marT="45724" marB="45724" anchor="ctr"/>
                </a:tc>
                <a:extLst>
                  <a:ext uri="{0D108BD9-81ED-4DB2-BD59-A6C34878D82A}">
                    <a16:rowId xmlns:a16="http://schemas.microsoft.com/office/drawing/2014/main" val="10002"/>
                  </a:ext>
                </a:extLst>
              </a:tr>
              <a:tr h="522104">
                <a:tc>
                  <a:txBody>
                    <a:bodyPr/>
                    <a:lstStyle/>
                    <a:p>
                      <a:r>
                        <a:rPr lang="pl-PL" sz="1600" b="1" dirty="0" err="1"/>
                        <a:t>Cost</a:t>
                      </a:r>
                      <a:endParaRPr lang="pl-PL" sz="1600" b="1" dirty="0">
                        <a:latin typeface="Tenorite" panose="00000500000000000000" pitchFamily="2" charset="0"/>
                      </a:endParaRPr>
                    </a:p>
                  </a:txBody>
                  <a:tcPr marL="91428" marR="91428" marT="45724" marB="45724"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dk1"/>
                          </a:solidFill>
                          <a:effectLst/>
                        </a:rPr>
                        <a:t>Less costly because it has less managers</a:t>
                      </a:r>
                      <a:endParaRPr lang="pl-PL" sz="1400" dirty="0">
                        <a:latin typeface="Tenorite" panose="00000500000000000000" pitchFamily="2" charset="0"/>
                      </a:endParaRPr>
                    </a:p>
                  </a:txBody>
                  <a:tcPr marL="91428" marR="91428" marT="45724" marB="45724" anchor="ctr"/>
                </a:tc>
                <a:tc>
                  <a:txBody>
                    <a:bodyPr/>
                    <a:lstStyle/>
                    <a:p>
                      <a:r>
                        <a:rPr lang="en-US" sz="1400" b="0" kern="1200" dirty="0">
                          <a:solidFill>
                            <a:schemeClr val="dk1"/>
                          </a:solidFill>
                          <a:effectLst/>
                        </a:rPr>
                        <a:t>Costly because it has many managers</a:t>
                      </a:r>
                      <a:endParaRPr lang="pl-PL" sz="1400" dirty="0">
                        <a:latin typeface="Tenorite" panose="00000500000000000000" pitchFamily="2" charset="0"/>
                      </a:endParaRPr>
                    </a:p>
                  </a:txBody>
                  <a:tcPr marL="91428" marR="91428" marT="45724" marB="45724" anchor="ctr"/>
                </a:tc>
                <a:extLst>
                  <a:ext uri="{0D108BD9-81ED-4DB2-BD59-A6C34878D82A}">
                    <a16:rowId xmlns:a16="http://schemas.microsoft.com/office/drawing/2014/main" val="10003"/>
                  </a:ext>
                </a:extLst>
              </a:tr>
              <a:tr h="731585">
                <a:tc>
                  <a:txBody>
                    <a:bodyPr/>
                    <a:lstStyle/>
                    <a:p>
                      <a:r>
                        <a:rPr lang="pl-PL" sz="1600" b="1" dirty="0" err="1"/>
                        <a:t>Communication</a:t>
                      </a:r>
                      <a:endParaRPr lang="pl-PL" sz="1600" b="1" dirty="0">
                        <a:latin typeface="Tenorite" panose="00000500000000000000" pitchFamily="2" charset="0"/>
                      </a:endParaRPr>
                    </a:p>
                  </a:txBody>
                  <a:tcPr marL="91428" marR="91428" marT="45724" marB="45724" anchor="ctr"/>
                </a:tc>
                <a:tc>
                  <a:txBody>
                    <a:bodyPr/>
                    <a:lstStyle/>
                    <a:p>
                      <a:pPr algn="just"/>
                      <a:r>
                        <a:rPr lang="pl-PL" sz="1400" b="0" kern="1200" dirty="0" err="1">
                          <a:solidFill>
                            <a:schemeClr val="dk1"/>
                          </a:solidFill>
                          <a:effectLst/>
                        </a:rPr>
                        <a:t>Communication</a:t>
                      </a:r>
                      <a:r>
                        <a:rPr lang="pl-PL" sz="1400" b="0" kern="1200" dirty="0">
                          <a:solidFill>
                            <a:schemeClr val="dk1"/>
                          </a:solidFill>
                          <a:effectLst/>
                        </a:rPr>
                        <a:t> w</a:t>
                      </a:r>
                      <a:r>
                        <a:rPr lang="en-US" sz="1400" b="0" kern="1200" dirty="0">
                          <a:solidFill>
                            <a:schemeClr val="dk1"/>
                          </a:solidFill>
                          <a:effectLst/>
                        </a:rPr>
                        <a:t>ill not be distorted and delayed because there are few l</a:t>
                      </a:r>
                      <a:r>
                        <a:rPr lang="pl-PL" sz="1400" b="0" kern="1200" dirty="0">
                          <a:solidFill>
                            <a:schemeClr val="dk1"/>
                          </a:solidFill>
                          <a:effectLst/>
                        </a:rPr>
                        <a:t>ayer</a:t>
                      </a:r>
                      <a:r>
                        <a:rPr lang="en-US" sz="1400" b="0" kern="1200" dirty="0">
                          <a:solidFill>
                            <a:schemeClr val="dk1"/>
                          </a:solidFill>
                          <a:effectLst/>
                        </a:rPr>
                        <a:t>s of management</a:t>
                      </a:r>
                      <a:endParaRPr lang="pl-PL" sz="1400" dirty="0">
                        <a:latin typeface="Tenorite" panose="00000500000000000000" pitchFamily="2" charset="0"/>
                      </a:endParaRPr>
                    </a:p>
                  </a:txBody>
                  <a:tcPr marL="91428" marR="91428" marT="45724" marB="45724" anchor="ctr"/>
                </a:tc>
                <a:tc>
                  <a:txBody>
                    <a:bodyPr/>
                    <a:lstStyle/>
                    <a:p>
                      <a:pPr algn="just"/>
                      <a:r>
                        <a:rPr lang="pl-PL" sz="1400" b="0" kern="1200" dirty="0" err="1">
                          <a:solidFill>
                            <a:schemeClr val="dk1"/>
                          </a:solidFill>
                          <a:effectLst/>
                        </a:rPr>
                        <a:t>Communication</a:t>
                      </a:r>
                      <a:r>
                        <a:rPr lang="pl-PL" sz="1400" b="0" kern="1200" dirty="0">
                          <a:solidFill>
                            <a:schemeClr val="dk1"/>
                          </a:solidFill>
                          <a:effectLst/>
                        </a:rPr>
                        <a:t> m</a:t>
                      </a:r>
                      <a:r>
                        <a:rPr lang="en-US" sz="1400" b="0" kern="1200" dirty="0">
                          <a:solidFill>
                            <a:schemeClr val="dk1"/>
                          </a:solidFill>
                          <a:effectLst/>
                        </a:rPr>
                        <a:t>ay be distorted and delayed because there are many l</a:t>
                      </a:r>
                      <a:r>
                        <a:rPr lang="pl-PL" sz="1400" b="0" kern="1200" dirty="0">
                          <a:solidFill>
                            <a:schemeClr val="dk1"/>
                          </a:solidFill>
                          <a:effectLst/>
                        </a:rPr>
                        <a:t>ayers</a:t>
                      </a:r>
                      <a:r>
                        <a:rPr lang="en-US" sz="1400" b="0" kern="1200" dirty="0">
                          <a:solidFill>
                            <a:schemeClr val="dk1"/>
                          </a:solidFill>
                          <a:effectLst/>
                        </a:rPr>
                        <a:t> of management</a:t>
                      </a:r>
                      <a:endParaRPr lang="pl-PL" sz="1400" dirty="0">
                        <a:latin typeface="Tenorite" panose="00000500000000000000" pitchFamily="2" charset="0"/>
                      </a:endParaRPr>
                    </a:p>
                  </a:txBody>
                  <a:tcPr marL="91428" marR="91428" marT="45724" marB="45724" anchor="ctr"/>
                </a:tc>
                <a:extLst>
                  <a:ext uri="{0D108BD9-81ED-4DB2-BD59-A6C34878D82A}">
                    <a16:rowId xmlns:a16="http://schemas.microsoft.com/office/drawing/2014/main" val="10004"/>
                  </a:ext>
                </a:extLst>
              </a:tr>
              <a:tr h="522104">
                <a:tc>
                  <a:txBody>
                    <a:bodyPr/>
                    <a:lstStyle/>
                    <a:p>
                      <a:r>
                        <a:rPr lang="pl-PL" sz="1600" b="1" dirty="0" err="1"/>
                        <a:t>Decision</a:t>
                      </a:r>
                      <a:r>
                        <a:rPr lang="pl-PL" sz="1600" b="1" dirty="0"/>
                        <a:t> </a:t>
                      </a:r>
                      <a:r>
                        <a:rPr lang="pl-PL" sz="1600" b="1" dirty="0" err="1"/>
                        <a:t>making</a:t>
                      </a:r>
                      <a:endParaRPr lang="pl-PL" sz="1600" b="1" dirty="0">
                        <a:latin typeface="Tenorite" panose="00000500000000000000" pitchFamily="2" charset="0"/>
                      </a:endParaRPr>
                    </a:p>
                  </a:txBody>
                  <a:tcPr marL="91428" marR="91428" marT="45724" marB="45724" anchor="ctr"/>
                </a:tc>
                <a:tc>
                  <a:txBody>
                    <a:bodyPr/>
                    <a:lstStyle/>
                    <a:p>
                      <a:pPr algn="just"/>
                      <a:r>
                        <a:rPr lang="en-US" sz="1400" b="0" kern="1200" dirty="0">
                          <a:solidFill>
                            <a:schemeClr val="dk1"/>
                          </a:solidFill>
                          <a:effectLst/>
                        </a:rPr>
                        <a:t>Decision making is quick because there are few levels of management</a:t>
                      </a:r>
                      <a:endParaRPr lang="pl-PL" sz="1400" dirty="0">
                        <a:latin typeface="Tenorite" panose="00000500000000000000" pitchFamily="2" charset="0"/>
                      </a:endParaRPr>
                    </a:p>
                  </a:txBody>
                  <a:tcPr marL="91428" marR="91428" marT="45724" marB="45724" anchor="ctr"/>
                </a:tc>
                <a:tc>
                  <a:txBody>
                    <a:bodyPr/>
                    <a:lstStyle/>
                    <a:p>
                      <a:pPr algn="just"/>
                      <a:r>
                        <a:rPr lang="pl-PL" sz="1400" dirty="0"/>
                        <a:t>Extra </a:t>
                      </a:r>
                      <a:r>
                        <a:rPr lang="pl-PL" sz="1400" dirty="0" err="1"/>
                        <a:t>levels</a:t>
                      </a:r>
                      <a:r>
                        <a:rPr lang="pl-PL" sz="1400" dirty="0"/>
                        <a:t> of management </a:t>
                      </a:r>
                      <a:r>
                        <a:rPr lang="pl-PL" sz="1400" dirty="0" err="1"/>
                        <a:t>slow</a:t>
                      </a:r>
                      <a:r>
                        <a:rPr lang="pl-PL" sz="1400" dirty="0"/>
                        <a:t> down </a:t>
                      </a:r>
                      <a:r>
                        <a:rPr lang="pl-PL" sz="1400" dirty="0" err="1"/>
                        <a:t>decision</a:t>
                      </a:r>
                      <a:r>
                        <a:rPr lang="pl-PL" sz="1400" dirty="0"/>
                        <a:t> </a:t>
                      </a:r>
                      <a:r>
                        <a:rPr lang="pl-PL" sz="1400" dirty="0" err="1"/>
                        <a:t>making</a:t>
                      </a:r>
                      <a:endParaRPr lang="pl-PL" sz="1400" dirty="0">
                        <a:latin typeface="Tenorite" panose="00000500000000000000" pitchFamily="2" charset="0"/>
                      </a:endParaRPr>
                    </a:p>
                  </a:txBody>
                  <a:tcPr marL="91428" marR="91428" marT="45724" marB="45724" anchor="ctr"/>
                </a:tc>
                <a:extLst>
                  <a:ext uri="{0D108BD9-81ED-4DB2-BD59-A6C34878D82A}">
                    <a16:rowId xmlns:a16="http://schemas.microsoft.com/office/drawing/2014/main" val="10005"/>
                  </a:ext>
                </a:extLst>
              </a:tr>
              <a:tr h="579171">
                <a:tc>
                  <a:txBody>
                    <a:bodyPr/>
                    <a:lstStyle/>
                    <a:p>
                      <a:r>
                        <a:rPr lang="pl-PL" sz="1600" b="1" dirty="0" err="1"/>
                        <a:t>Promotional</a:t>
                      </a:r>
                      <a:r>
                        <a:rPr lang="pl-PL" sz="1600" b="1" dirty="0"/>
                        <a:t> </a:t>
                      </a:r>
                      <a:r>
                        <a:rPr lang="pl-PL" sz="1600" b="1" dirty="0" err="1"/>
                        <a:t>opportunities</a:t>
                      </a:r>
                      <a:endParaRPr lang="pl-PL" sz="1600" b="1" dirty="0">
                        <a:latin typeface="Tenorite" panose="00000500000000000000" pitchFamily="2" charset="0"/>
                      </a:endParaRPr>
                    </a:p>
                  </a:txBody>
                  <a:tcPr marL="91428" marR="91428" marT="45724" marB="45724" anchor="ctr"/>
                </a:tc>
                <a:tc>
                  <a:txBody>
                    <a:bodyPr/>
                    <a:lstStyle/>
                    <a:p>
                      <a:r>
                        <a:rPr lang="pl-PL" sz="1400" dirty="0" err="1"/>
                        <a:t>Fewer</a:t>
                      </a:r>
                      <a:r>
                        <a:rPr lang="pl-PL" sz="1400" dirty="0"/>
                        <a:t> </a:t>
                      </a:r>
                      <a:r>
                        <a:rPr lang="pl-PL" sz="1400" dirty="0" err="1"/>
                        <a:t>promotions</a:t>
                      </a:r>
                      <a:endParaRPr lang="pl-PL" sz="1400" dirty="0">
                        <a:latin typeface="Tenorite" panose="00000500000000000000" pitchFamily="2" charset="0"/>
                      </a:endParaRPr>
                    </a:p>
                  </a:txBody>
                  <a:tcPr marL="91428" marR="91428" marT="45724" marB="45724" anchor="ctr"/>
                </a:tc>
                <a:tc>
                  <a:txBody>
                    <a:bodyPr/>
                    <a:lstStyle/>
                    <a:p>
                      <a:r>
                        <a:rPr lang="pl-PL" sz="1400" dirty="0" err="1"/>
                        <a:t>More</a:t>
                      </a:r>
                      <a:r>
                        <a:rPr lang="pl-PL" sz="1400" dirty="0"/>
                        <a:t> </a:t>
                      </a:r>
                      <a:r>
                        <a:rPr lang="pl-PL" sz="1400" dirty="0" err="1"/>
                        <a:t>promotional</a:t>
                      </a:r>
                      <a:r>
                        <a:rPr lang="pl-PL" sz="1400" dirty="0"/>
                        <a:t> </a:t>
                      </a:r>
                      <a:r>
                        <a:rPr lang="pl-PL" sz="1400" dirty="0" err="1"/>
                        <a:t>opportunities</a:t>
                      </a:r>
                      <a:endParaRPr lang="pl-PL" sz="1400" dirty="0">
                        <a:latin typeface="Tenorite" panose="00000500000000000000" pitchFamily="2" charset="0"/>
                      </a:endParaRPr>
                    </a:p>
                  </a:txBody>
                  <a:tcPr marL="91428" marR="91428" marT="45724" marB="45724"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69420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210150" y="2651443"/>
            <a:ext cx="8153050" cy="3705725"/>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1900" dirty="0">
                <a:solidFill>
                  <a:srgbClr val="663300"/>
                </a:solidFill>
                <a:latin typeface="Tenorite" panose="00000500000000000000" pitchFamily="2" charset="0"/>
              </a:rPr>
              <a:t>Darren is the manager of a branch of well known tool hire firm</a:t>
            </a:r>
          </a:p>
          <a:p>
            <a:pPr marL="457200" indent="-457200" algn="just" rtl="0">
              <a:lnSpc>
                <a:spcPct val="100000"/>
              </a:lnSpc>
              <a:spcBef>
                <a:spcPts val="400"/>
              </a:spcBef>
              <a:buClr>
                <a:srgbClr val="663300"/>
              </a:buClr>
              <a:buFont typeface="Arial" panose="020B0604020202020204" pitchFamily="34" charset="0"/>
              <a:buChar char="•"/>
            </a:pPr>
            <a:r>
              <a:rPr lang="en-US" sz="1900" dirty="0">
                <a:solidFill>
                  <a:srgbClr val="663300"/>
                </a:solidFill>
                <a:latin typeface="Tenorite" panose="00000500000000000000" pitchFamily="2" charset="0"/>
              </a:rPr>
              <a:t>Anna is the assistant manager and she reports to Darren</a:t>
            </a:r>
          </a:p>
          <a:p>
            <a:pPr marL="457200" indent="-457200" algn="just" rtl="0">
              <a:lnSpc>
                <a:spcPct val="100000"/>
              </a:lnSpc>
              <a:spcBef>
                <a:spcPts val="400"/>
              </a:spcBef>
              <a:buClr>
                <a:srgbClr val="663300"/>
              </a:buClr>
              <a:buFont typeface="Arial" panose="020B0604020202020204" pitchFamily="34" charset="0"/>
              <a:buChar char="•"/>
            </a:pPr>
            <a:r>
              <a:rPr lang="en-US" sz="1900" dirty="0">
                <a:solidFill>
                  <a:srgbClr val="663300"/>
                </a:solidFill>
                <a:latin typeface="Tenorite" panose="00000500000000000000" pitchFamily="2" charset="0"/>
              </a:rPr>
              <a:t>Anna delegates to the department managers – Jane, Tom and Omar</a:t>
            </a:r>
          </a:p>
          <a:p>
            <a:pPr marL="457200" indent="-457200" algn="just" rtl="0">
              <a:lnSpc>
                <a:spcPct val="100000"/>
              </a:lnSpc>
              <a:spcBef>
                <a:spcPts val="400"/>
              </a:spcBef>
              <a:buClr>
                <a:srgbClr val="663300"/>
              </a:buClr>
              <a:buFont typeface="Arial" panose="020B0604020202020204" pitchFamily="34" charset="0"/>
              <a:buChar char="•"/>
            </a:pPr>
            <a:r>
              <a:rPr lang="en-US" sz="1900" dirty="0">
                <a:solidFill>
                  <a:srgbClr val="663300"/>
                </a:solidFill>
                <a:latin typeface="Tenorite" panose="00000500000000000000" pitchFamily="2" charset="0"/>
              </a:rPr>
              <a:t>Felicity, Matt and Ryan all report to Jane</a:t>
            </a:r>
          </a:p>
          <a:p>
            <a:pPr marL="457200" indent="-457200" algn="just" rtl="0">
              <a:lnSpc>
                <a:spcPct val="100000"/>
              </a:lnSpc>
              <a:spcBef>
                <a:spcPts val="400"/>
              </a:spcBef>
              <a:buClr>
                <a:srgbClr val="663300"/>
              </a:buClr>
              <a:buFont typeface="Arial" panose="020B0604020202020204" pitchFamily="34" charset="0"/>
              <a:buChar char="•"/>
            </a:pPr>
            <a:r>
              <a:rPr lang="en-US" sz="1900" dirty="0">
                <a:solidFill>
                  <a:srgbClr val="663300"/>
                </a:solidFill>
                <a:latin typeface="Tenorite" panose="00000500000000000000" pitchFamily="2" charset="0"/>
              </a:rPr>
              <a:t>Rachel, Sally and Pete are accountable to Tom</a:t>
            </a:r>
          </a:p>
          <a:p>
            <a:pPr marL="457200" indent="-457200" algn="just" rtl="0">
              <a:lnSpc>
                <a:spcPct val="100000"/>
              </a:lnSpc>
              <a:spcBef>
                <a:spcPts val="400"/>
              </a:spcBef>
              <a:spcAft>
                <a:spcPts val="600"/>
              </a:spcAft>
              <a:buClr>
                <a:srgbClr val="663300"/>
              </a:buClr>
              <a:buFont typeface="Arial" panose="020B0604020202020204" pitchFamily="34" charset="0"/>
              <a:buChar char="•"/>
            </a:pPr>
            <a:r>
              <a:rPr lang="en-US" sz="1900" dirty="0">
                <a:solidFill>
                  <a:srgbClr val="663300"/>
                </a:solidFill>
                <a:latin typeface="Tenorite" panose="00000500000000000000" pitchFamily="2" charset="0"/>
              </a:rPr>
              <a:t>Omar is responsible for John, Mark, Sam and James</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Draw the organization chart for the tool hire firm</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Who has the largest span of control and how big is it?</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How many layers are in this hierarchy?</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Who does Tom delegate to?</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Would you consider this to be a tall or flat structure?</a:t>
            </a:r>
          </a:p>
          <a:p>
            <a:pPr marL="1177200" lvl="2" indent="-457200" algn="just">
              <a:lnSpc>
                <a:spcPct val="100000"/>
              </a:lnSpc>
              <a:spcBef>
                <a:spcPts val="0"/>
              </a:spcBef>
              <a:buClr>
                <a:srgbClr val="663300"/>
              </a:buClr>
              <a:buFont typeface="Wingdings" panose="05000000000000000000" pitchFamily="2" charset="2"/>
              <a:buChar char="§"/>
            </a:pPr>
            <a:r>
              <a:rPr lang="en-US" sz="1600" dirty="0">
                <a:solidFill>
                  <a:srgbClr val="663300"/>
                </a:solidFill>
                <a:latin typeface="Tenorite" panose="00000500000000000000" pitchFamily="2" charset="0"/>
              </a:rPr>
              <a:t>Why?</a:t>
            </a:r>
          </a:p>
        </p:txBody>
      </p:sp>
    </p:spTree>
    <p:extLst>
      <p:ext uri="{BB962C8B-B14F-4D97-AF65-F5344CB8AC3E}">
        <p14:creationId xmlns:p14="http://schemas.microsoft.com/office/powerpoint/2010/main" val="3052366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5" y="97655"/>
            <a:ext cx="5761168"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2</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pic>
        <p:nvPicPr>
          <p:cNvPr id="7" name="Obraz 6">
            <a:extLst>
              <a:ext uri="{FF2B5EF4-FFF2-40B4-BE49-F238E27FC236}">
                <a16:creationId xmlns:a16="http://schemas.microsoft.com/office/drawing/2014/main" id="{1F3B5C19-3FDC-A64B-53E9-4AD895D99B0C}"/>
              </a:ext>
            </a:extLst>
          </p:cNvPr>
          <p:cNvPicPr>
            <a:picLocks noChangeAspect="1"/>
          </p:cNvPicPr>
          <p:nvPr/>
        </p:nvPicPr>
        <p:blipFill>
          <a:blip r:embed="rId3"/>
          <a:stretch>
            <a:fillRect/>
          </a:stretch>
        </p:blipFill>
        <p:spPr>
          <a:xfrm>
            <a:off x="2335612" y="1759391"/>
            <a:ext cx="7520774" cy="4388612"/>
          </a:xfrm>
          <a:prstGeom prst="rect">
            <a:avLst/>
          </a:prstGeom>
        </p:spPr>
      </p:pic>
    </p:spTree>
    <p:extLst>
      <p:ext uri="{BB962C8B-B14F-4D97-AF65-F5344CB8AC3E}">
        <p14:creationId xmlns:p14="http://schemas.microsoft.com/office/powerpoint/2010/main" val="722196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structure</a:t>
            </a:r>
            <a:r>
              <a:rPr lang="pl-PL" sz="5000" dirty="0">
                <a:latin typeface="Tenorite" panose="00000500000000000000" pitchFamily="2" charset="0"/>
              </a:rPr>
              <a:t> - </a:t>
            </a:r>
            <a:r>
              <a:rPr lang="pl-PL" sz="5000" dirty="0" err="1">
                <a:latin typeface="Tenorite" panose="00000500000000000000" pitchFamily="2" charset="0"/>
              </a:rPr>
              <a:t>types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316254" y="2811865"/>
            <a:ext cx="7559492" cy="3027462"/>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300" b="1" dirty="0">
                <a:solidFill>
                  <a:srgbClr val="663300"/>
                </a:solidFill>
                <a:latin typeface="Tenorite" panose="00000500000000000000" pitchFamily="2" charset="0"/>
              </a:rPr>
              <a:t>Departmentation</a:t>
            </a:r>
          </a:p>
          <a:p>
            <a:pPr marL="1177200" lvl="2" indent="-457200" algn="just">
              <a:lnSpc>
                <a:spcPct val="100000"/>
              </a:lnSpc>
              <a:spcBef>
                <a:spcPts val="400"/>
              </a:spcBef>
              <a:buClr>
                <a:srgbClr val="663300"/>
              </a:buClr>
              <a:buFont typeface="Wingdings" panose="05000000000000000000" pitchFamily="2" charset="2"/>
              <a:buChar char="§"/>
            </a:pPr>
            <a:r>
              <a:rPr lang="en-US" sz="2100" dirty="0">
                <a:solidFill>
                  <a:srgbClr val="663300"/>
                </a:solidFill>
                <a:latin typeface="Tenorite" panose="00000500000000000000" pitchFamily="2" charset="0"/>
              </a:rPr>
              <a:t>Functional structure</a:t>
            </a:r>
          </a:p>
          <a:p>
            <a:pPr marL="1177200" lvl="2" indent="-457200" algn="just">
              <a:lnSpc>
                <a:spcPct val="100000"/>
              </a:lnSpc>
              <a:spcBef>
                <a:spcPts val="400"/>
              </a:spcBef>
              <a:buClr>
                <a:srgbClr val="663300"/>
              </a:buClr>
              <a:buFont typeface="Wingdings" panose="05000000000000000000" pitchFamily="2" charset="2"/>
              <a:buChar char="§"/>
            </a:pPr>
            <a:r>
              <a:rPr lang="en-US" sz="2100" dirty="0">
                <a:solidFill>
                  <a:srgbClr val="663300"/>
                </a:solidFill>
                <a:latin typeface="Tenorite" panose="00000500000000000000" pitchFamily="2" charset="0"/>
              </a:rPr>
              <a:t>Divisional structure</a:t>
            </a:r>
          </a:p>
          <a:p>
            <a:pPr marL="1177200" lvl="2" indent="-457200" algn="just">
              <a:lnSpc>
                <a:spcPct val="100000"/>
              </a:lnSpc>
              <a:spcBef>
                <a:spcPts val="400"/>
              </a:spcBef>
              <a:buClr>
                <a:srgbClr val="663300"/>
              </a:buClr>
              <a:buFont typeface="Wingdings" panose="05000000000000000000" pitchFamily="2" charset="2"/>
              <a:buChar char="§"/>
            </a:pPr>
            <a:r>
              <a:rPr lang="en-US" sz="2100" dirty="0">
                <a:solidFill>
                  <a:srgbClr val="663300"/>
                </a:solidFill>
                <a:latin typeface="Tenorite" panose="00000500000000000000" pitchFamily="2" charset="0"/>
              </a:rPr>
              <a:t>Process-oriented structure</a:t>
            </a:r>
          </a:p>
          <a:p>
            <a:pPr marL="457200" indent="-457200" algn="just" rtl="0">
              <a:lnSpc>
                <a:spcPct val="100000"/>
              </a:lnSpc>
              <a:spcBef>
                <a:spcPts val="400"/>
              </a:spcBef>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r>
              <a:rPr lang="en-US" sz="2300" b="1" dirty="0">
                <a:solidFill>
                  <a:srgbClr val="663300"/>
                </a:solidFill>
                <a:latin typeface="Tenorite" panose="00000500000000000000" pitchFamily="2" charset="0"/>
              </a:rPr>
              <a:t>Departmentation</a:t>
            </a:r>
            <a:r>
              <a:rPr lang="en-US" sz="2300" dirty="0">
                <a:solidFill>
                  <a:srgbClr val="663300"/>
                </a:solidFill>
                <a:latin typeface="Tenorite" panose="00000500000000000000" pitchFamily="2" charset="0"/>
              </a:rPr>
              <a:t> – refers to the grouping</a:t>
            </a:r>
            <a:r>
              <a:rPr lang="pl-PL" sz="2300" dirty="0">
                <a:solidFill>
                  <a:srgbClr val="663300"/>
                </a:solidFill>
                <a:latin typeface="Tenorite" panose="00000500000000000000" pitchFamily="2" charset="0"/>
              </a:rPr>
              <a:t> </a:t>
            </a:r>
            <a:r>
              <a:rPr lang="en-US" sz="2300" dirty="0">
                <a:solidFill>
                  <a:srgbClr val="663300"/>
                </a:solidFill>
                <a:latin typeface="Tenorite" panose="00000500000000000000" pitchFamily="2" charset="0"/>
              </a:rPr>
              <a:t>of activities in organizational subunits</a:t>
            </a:r>
          </a:p>
        </p:txBody>
      </p:sp>
    </p:spTree>
    <p:extLst>
      <p:ext uri="{BB962C8B-B14F-4D97-AF65-F5344CB8AC3E}">
        <p14:creationId xmlns:p14="http://schemas.microsoft.com/office/powerpoint/2010/main" val="3692306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a:bodyPr>
          <a:lstStyle/>
          <a:p>
            <a:pPr rtl="0"/>
            <a:r>
              <a:rPr lang="pl-PL" sz="5000" dirty="0" err="1">
                <a:latin typeface="Tenorite" panose="00000500000000000000" pitchFamily="2" charset="0"/>
              </a:rPr>
              <a:t>Functional</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320826" y="2603955"/>
            <a:ext cx="7559492" cy="995768"/>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1900" b="1" dirty="0">
                <a:solidFill>
                  <a:srgbClr val="663300"/>
                </a:solidFill>
                <a:latin typeface="Tenorite" panose="00000500000000000000" pitchFamily="2" charset="0"/>
              </a:rPr>
              <a:t>Functional structure </a:t>
            </a:r>
            <a:r>
              <a:rPr lang="en-US" sz="1900" dirty="0">
                <a:solidFill>
                  <a:srgbClr val="663300"/>
                </a:solidFill>
                <a:latin typeface="Tenorite" panose="00000500000000000000" pitchFamily="2" charset="0"/>
              </a:rPr>
              <a:t>– occurs when individuals and groups are located together based on the function their tasks have within the organization. </a:t>
            </a:r>
          </a:p>
        </p:txBody>
      </p:sp>
      <p:sp>
        <p:nvSpPr>
          <p:cNvPr id="7" name="Prostokąt 6">
            <a:extLst>
              <a:ext uri="{FF2B5EF4-FFF2-40B4-BE49-F238E27FC236}">
                <a16:creationId xmlns:a16="http://schemas.microsoft.com/office/drawing/2014/main" id="{E91AB715-F03C-611C-5F18-6B6C6AE96702}"/>
              </a:ext>
            </a:extLst>
          </p:cNvPr>
          <p:cNvSpPr/>
          <p:nvPr/>
        </p:nvSpPr>
        <p:spPr bwMode="auto">
          <a:xfrm>
            <a:off x="5668864" y="3429000"/>
            <a:ext cx="1728787" cy="652367"/>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lstStyle/>
          <a:p>
            <a:pPr algn="ctr" eaLnBrk="1" hangingPunct="1">
              <a:defRPr/>
            </a:pPr>
            <a:r>
              <a:rPr lang="pl-PL" b="1" u="none" dirty="0">
                <a:solidFill>
                  <a:schemeClr val="bg1"/>
                </a:solidFill>
                <a:latin typeface="Tenorite" panose="00000500000000000000" pitchFamily="2" charset="0"/>
                <a:cs typeface="Arial" charset="0"/>
              </a:rPr>
              <a:t>Board of </a:t>
            </a:r>
            <a:r>
              <a:rPr lang="pl-PL" b="1" u="none" dirty="0" err="1">
                <a:solidFill>
                  <a:schemeClr val="bg1"/>
                </a:solidFill>
                <a:latin typeface="Tenorite" panose="00000500000000000000" pitchFamily="2" charset="0"/>
                <a:cs typeface="Arial" charset="0"/>
              </a:rPr>
              <a:t>directors</a:t>
            </a:r>
            <a:endParaRPr lang="pl-PL" b="1" u="none" dirty="0">
              <a:solidFill>
                <a:schemeClr val="bg1"/>
              </a:solidFill>
              <a:latin typeface="Tenorite" panose="00000500000000000000" pitchFamily="2" charset="0"/>
              <a:cs typeface="Arial" charset="0"/>
            </a:endParaRPr>
          </a:p>
        </p:txBody>
      </p:sp>
      <p:sp>
        <p:nvSpPr>
          <p:cNvPr id="8" name="Prostokąt 7">
            <a:extLst>
              <a:ext uri="{FF2B5EF4-FFF2-40B4-BE49-F238E27FC236}">
                <a16:creationId xmlns:a16="http://schemas.microsoft.com/office/drawing/2014/main" id="{44149821-A4CE-74DE-B551-A5CFA489FB2A}"/>
              </a:ext>
            </a:extLst>
          </p:cNvPr>
          <p:cNvSpPr/>
          <p:nvPr/>
        </p:nvSpPr>
        <p:spPr bwMode="auto">
          <a:xfrm>
            <a:off x="5668864" y="4264150"/>
            <a:ext cx="1728787" cy="503238"/>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latin typeface="Tenorite" panose="00000500000000000000" pitchFamily="2" charset="0"/>
                <a:cs typeface="Arial" charset="0"/>
              </a:rPr>
              <a:t>Chief </a:t>
            </a:r>
            <a:r>
              <a:rPr lang="pl-PL" b="1" u="none" dirty="0" err="1">
                <a:solidFill>
                  <a:schemeClr val="bg1"/>
                </a:solidFill>
                <a:latin typeface="Tenorite" panose="00000500000000000000" pitchFamily="2" charset="0"/>
                <a:cs typeface="Arial" charset="0"/>
              </a:rPr>
              <a:t>executive</a:t>
            </a:r>
            <a:endParaRPr lang="pl-PL" b="1" u="none" dirty="0">
              <a:solidFill>
                <a:schemeClr val="bg1"/>
              </a:solidFill>
              <a:latin typeface="Tenorite" panose="00000500000000000000" pitchFamily="2" charset="0"/>
              <a:cs typeface="Arial" charset="0"/>
            </a:endParaRPr>
          </a:p>
        </p:txBody>
      </p:sp>
      <p:sp>
        <p:nvSpPr>
          <p:cNvPr id="9" name="Prostokąt 8">
            <a:extLst>
              <a:ext uri="{FF2B5EF4-FFF2-40B4-BE49-F238E27FC236}">
                <a16:creationId xmlns:a16="http://schemas.microsoft.com/office/drawing/2014/main" id="{8D3BB94D-AB7F-BC75-9E9E-A3351160A38B}"/>
              </a:ext>
            </a:extLst>
          </p:cNvPr>
          <p:cNvSpPr/>
          <p:nvPr/>
        </p:nvSpPr>
        <p:spPr bwMode="auto">
          <a:xfrm>
            <a:off x="2357339" y="5056313"/>
            <a:ext cx="1008062" cy="503237"/>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latin typeface="Tenorite" panose="00000500000000000000" pitchFamily="2" charset="0"/>
                <a:cs typeface="Arial" charset="0"/>
              </a:rPr>
              <a:t>HR</a:t>
            </a:r>
          </a:p>
        </p:txBody>
      </p:sp>
      <p:sp>
        <p:nvSpPr>
          <p:cNvPr id="10" name="Prostokąt 9">
            <a:extLst>
              <a:ext uri="{FF2B5EF4-FFF2-40B4-BE49-F238E27FC236}">
                <a16:creationId xmlns:a16="http://schemas.microsoft.com/office/drawing/2014/main" id="{F481A5D3-4F66-B225-0FCB-024D82CBF8B3}"/>
              </a:ext>
            </a:extLst>
          </p:cNvPr>
          <p:cNvSpPr/>
          <p:nvPr/>
        </p:nvSpPr>
        <p:spPr bwMode="auto">
          <a:xfrm>
            <a:off x="3940076" y="5056313"/>
            <a:ext cx="1728788" cy="503237"/>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latin typeface="Tenorite" panose="00000500000000000000" pitchFamily="2" charset="0"/>
                <a:cs typeface="Arial" charset="0"/>
              </a:rPr>
              <a:t>Finance</a:t>
            </a:r>
          </a:p>
        </p:txBody>
      </p:sp>
      <p:sp>
        <p:nvSpPr>
          <p:cNvPr id="11" name="Prostokąt 10">
            <a:extLst>
              <a:ext uri="{FF2B5EF4-FFF2-40B4-BE49-F238E27FC236}">
                <a16:creationId xmlns:a16="http://schemas.microsoft.com/office/drawing/2014/main" id="{808A9D8A-0C1F-8A20-139E-184DCEE41539}"/>
              </a:ext>
            </a:extLst>
          </p:cNvPr>
          <p:cNvSpPr/>
          <p:nvPr/>
        </p:nvSpPr>
        <p:spPr bwMode="auto">
          <a:xfrm>
            <a:off x="6316564" y="5056313"/>
            <a:ext cx="1728787" cy="503237"/>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latin typeface="Tenorite" panose="00000500000000000000" pitchFamily="2" charset="0"/>
                <a:cs typeface="Arial" charset="0"/>
              </a:rPr>
              <a:t>Marketing</a:t>
            </a:r>
          </a:p>
        </p:txBody>
      </p:sp>
      <p:sp>
        <p:nvSpPr>
          <p:cNvPr id="12" name="Prostokąt 11">
            <a:extLst>
              <a:ext uri="{FF2B5EF4-FFF2-40B4-BE49-F238E27FC236}">
                <a16:creationId xmlns:a16="http://schemas.microsoft.com/office/drawing/2014/main" id="{E2FD1AB9-0428-DFBC-3FAB-9CDFFE6BB3D1}"/>
              </a:ext>
            </a:extLst>
          </p:cNvPr>
          <p:cNvSpPr/>
          <p:nvPr/>
        </p:nvSpPr>
        <p:spPr bwMode="auto">
          <a:xfrm>
            <a:off x="8261251" y="5056313"/>
            <a:ext cx="1908175" cy="503237"/>
          </a:xfrm>
          <a:prstGeom prst="rect">
            <a:avLst/>
          </a:prstGeom>
          <a:solidFill>
            <a:schemeClr val="accent3">
              <a:lumMod val="5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latin typeface="Tenorite" panose="00000500000000000000" pitchFamily="2" charset="0"/>
                <a:cs typeface="Arial" charset="0"/>
              </a:rPr>
              <a:t>Production</a:t>
            </a:r>
            <a:endParaRPr lang="pl-PL" b="1" u="none" dirty="0">
              <a:solidFill>
                <a:schemeClr val="bg1"/>
              </a:solidFill>
              <a:latin typeface="Tenorite" panose="00000500000000000000" pitchFamily="2" charset="0"/>
              <a:cs typeface="Arial" charset="0"/>
            </a:endParaRPr>
          </a:p>
        </p:txBody>
      </p:sp>
      <p:cxnSp>
        <p:nvCxnSpPr>
          <p:cNvPr id="13" name="Łącznik prostoliniowy 9">
            <a:extLst>
              <a:ext uri="{FF2B5EF4-FFF2-40B4-BE49-F238E27FC236}">
                <a16:creationId xmlns:a16="http://schemas.microsoft.com/office/drawing/2014/main" id="{E4238F36-A9A4-6FFC-C1D7-0D4104056B52}"/>
              </a:ext>
            </a:extLst>
          </p:cNvPr>
          <p:cNvCxnSpPr>
            <a:cxnSpLocks noChangeShapeType="1"/>
            <a:endCxn id="8" idx="0"/>
          </p:cNvCxnSpPr>
          <p:nvPr/>
        </p:nvCxnSpPr>
        <p:spPr bwMode="auto">
          <a:xfrm>
            <a:off x="6532464" y="4048250"/>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 name="Łącznik prostoliniowy 12">
            <a:extLst>
              <a:ext uri="{FF2B5EF4-FFF2-40B4-BE49-F238E27FC236}">
                <a16:creationId xmlns:a16="http://schemas.microsoft.com/office/drawing/2014/main" id="{E515B220-B4AF-308B-5B1F-067FD2B9FA55}"/>
              </a:ext>
            </a:extLst>
          </p:cNvPr>
          <p:cNvCxnSpPr>
            <a:cxnSpLocks noChangeShapeType="1"/>
          </p:cNvCxnSpPr>
          <p:nvPr/>
        </p:nvCxnSpPr>
        <p:spPr bwMode="auto">
          <a:xfrm flipH="1">
            <a:off x="2860576" y="4911850"/>
            <a:ext cx="62642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 name="Łącznik prostoliniowy 14">
            <a:extLst>
              <a:ext uri="{FF2B5EF4-FFF2-40B4-BE49-F238E27FC236}">
                <a16:creationId xmlns:a16="http://schemas.microsoft.com/office/drawing/2014/main" id="{04E92047-3DBB-1430-C449-F58291CFDA9D}"/>
              </a:ext>
            </a:extLst>
          </p:cNvPr>
          <p:cNvCxnSpPr>
            <a:cxnSpLocks noChangeShapeType="1"/>
          </p:cNvCxnSpPr>
          <p:nvPr/>
        </p:nvCxnSpPr>
        <p:spPr bwMode="auto">
          <a:xfrm>
            <a:off x="2860576" y="491185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 name="Łącznik prostoliniowy 16">
            <a:extLst>
              <a:ext uri="{FF2B5EF4-FFF2-40B4-BE49-F238E27FC236}">
                <a16:creationId xmlns:a16="http://schemas.microsoft.com/office/drawing/2014/main" id="{BD7D853A-AAF2-0782-6FBC-6021A29C2C92}"/>
              </a:ext>
            </a:extLst>
          </p:cNvPr>
          <p:cNvCxnSpPr>
            <a:cxnSpLocks noChangeShapeType="1"/>
          </p:cNvCxnSpPr>
          <p:nvPr/>
        </p:nvCxnSpPr>
        <p:spPr bwMode="auto">
          <a:xfrm>
            <a:off x="4800501" y="491185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 name="Łącznik prostoliniowy 17">
            <a:extLst>
              <a:ext uri="{FF2B5EF4-FFF2-40B4-BE49-F238E27FC236}">
                <a16:creationId xmlns:a16="http://schemas.microsoft.com/office/drawing/2014/main" id="{22B93DC6-D87F-67EC-2F32-C02D8120FDCA}"/>
              </a:ext>
            </a:extLst>
          </p:cNvPr>
          <p:cNvCxnSpPr>
            <a:cxnSpLocks noChangeShapeType="1"/>
          </p:cNvCxnSpPr>
          <p:nvPr/>
        </p:nvCxnSpPr>
        <p:spPr bwMode="auto">
          <a:xfrm>
            <a:off x="7108726" y="491185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8" name="Łącznik prostoliniowy 18">
            <a:extLst>
              <a:ext uri="{FF2B5EF4-FFF2-40B4-BE49-F238E27FC236}">
                <a16:creationId xmlns:a16="http://schemas.microsoft.com/office/drawing/2014/main" id="{7AC46BDE-A7BD-9C84-8EE6-86EA31E78A91}"/>
              </a:ext>
            </a:extLst>
          </p:cNvPr>
          <p:cNvCxnSpPr>
            <a:cxnSpLocks noChangeShapeType="1"/>
          </p:cNvCxnSpPr>
          <p:nvPr/>
        </p:nvCxnSpPr>
        <p:spPr bwMode="auto">
          <a:xfrm>
            <a:off x="6532464" y="4767388"/>
            <a:ext cx="0" cy="1444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 name="Łącznik prostoliniowy 20">
            <a:extLst>
              <a:ext uri="{FF2B5EF4-FFF2-40B4-BE49-F238E27FC236}">
                <a16:creationId xmlns:a16="http://schemas.microsoft.com/office/drawing/2014/main" id="{29F983F8-B05F-34EB-1151-7CC39F35A8DB}"/>
              </a:ext>
            </a:extLst>
          </p:cNvPr>
          <p:cNvCxnSpPr>
            <a:cxnSpLocks noChangeShapeType="1"/>
          </p:cNvCxnSpPr>
          <p:nvPr/>
        </p:nvCxnSpPr>
        <p:spPr bwMode="auto">
          <a:xfrm>
            <a:off x="9124851" y="491185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0" name="Prostokąt 21">
            <a:extLst>
              <a:ext uri="{FF2B5EF4-FFF2-40B4-BE49-F238E27FC236}">
                <a16:creationId xmlns:a16="http://schemas.microsoft.com/office/drawing/2014/main" id="{2740924A-2AA3-17C2-5BC0-5ECFACF521EB}"/>
              </a:ext>
            </a:extLst>
          </p:cNvPr>
          <p:cNvSpPr>
            <a:spLocks noChangeArrowheads="1"/>
          </p:cNvSpPr>
          <p:nvPr/>
        </p:nvSpPr>
        <p:spPr bwMode="auto">
          <a:xfrm>
            <a:off x="2320826" y="59199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1" name="Prostokąt 22">
            <a:extLst>
              <a:ext uri="{FF2B5EF4-FFF2-40B4-BE49-F238E27FC236}">
                <a16:creationId xmlns:a16="http://schemas.microsoft.com/office/drawing/2014/main" id="{4658390A-8852-57E8-25B4-9BE31D7002B1}"/>
              </a:ext>
            </a:extLst>
          </p:cNvPr>
          <p:cNvSpPr>
            <a:spLocks noChangeArrowheads="1"/>
          </p:cNvSpPr>
          <p:nvPr/>
        </p:nvSpPr>
        <p:spPr bwMode="auto">
          <a:xfrm>
            <a:off x="3076476" y="59199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2" name="Prostokąt 23">
            <a:extLst>
              <a:ext uri="{FF2B5EF4-FFF2-40B4-BE49-F238E27FC236}">
                <a16:creationId xmlns:a16="http://schemas.microsoft.com/office/drawing/2014/main" id="{4E446DFB-B323-3780-7126-9A2E83C5DCB7}"/>
              </a:ext>
            </a:extLst>
          </p:cNvPr>
          <p:cNvSpPr>
            <a:spLocks noChangeArrowheads="1"/>
          </p:cNvSpPr>
          <p:nvPr/>
        </p:nvSpPr>
        <p:spPr bwMode="auto">
          <a:xfrm>
            <a:off x="3940076" y="59199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3" name="Prostokąt 24">
            <a:extLst>
              <a:ext uri="{FF2B5EF4-FFF2-40B4-BE49-F238E27FC236}">
                <a16:creationId xmlns:a16="http://schemas.microsoft.com/office/drawing/2014/main" id="{8E759514-F04F-B8B8-D930-0D5678C260DB}"/>
              </a:ext>
            </a:extLst>
          </p:cNvPr>
          <p:cNvSpPr>
            <a:spLocks noChangeArrowheads="1"/>
          </p:cNvSpPr>
          <p:nvPr/>
        </p:nvSpPr>
        <p:spPr bwMode="auto">
          <a:xfrm>
            <a:off x="4621114" y="5919913"/>
            <a:ext cx="360362"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4" name="Prostokąt 25">
            <a:extLst>
              <a:ext uri="{FF2B5EF4-FFF2-40B4-BE49-F238E27FC236}">
                <a16:creationId xmlns:a16="http://schemas.microsoft.com/office/drawing/2014/main" id="{23C0E55A-A58F-C7CE-EA2C-ED497EA42891}"/>
              </a:ext>
            </a:extLst>
          </p:cNvPr>
          <p:cNvSpPr>
            <a:spLocks noChangeArrowheads="1"/>
          </p:cNvSpPr>
          <p:nvPr/>
        </p:nvSpPr>
        <p:spPr bwMode="auto">
          <a:xfrm>
            <a:off x="5308501" y="59199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5" name="Prostokąt 26">
            <a:extLst>
              <a:ext uri="{FF2B5EF4-FFF2-40B4-BE49-F238E27FC236}">
                <a16:creationId xmlns:a16="http://schemas.microsoft.com/office/drawing/2014/main" id="{7A00EF48-3C64-8F0E-3FC0-CAE321B296E8}"/>
              </a:ext>
            </a:extLst>
          </p:cNvPr>
          <p:cNvSpPr>
            <a:spLocks noChangeArrowheads="1"/>
          </p:cNvSpPr>
          <p:nvPr/>
        </p:nvSpPr>
        <p:spPr bwMode="auto">
          <a:xfrm>
            <a:off x="6748364" y="5894513"/>
            <a:ext cx="360362"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6" name="Prostokąt 27">
            <a:extLst>
              <a:ext uri="{FF2B5EF4-FFF2-40B4-BE49-F238E27FC236}">
                <a16:creationId xmlns:a16="http://schemas.microsoft.com/office/drawing/2014/main" id="{9746280F-9D6A-4D7F-37E5-819271B5A2C4}"/>
              </a:ext>
            </a:extLst>
          </p:cNvPr>
          <p:cNvSpPr>
            <a:spLocks noChangeArrowheads="1"/>
          </p:cNvSpPr>
          <p:nvPr/>
        </p:nvSpPr>
        <p:spPr bwMode="auto">
          <a:xfrm>
            <a:off x="7216676" y="58945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7" name="Prostokąt 28">
            <a:extLst>
              <a:ext uri="{FF2B5EF4-FFF2-40B4-BE49-F238E27FC236}">
                <a16:creationId xmlns:a16="http://schemas.microsoft.com/office/drawing/2014/main" id="{695ADB43-FD59-9B5A-39B6-C4945D0DD9B1}"/>
              </a:ext>
            </a:extLst>
          </p:cNvPr>
          <p:cNvSpPr>
            <a:spLocks noChangeArrowheads="1"/>
          </p:cNvSpPr>
          <p:nvPr/>
        </p:nvSpPr>
        <p:spPr bwMode="auto">
          <a:xfrm>
            <a:off x="8261251" y="5894513"/>
            <a:ext cx="360363"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8" name="Prostokąt 29">
            <a:extLst>
              <a:ext uri="{FF2B5EF4-FFF2-40B4-BE49-F238E27FC236}">
                <a16:creationId xmlns:a16="http://schemas.microsoft.com/office/drawing/2014/main" id="{E97CE753-6AF2-325E-9B3B-6988A68EA4B7}"/>
              </a:ext>
            </a:extLst>
          </p:cNvPr>
          <p:cNvSpPr>
            <a:spLocks noChangeArrowheads="1"/>
          </p:cNvSpPr>
          <p:nvPr/>
        </p:nvSpPr>
        <p:spPr bwMode="auto">
          <a:xfrm>
            <a:off x="8766076" y="5894513"/>
            <a:ext cx="358775"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29" name="Prostokąt 30">
            <a:extLst>
              <a:ext uri="{FF2B5EF4-FFF2-40B4-BE49-F238E27FC236}">
                <a16:creationId xmlns:a16="http://schemas.microsoft.com/office/drawing/2014/main" id="{BC46B27C-2D8B-A526-ED5F-1791AD8C5D51}"/>
              </a:ext>
            </a:extLst>
          </p:cNvPr>
          <p:cNvSpPr>
            <a:spLocks noChangeArrowheads="1"/>
          </p:cNvSpPr>
          <p:nvPr/>
        </p:nvSpPr>
        <p:spPr bwMode="auto">
          <a:xfrm>
            <a:off x="9269314" y="5894513"/>
            <a:ext cx="360362"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sp>
        <p:nvSpPr>
          <p:cNvPr id="30" name="Prostokąt 31">
            <a:extLst>
              <a:ext uri="{FF2B5EF4-FFF2-40B4-BE49-F238E27FC236}">
                <a16:creationId xmlns:a16="http://schemas.microsoft.com/office/drawing/2014/main" id="{0BA900E8-D66E-FA08-52FA-96F3BCF2768B}"/>
              </a:ext>
            </a:extLst>
          </p:cNvPr>
          <p:cNvSpPr>
            <a:spLocks noChangeArrowheads="1"/>
          </p:cNvSpPr>
          <p:nvPr/>
        </p:nvSpPr>
        <p:spPr bwMode="auto">
          <a:xfrm>
            <a:off x="9809064" y="5894513"/>
            <a:ext cx="360362" cy="360362"/>
          </a:xfrm>
          <a:prstGeom prst="rect">
            <a:avLst/>
          </a:prstGeom>
          <a:solidFill>
            <a:schemeClr val="accent2">
              <a:lumMod val="60000"/>
              <a:lumOff val="4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latin typeface="Tenorite" panose="00000500000000000000" pitchFamily="2" charset="0"/>
            </a:endParaRPr>
          </a:p>
        </p:txBody>
      </p:sp>
      <p:cxnSp>
        <p:nvCxnSpPr>
          <p:cNvPr id="31" name="Łącznik prostoliniowy 32">
            <a:extLst>
              <a:ext uri="{FF2B5EF4-FFF2-40B4-BE49-F238E27FC236}">
                <a16:creationId xmlns:a16="http://schemas.microsoft.com/office/drawing/2014/main" id="{DFB7E635-8A8F-8503-05AB-E258FB89B5A2}"/>
              </a:ext>
            </a:extLst>
          </p:cNvPr>
          <p:cNvCxnSpPr>
            <a:cxnSpLocks noChangeShapeType="1"/>
          </p:cNvCxnSpPr>
          <p:nvPr/>
        </p:nvCxnSpPr>
        <p:spPr bwMode="auto">
          <a:xfrm>
            <a:off x="2860576" y="5559550"/>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 name="Łącznik prostoliniowy 33">
            <a:extLst>
              <a:ext uri="{FF2B5EF4-FFF2-40B4-BE49-F238E27FC236}">
                <a16:creationId xmlns:a16="http://schemas.microsoft.com/office/drawing/2014/main" id="{204B1FFE-DF1A-C6CF-C217-CB7C34DBECB8}"/>
              </a:ext>
            </a:extLst>
          </p:cNvPr>
          <p:cNvCxnSpPr>
            <a:cxnSpLocks noChangeShapeType="1"/>
          </p:cNvCxnSpPr>
          <p:nvPr/>
        </p:nvCxnSpPr>
        <p:spPr bwMode="auto">
          <a:xfrm>
            <a:off x="4816376" y="5559550"/>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 name="Łącznik prostoliniowy 34">
            <a:extLst>
              <a:ext uri="{FF2B5EF4-FFF2-40B4-BE49-F238E27FC236}">
                <a16:creationId xmlns:a16="http://schemas.microsoft.com/office/drawing/2014/main" id="{10A1E188-8973-05F7-07B0-D5D96B38A40A}"/>
              </a:ext>
            </a:extLst>
          </p:cNvPr>
          <p:cNvCxnSpPr>
            <a:cxnSpLocks noChangeShapeType="1"/>
          </p:cNvCxnSpPr>
          <p:nvPr/>
        </p:nvCxnSpPr>
        <p:spPr bwMode="auto">
          <a:xfrm>
            <a:off x="7121426" y="5559550"/>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4" name="Łącznik prostoliniowy 35">
            <a:extLst>
              <a:ext uri="{FF2B5EF4-FFF2-40B4-BE49-F238E27FC236}">
                <a16:creationId xmlns:a16="http://schemas.microsoft.com/office/drawing/2014/main" id="{39D7ABBD-087D-BFCF-F834-FE14193985C4}"/>
              </a:ext>
            </a:extLst>
          </p:cNvPr>
          <p:cNvCxnSpPr>
            <a:cxnSpLocks noChangeShapeType="1"/>
          </p:cNvCxnSpPr>
          <p:nvPr/>
        </p:nvCxnSpPr>
        <p:spPr bwMode="auto">
          <a:xfrm>
            <a:off x="9124851" y="5559550"/>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5" name="Łącznik prostoliniowy 36">
            <a:extLst>
              <a:ext uri="{FF2B5EF4-FFF2-40B4-BE49-F238E27FC236}">
                <a16:creationId xmlns:a16="http://schemas.microsoft.com/office/drawing/2014/main" id="{72D72FEB-BEE8-0BF6-EA98-9D63D0394289}"/>
              </a:ext>
            </a:extLst>
          </p:cNvPr>
          <p:cNvCxnSpPr>
            <a:cxnSpLocks noChangeShapeType="1"/>
          </p:cNvCxnSpPr>
          <p:nvPr/>
        </p:nvCxnSpPr>
        <p:spPr bwMode="auto">
          <a:xfrm flipH="1">
            <a:off x="2536726" y="5775450"/>
            <a:ext cx="719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6" name="Łącznik prostoliniowy 39">
            <a:extLst>
              <a:ext uri="{FF2B5EF4-FFF2-40B4-BE49-F238E27FC236}">
                <a16:creationId xmlns:a16="http://schemas.microsoft.com/office/drawing/2014/main" id="{C027B9C6-CD27-8093-9A22-EB28E6E2B6DB}"/>
              </a:ext>
            </a:extLst>
          </p:cNvPr>
          <p:cNvCxnSpPr>
            <a:cxnSpLocks noChangeShapeType="1"/>
          </p:cNvCxnSpPr>
          <p:nvPr/>
        </p:nvCxnSpPr>
        <p:spPr bwMode="auto">
          <a:xfrm flipH="1">
            <a:off x="4143276" y="5775450"/>
            <a:ext cx="13462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7" name="Łącznik prostoliniowy 41">
            <a:extLst>
              <a:ext uri="{FF2B5EF4-FFF2-40B4-BE49-F238E27FC236}">
                <a16:creationId xmlns:a16="http://schemas.microsoft.com/office/drawing/2014/main" id="{C3E88711-ABAC-4E92-2F17-4B0E75EFD8F8}"/>
              </a:ext>
            </a:extLst>
          </p:cNvPr>
          <p:cNvCxnSpPr>
            <a:cxnSpLocks noChangeShapeType="1"/>
          </p:cNvCxnSpPr>
          <p:nvPr/>
        </p:nvCxnSpPr>
        <p:spPr bwMode="auto">
          <a:xfrm flipH="1">
            <a:off x="6916639" y="5775450"/>
            <a:ext cx="4810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8" name="Łącznik prostoliniowy 44">
            <a:extLst>
              <a:ext uri="{FF2B5EF4-FFF2-40B4-BE49-F238E27FC236}">
                <a16:creationId xmlns:a16="http://schemas.microsoft.com/office/drawing/2014/main" id="{CA33F8F7-AA93-F61E-4F65-8DC2BEFD4C4F}"/>
              </a:ext>
            </a:extLst>
          </p:cNvPr>
          <p:cNvCxnSpPr>
            <a:cxnSpLocks noChangeShapeType="1"/>
          </p:cNvCxnSpPr>
          <p:nvPr/>
        </p:nvCxnSpPr>
        <p:spPr bwMode="auto">
          <a:xfrm flipH="1">
            <a:off x="8440639" y="5775450"/>
            <a:ext cx="1549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9" name="Łącznik prostoliniowy 47">
            <a:extLst>
              <a:ext uri="{FF2B5EF4-FFF2-40B4-BE49-F238E27FC236}">
                <a16:creationId xmlns:a16="http://schemas.microsoft.com/office/drawing/2014/main" id="{BC88BBE0-F3AD-A3A2-431D-FFD9D9198154}"/>
              </a:ext>
            </a:extLst>
          </p:cNvPr>
          <p:cNvCxnSpPr>
            <a:cxnSpLocks noChangeShapeType="1"/>
            <a:endCxn id="27" idx="0"/>
          </p:cNvCxnSpPr>
          <p:nvPr/>
        </p:nvCxnSpPr>
        <p:spPr bwMode="auto">
          <a:xfrm>
            <a:off x="8440639"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0" name="Łącznik prostoliniowy 52">
            <a:extLst>
              <a:ext uri="{FF2B5EF4-FFF2-40B4-BE49-F238E27FC236}">
                <a16:creationId xmlns:a16="http://schemas.microsoft.com/office/drawing/2014/main" id="{16049ABA-F87F-1CDF-D460-61172ECAAB70}"/>
              </a:ext>
            </a:extLst>
          </p:cNvPr>
          <p:cNvCxnSpPr>
            <a:cxnSpLocks noChangeShapeType="1"/>
          </p:cNvCxnSpPr>
          <p:nvPr/>
        </p:nvCxnSpPr>
        <p:spPr bwMode="auto">
          <a:xfrm>
            <a:off x="9990039"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1" name="Łącznik prostoliniowy 53">
            <a:extLst>
              <a:ext uri="{FF2B5EF4-FFF2-40B4-BE49-F238E27FC236}">
                <a16:creationId xmlns:a16="http://schemas.microsoft.com/office/drawing/2014/main" id="{C0B137BE-6405-20C5-CA27-61BB7AC6CEBC}"/>
              </a:ext>
            </a:extLst>
          </p:cNvPr>
          <p:cNvCxnSpPr>
            <a:cxnSpLocks noChangeShapeType="1"/>
          </p:cNvCxnSpPr>
          <p:nvPr/>
        </p:nvCxnSpPr>
        <p:spPr bwMode="auto">
          <a:xfrm>
            <a:off x="8945464"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2" name="Łącznik prostoliniowy 54">
            <a:extLst>
              <a:ext uri="{FF2B5EF4-FFF2-40B4-BE49-F238E27FC236}">
                <a16:creationId xmlns:a16="http://schemas.microsoft.com/office/drawing/2014/main" id="{305FF039-AE5A-8411-59FE-1582966DA759}"/>
              </a:ext>
            </a:extLst>
          </p:cNvPr>
          <p:cNvCxnSpPr>
            <a:cxnSpLocks noChangeShapeType="1"/>
          </p:cNvCxnSpPr>
          <p:nvPr/>
        </p:nvCxnSpPr>
        <p:spPr bwMode="auto">
          <a:xfrm>
            <a:off x="9456639" y="5780213"/>
            <a:ext cx="0" cy="1190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3" name="Łącznik prostoliniowy 55">
            <a:extLst>
              <a:ext uri="{FF2B5EF4-FFF2-40B4-BE49-F238E27FC236}">
                <a16:creationId xmlns:a16="http://schemas.microsoft.com/office/drawing/2014/main" id="{31B49E69-1D54-E693-E5AC-5D825EAC49F6}"/>
              </a:ext>
            </a:extLst>
          </p:cNvPr>
          <p:cNvCxnSpPr>
            <a:cxnSpLocks noChangeShapeType="1"/>
          </p:cNvCxnSpPr>
          <p:nvPr/>
        </p:nvCxnSpPr>
        <p:spPr bwMode="auto">
          <a:xfrm>
            <a:off x="6929339"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4" name="Łącznik prostoliniowy 56">
            <a:extLst>
              <a:ext uri="{FF2B5EF4-FFF2-40B4-BE49-F238E27FC236}">
                <a16:creationId xmlns:a16="http://schemas.microsoft.com/office/drawing/2014/main" id="{FEBE0AA4-4000-F60E-F1F4-3939570FE012}"/>
              </a:ext>
            </a:extLst>
          </p:cNvPr>
          <p:cNvCxnSpPr>
            <a:cxnSpLocks noChangeShapeType="1"/>
          </p:cNvCxnSpPr>
          <p:nvPr/>
        </p:nvCxnSpPr>
        <p:spPr bwMode="auto">
          <a:xfrm>
            <a:off x="7397651"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5" name="Łącznik prostoliniowy 57">
            <a:extLst>
              <a:ext uri="{FF2B5EF4-FFF2-40B4-BE49-F238E27FC236}">
                <a16:creationId xmlns:a16="http://schemas.microsoft.com/office/drawing/2014/main" id="{D94E8CB0-E2BC-A09C-5A13-194B17B2E57B}"/>
              </a:ext>
            </a:extLst>
          </p:cNvPr>
          <p:cNvCxnSpPr>
            <a:cxnSpLocks noChangeShapeType="1"/>
          </p:cNvCxnSpPr>
          <p:nvPr/>
        </p:nvCxnSpPr>
        <p:spPr bwMode="auto">
          <a:xfrm>
            <a:off x="4143276" y="5780213"/>
            <a:ext cx="0" cy="1190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6" name="Łącznik prostoliniowy 58">
            <a:extLst>
              <a:ext uri="{FF2B5EF4-FFF2-40B4-BE49-F238E27FC236}">
                <a16:creationId xmlns:a16="http://schemas.microsoft.com/office/drawing/2014/main" id="{F64CFFAA-32DF-CE11-22F7-48527BAFF438}"/>
              </a:ext>
            </a:extLst>
          </p:cNvPr>
          <p:cNvCxnSpPr>
            <a:cxnSpLocks noChangeShapeType="1"/>
          </p:cNvCxnSpPr>
          <p:nvPr/>
        </p:nvCxnSpPr>
        <p:spPr bwMode="auto">
          <a:xfrm>
            <a:off x="5489476" y="5780213"/>
            <a:ext cx="0" cy="1190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7" name="Łącznik prostoliniowy 59">
            <a:extLst>
              <a:ext uri="{FF2B5EF4-FFF2-40B4-BE49-F238E27FC236}">
                <a16:creationId xmlns:a16="http://schemas.microsoft.com/office/drawing/2014/main" id="{CA0AD076-CC46-3972-CF1A-A65A3143C2DC}"/>
              </a:ext>
            </a:extLst>
          </p:cNvPr>
          <p:cNvCxnSpPr>
            <a:cxnSpLocks noChangeShapeType="1"/>
          </p:cNvCxnSpPr>
          <p:nvPr/>
        </p:nvCxnSpPr>
        <p:spPr bwMode="auto">
          <a:xfrm>
            <a:off x="4817964" y="575957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8" name="Łącznik prostoliniowy 60">
            <a:extLst>
              <a:ext uri="{FF2B5EF4-FFF2-40B4-BE49-F238E27FC236}">
                <a16:creationId xmlns:a16="http://schemas.microsoft.com/office/drawing/2014/main" id="{085ED2D9-89DA-83A1-E5DD-B6F566512E16}"/>
              </a:ext>
            </a:extLst>
          </p:cNvPr>
          <p:cNvCxnSpPr>
            <a:cxnSpLocks noChangeShapeType="1"/>
          </p:cNvCxnSpPr>
          <p:nvPr/>
        </p:nvCxnSpPr>
        <p:spPr bwMode="auto">
          <a:xfrm>
            <a:off x="3255864" y="578497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9" name="Łącznik prostoliniowy 61">
            <a:extLst>
              <a:ext uri="{FF2B5EF4-FFF2-40B4-BE49-F238E27FC236}">
                <a16:creationId xmlns:a16="http://schemas.microsoft.com/office/drawing/2014/main" id="{C34EFCD4-EFDB-6FCE-7F12-079134DC0158}"/>
              </a:ext>
            </a:extLst>
          </p:cNvPr>
          <p:cNvCxnSpPr>
            <a:cxnSpLocks noChangeShapeType="1"/>
          </p:cNvCxnSpPr>
          <p:nvPr/>
        </p:nvCxnSpPr>
        <p:spPr bwMode="auto">
          <a:xfrm>
            <a:off x="2528789" y="577545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9449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a:bodyPr>
          <a:lstStyle/>
          <a:p>
            <a:pPr rtl="0"/>
            <a:r>
              <a:rPr lang="pl-PL" sz="5000" dirty="0" err="1">
                <a:latin typeface="Tenorite" panose="00000500000000000000" pitchFamily="2" charset="0"/>
              </a:rPr>
              <a:t>Functional</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082143" y="2571233"/>
            <a:ext cx="9022324" cy="3785935"/>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300" b="1" dirty="0" err="1">
                <a:solidFill>
                  <a:srgbClr val="663300"/>
                </a:solidFill>
                <a:latin typeface="Tenorite" panose="00000500000000000000" pitchFamily="2" charset="0"/>
              </a:rPr>
              <a:t>Advant</a:t>
            </a:r>
            <a:r>
              <a:rPr lang="pl-PL" sz="2300" b="1" dirty="0">
                <a:solidFill>
                  <a:srgbClr val="663300"/>
                </a:solidFill>
                <a:latin typeface="Tenorite" panose="00000500000000000000" pitchFamily="2" charset="0"/>
              </a:rPr>
              <a:t>a</a:t>
            </a:r>
            <a:r>
              <a:rPr lang="en-US" sz="2300" b="1" dirty="0" err="1">
                <a:solidFill>
                  <a:srgbClr val="663300"/>
                </a:solidFill>
                <a:latin typeface="Tenorite" panose="00000500000000000000" pitchFamily="2" charset="0"/>
              </a:rPr>
              <a:t>ges</a:t>
            </a:r>
            <a:endParaRPr lang="en-US" sz="2300" b="1" dirty="0">
              <a:solidFill>
                <a:srgbClr val="663300"/>
              </a:solidFill>
              <a:latin typeface="Tenorite" panose="00000500000000000000" pitchFamily="2" charset="0"/>
            </a:endParaRP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Critical mass of </a:t>
            </a:r>
            <a:r>
              <a:rPr lang="pl-PL" sz="1900" dirty="0">
                <a:solidFill>
                  <a:srgbClr val="663300"/>
                </a:solidFill>
                <a:latin typeface="Tenorite" panose="00000500000000000000" pitchFamily="2" charset="0"/>
              </a:rPr>
              <a:t>a </a:t>
            </a:r>
            <a:r>
              <a:rPr lang="en-US" sz="1900" dirty="0">
                <a:solidFill>
                  <a:srgbClr val="663300"/>
                </a:solidFill>
                <a:latin typeface="Tenorite" panose="00000500000000000000" pitchFamily="2" charset="0"/>
              </a:rPr>
              <a:t>functional activity that supports </a:t>
            </a:r>
            <a:r>
              <a:rPr lang="pl-PL" sz="1900" dirty="0">
                <a:solidFill>
                  <a:srgbClr val="663300"/>
                </a:solidFill>
                <a:latin typeface="Tenorite" panose="00000500000000000000" pitchFamily="2" charset="0"/>
              </a:rPr>
              <a:t>                   </a:t>
            </a:r>
            <a:r>
              <a:rPr lang="en-US" sz="1900" dirty="0">
                <a:solidFill>
                  <a:srgbClr val="663300"/>
                </a:solidFill>
                <a:latin typeface="Tenorite" panose="00000500000000000000" pitchFamily="2" charset="0"/>
              </a:rPr>
              <a:t>efficiency within a function</a:t>
            </a:r>
          </a:p>
          <a:p>
            <a:pPr marL="1177200" lvl="2" indent="-457200" algn="l">
              <a:lnSpc>
                <a:spcPct val="100000"/>
              </a:lnSpc>
              <a:spcBef>
                <a:spcPts val="400"/>
              </a:spcBef>
              <a:spcAft>
                <a:spcPts val="600"/>
              </a:spcAft>
              <a:buClr>
                <a:srgbClr val="663300"/>
              </a:buClr>
              <a:buFont typeface="Wingdings" panose="05000000000000000000" pitchFamily="2" charset="2"/>
              <a:buChar char="§"/>
            </a:pPr>
            <a:r>
              <a:rPr lang="en-US" sz="1900" dirty="0">
                <a:solidFill>
                  <a:srgbClr val="663300"/>
                </a:solidFill>
                <a:latin typeface="Tenorite" panose="00000500000000000000" pitchFamily="2" charset="0"/>
              </a:rPr>
              <a:t>Skill development</a:t>
            </a:r>
          </a:p>
          <a:p>
            <a:pPr marL="457200" indent="-457200" algn="just" rtl="0">
              <a:lnSpc>
                <a:spcPct val="100000"/>
              </a:lnSpc>
              <a:spcBef>
                <a:spcPts val="400"/>
              </a:spcBef>
              <a:buClr>
                <a:srgbClr val="663300"/>
              </a:buClr>
              <a:buFont typeface="Arial" panose="020B0604020202020204" pitchFamily="34" charset="0"/>
              <a:buChar char="•"/>
            </a:pPr>
            <a:r>
              <a:rPr lang="en-US" sz="2300" b="1" dirty="0">
                <a:solidFill>
                  <a:srgbClr val="663300"/>
                </a:solidFill>
                <a:latin typeface="Tenorite" panose="00000500000000000000" pitchFamily="2" charset="0"/>
              </a:rPr>
              <a:t>Disadvantages</a:t>
            </a:r>
            <a:endParaRPr lang="pl-PL" sz="2300" b="1" dirty="0">
              <a:solidFill>
                <a:srgbClr val="663300"/>
              </a:solidFill>
              <a:latin typeface="Tenorite" panose="00000500000000000000" pitchFamily="2" charset="0"/>
            </a:endParaRP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Relatively slow speed of response to environmental change</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Lower innovation and change readiness</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Frequent </a:t>
            </a:r>
            <a:r>
              <a:rPr kumimoji="0" lang="en-US" sz="1900" b="0" i="0" u="none" strike="noStrike" kern="1200" cap="none" spc="50" normalizeH="0" baseline="0" noProof="0" dirty="0" err="1">
                <a:ln>
                  <a:noFill/>
                </a:ln>
                <a:solidFill>
                  <a:srgbClr val="663300"/>
                </a:solidFill>
                <a:effectLst/>
                <a:uLnTx/>
                <a:uFillTx/>
                <a:latin typeface="Tenorite" panose="00000500000000000000" pitchFamily="2" charset="0"/>
                <a:ea typeface="+mn-ea"/>
                <a:cs typeface="Calibri" panose="020F0502020204030204" pitchFamily="34" charset="0"/>
              </a:rPr>
              <a:t>decis</a:t>
            </a:r>
            <a:r>
              <a:rPr kumimoji="0" lang="pl-PL"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i</a:t>
            </a: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on overload at the top of the function</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err="1">
                <a:ln>
                  <a:noFill/>
                </a:ln>
                <a:solidFill>
                  <a:srgbClr val="663300"/>
                </a:solidFill>
                <a:effectLst/>
                <a:uLnTx/>
                <a:uFillTx/>
                <a:latin typeface="Tenorite" panose="00000500000000000000" pitchFamily="2" charset="0"/>
                <a:ea typeface="+mn-ea"/>
                <a:cs typeface="Calibri" panose="020F0502020204030204" pitchFamily="34" charset="0"/>
              </a:rPr>
              <a:t>Interfunctional</a:t>
            </a: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 communication and co-ordination problems due to different and even conflicting objectives and orientations (</a:t>
            </a:r>
            <a:r>
              <a:rPr kumimoji="0" lang="en-US" sz="1900" b="1"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silo effect</a:t>
            </a: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a:t>
            </a:r>
          </a:p>
          <a:p>
            <a:pPr marL="457200" indent="-457200" algn="just" rtl="0">
              <a:lnSpc>
                <a:spcPct val="100000"/>
              </a:lnSpc>
              <a:spcBef>
                <a:spcPts val="400"/>
              </a:spcBef>
              <a:buClr>
                <a:srgbClr val="663300"/>
              </a:buClr>
              <a:buFont typeface="Arial" panose="020B0604020202020204" pitchFamily="34" charset="0"/>
              <a:buChar char="•"/>
            </a:pPr>
            <a:endParaRPr lang="en-US" sz="2300" b="1"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254111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a:bodyPr>
          <a:lstStyle/>
          <a:p>
            <a:pPr rtl="0"/>
            <a:r>
              <a:rPr lang="pl-PL" sz="5000" dirty="0" err="1">
                <a:latin typeface="Tenorite" panose="00000500000000000000" pitchFamily="2" charset="0"/>
              </a:rPr>
              <a:t>Divisional</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07346" y="2540589"/>
            <a:ext cx="8377308" cy="745975"/>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000" b="1" dirty="0">
                <a:solidFill>
                  <a:srgbClr val="663300"/>
                </a:solidFill>
                <a:latin typeface="Tenorite" panose="00000500000000000000" pitchFamily="2" charset="0"/>
              </a:rPr>
              <a:t>Divisional structure </a:t>
            </a:r>
            <a:r>
              <a:rPr lang="en-US" sz="2000" dirty="0">
                <a:solidFill>
                  <a:srgbClr val="663300"/>
                </a:solidFill>
                <a:latin typeface="Tenorite" panose="00000500000000000000" pitchFamily="2" charset="0"/>
              </a:rPr>
              <a:t>– results in multiple subunits that are focused on different products, regions and markets or market segments.</a:t>
            </a:r>
          </a:p>
        </p:txBody>
      </p:sp>
      <p:sp>
        <p:nvSpPr>
          <p:cNvPr id="7" name="Prostokąt 4">
            <a:extLst>
              <a:ext uri="{FF2B5EF4-FFF2-40B4-BE49-F238E27FC236}">
                <a16:creationId xmlns:a16="http://schemas.microsoft.com/office/drawing/2014/main" id="{C12359AB-B9E2-875C-3060-C6EA67EDC8CD}"/>
              </a:ext>
            </a:extLst>
          </p:cNvPr>
          <p:cNvSpPr>
            <a:spLocks noChangeArrowheads="1"/>
          </p:cNvSpPr>
          <p:nvPr/>
        </p:nvSpPr>
        <p:spPr bwMode="auto">
          <a:xfrm>
            <a:off x="5743397" y="3338168"/>
            <a:ext cx="1728788" cy="504825"/>
          </a:xfrm>
          <a:prstGeom prst="rect">
            <a:avLst/>
          </a:prstGeom>
          <a:solidFill>
            <a:schemeClr val="accent1">
              <a:lumMod val="40000"/>
              <a:lumOff val="60000"/>
            </a:schemeClr>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Head office</a:t>
            </a:r>
          </a:p>
        </p:txBody>
      </p:sp>
      <p:sp>
        <p:nvSpPr>
          <p:cNvPr id="8" name="Prostokąt 5">
            <a:extLst>
              <a:ext uri="{FF2B5EF4-FFF2-40B4-BE49-F238E27FC236}">
                <a16:creationId xmlns:a16="http://schemas.microsoft.com/office/drawing/2014/main" id="{62E02B34-7B5D-F990-7AE8-2A58383714EF}"/>
              </a:ext>
            </a:extLst>
          </p:cNvPr>
          <p:cNvSpPr>
            <a:spLocks noChangeArrowheads="1"/>
          </p:cNvSpPr>
          <p:nvPr/>
        </p:nvSpPr>
        <p:spPr bwMode="auto">
          <a:xfrm>
            <a:off x="2431872" y="4130330"/>
            <a:ext cx="1216025" cy="504825"/>
          </a:xfrm>
          <a:prstGeom prst="rect">
            <a:avLst/>
          </a:prstGeom>
          <a:solidFill>
            <a:schemeClr val="accent1">
              <a:lumMod val="40000"/>
              <a:lumOff val="60000"/>
            </a:schemeClr>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dirty="0">
                <a:latin typeface="Tenorite" panose="00000500000000000000" pitchFamily="2" charset="0"/>
              </a:rPr>
              <a:t>Product </a:t>
            </a:r>
            <a:r>
              <a:rPr lang="pl-PL" altLang="pl-PL" sz="1600" b="1" u="none" dirty="0" err="1">
                <a:latin typeface="Tenorite" panose="00000500000000000000" pitchFamily="2" charset="0"/>
              </a:rPr>
              <a:t>division</a:t>
            </a:r>
            <a:r>
              <a:rPr lang="pl-PL" altLang="pl-PL" sz="1600" b="1" u="none" dirty="0">
                <a:latin typeface="Tenorite" panose="00000500000000000000" pitchFamily="2" charset="0"/>
              </a:rPr>
              <a:t> A</a:t>
            </a:r>
          </a:p>
        </p:txBody>
      </p:sp>
      <p:sp>
        <p:nvSpPr>
          <p:cNvPr id="9" name="Prostokąt 6">
            <a:extLst>
              <a:ext uri="{FF2B5EF4-FFF2-40B4-BE49-F238E27FC236}">
                <a16:creationId xmlns:a16="http://schemas.microsoft.com/office/drawing/2014/main" id="{3189C99B-4846-C900-9D19-2B200C640407}"/>
              </a:ext>
            </a:extLst>
          </p:cNvPr>
          <p:cNvSpPr>
            <a:spLocks noChangeArrowheads="1"/>
          </p:cNvSpPr>
          <p:nvPr/>
        </p:nvSpPr>
        <p:spPr bwMode="auto">
          <a:xfrm>
            <a:off x="4016197" y="4130330"/>
            <a:ext cx="1727200" cy="504825"/>
          </a:xfrm>
          <a:prstGeom prst="rect">
            <a:avLst/>
          </a:prstGeom>
          <a:solidFill>
            <a:schemeClr val="accent1">
              <a:lumMod val="40000"/>
              <a:lumOff val="60000"/>
            </a:schemeClr>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Product division B </a:t>
            </a:r>
          </a:p>
        </p:txBody>
      </p:sp>
      <p:sp>
        <p:nvSpPr>
          <p:cNvPr id="10" name="Prostokąt 7">
            <a:extLst>
              <a:ext uri="{FF2B5EF4-FFF2-40B4-BE49-F238E27FC236}">
                <a16:creationId xmlns:a16="http://schemas.microsoft.com/office/drawing/2014/main" id="{84481FD7-74C3-6503-D3E2-F780FEFA50FA}"/>
              </a:ext>
            </a:extLst>
          </p:cNvPr>
          <p:cNvSpPr>
            <a:spLocks noChangeArrowheads="1"/>
          </p:cNvSpPr>
          <p:nvPr/>
        </p:nvSpPr>
        <p:spPr bwMode="auto">
          <a:xfrm>
            <a:off x="6392685" y="4130330"/>
            <a:ext cx="1727200" cy="504825"/>
          </a:xfrm>
          <a:prstGeom prst="rect">
            <a:avLst/>
          </a:prstGeom>
          <a:solidFill>
            <a:schemeClr val="accent1">
              <a:lumMod val="40000"/>
              <a:lumOff val="60000"/>
            </a:schemeClr>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dirty="0">
                <a:latin typeface="Tenorite" panose="00000500000000000000" pitchFamily="2" charset="0"/>
              </a:rPr>
              <a:t>Product </a:t>
            </a:r>
            <a:r>
              <a:rPr lang="pl-PL" altLang="pl-PL" sz="1600" b="1" u="none" dirty="0" err="1">
                <a:latin typeface="Tenorite" panose="00000500000000000000" pitchFamily="2" charset="0"/>
              </a:rPr>
              <a:t>division</a:t>
            </a:r>
            <a:r>
              <a:rPr lang="pl-PL" altLang="pl-PL" sz="1600" b="1" u="none" dirty="0">
                <a:latin typeface="Tenorite" panose="00000500000000000000" pitchFamily="2" charset="0"/>
              </a:rPr>
              <a:t> C</a:t>
            </a:r>
          </a:p>
        </p:txBody>
      </p:sp>
      <p:sp>
        <p:nvSpPr>
          <p:cNvPr id="11" name="Prostokąt 8">
            <a:extLst>
              <a:ext uri="{FF2B5EF4-FFF2-40B4-BE49-F238E27FC236}">
                <a16:creationId xmlns:a16="http://schemas.microsoft.com/office/drawing/2014/main" id="{25DD2FD0-B481-81AC-02D9-771D4BA6CD36}"/>
              </a:ext>
            </a:extLst>
          </p:cNvPr>
          <p:cNvSpPr>
            <a:spLocks noChangeArrowheads="1"/>
          </p:cNvSpPr>
          <p:nvPr/>
        </p:nvSpPr>
        <p:spPr bwMode="auto">
          <a:xfrm>
            <a:off x="8335785" y="4130330"/>
            <a:ext cx="1908175" cy="504825"/>
          </a:xfrm>
          <a:prstGeom prst="rect">
            <a:avLst/>
          </a:prstGeom>
          <a:solidFill>
            <a:schemeClr val="accent1">
              <a:lumMod val="40000"/>
              <a:lumOff val="60000"/>
            </a:schemeClr>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Product division D </a:t>
            </a:r>
          </a:p>
        </p:txBody>
      </p:sp>
      <p:cxnSp>
        <p:nvCxnSpPr>
          <p:cNvPr id="12" name="Łącznik prostoliniowy 12">
            <a:extLst>
              <a:ext uri="{FF2B5EF4-FFF2-40B4-BE49-F238E27FC236}">
                <a16:creationId xmlns:a16="http://schemas.microsoft.com/office/drawing/2014/main" id="{0EDDF078-693C-88BE-AF25-AAC3E5F766C8}"/>
              </a:ext>
            </a:extLst>
          </p:cNvPr>
          <p:cNvCxnSpPr>
            <a:cxnSpLocks noChangeShapeType="1"/>
          </p:cNvCxnSpPr>
          <p:nvPr/>
        </p:nvCxnSpPr>
        <p:spPr bwMode="auto">
          <a:xfrm flipH="1">
            <a:off x="2935110" y="4008093"/>
            <a:ext cx="62658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 name="Łącznik prostoliniowy 14">
            <a:extLst>
              <a:ext uri="{FF2B5EF4-FFF2-40B4-BE49-F238E27FC236}">
                <a16:creationId xmlns:a16="http://schemas.microsoft.com/office/drawing/2014/main" id="{96FE57D5-74ED-5F47-44FA-1EE3A1BA207F}"/>
              </a:ext>
            </a:extLst>
          </p:cNvPr>
          <p:cNvCxnSpPr>
            <a:cxnSpLocks noChangeShapeType="1"/>
          </p:cNvCxnSpPr>
          <p:nvPr/>
        </p:nvCxnSpPr>
        <p:spPr bwMode="auto">
          <a:xfrm>
            <a:off x="2935110" y="4008093"/>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 name="Łącznik prostoliniowy 16">
            <a:extLst>
              <a:ext uri="{FF2B5EF4-FFF2-40B4-BE49-F238E27FC236}">
                <a16:creationId xmlns:a16="http://schemas.microsoft.com/office/drawing/2014/main" id="{D9BBFA41-FAE4-31F9-72BF-59F0421DA355}"/>
              </a:ext>
            </a:extLst>
          </p:cNvPr>
          <p:cNvCxnSpPr>
            <a:cxnSpLocks noChangeShapeType="1"/>
          </p:cNvCxnSpPr>
          <p:nvPr/>
        </p:nvCxnSpPr>
        <p:spPr bwMode="auto">
          <a:xfrm>
            <a:off x="4875035" y="4008093"/>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 name="Łącznik prostoliniowy 17">
            <a:extLst>
              <a:ext uri="{FF2B5EF4-FFF2-40B4-BE49-F238E27FC236}">
                <a16:creationId xmlns:a16="http://schemas.microsoft.com/office/drawing/2014/main" id="{C3EC0D8A-63C8-23D3-1364-82991438C2BF}"/>
              </a:ext>
            </a:extLst>
          </p:cNvPr>
          <p:cNvCxnSpPr>
            <a:cxnSpLocks noChangeShapeType="1"/>
          </p:cNvCxnSpPr>
          <p:nvPr/>
        </p:nvCxnSpPr>
        <p:spPr bwMode="auto">
          <a:xfrm>
            <a:off x="7184847" y="4008093"/>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 name="Łącznik prostoliniowy 18">
            <a:extLst>
              <a:ext uri="{FF2B5EF4-FFF2-40B4-BE49-F238E27FC236}">
                <a16:creationId xmlns:a16="http://schemas.microsoft.com/office/drawing/2014/main" id="{A399F59F-0EC7-E193-1988-58C4C84A3F8A}"/>
              </a:ext>
            </a:extLst>
          </p:cNvPr>
          <p:cNvCxnSpPr>
            <a:cxnSpLocks noChangeShapeType="1"/>
          </p:cNvCxnSpPr>
          <p:nvPr/>
        </p:nvCxnSpPr>
        <p:spPr bwMode="auto">
          <a:xfrm>
            <a:off x="6608585" y="3863630"/>
            <a:ext cx="0" cy="1444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 name="Łącznik prostoliniowy 20">
            <a:extLst>
              <a:ext uri="{FF2B5EF4-FFF2-40B4-BE49-F238E27FC236}">
                <a16:creationId xmlns:a16="http://schemas.microsoft.com/office/drawing/2014/main" id="{E4E78890-BF41-1E0E-6343-061805792856}"/>
              </a:ext>
            </a:extLst>
          </p:cNvPr>
          <p:cNvCxnSpPr>
            <a:cxnSpLocks noChangeShapeType="1"/>
          </p:cNvCxnSpPr>
          <p:nvPr/>
        </p:nvCxnSpPr>
        <p:spPr bwMode="auto">
          <a:xfrm>
            <a:off x="9200972" y="4008093"/>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8" name="Prostokąt 22">
            <a:extLst>
              <a:ext uri="{FF2B5EF4-FFF2-40B4-BE49-F238E27FC236}">
                <a16:creationId xmlns:a16="http://schemas.microsoft.com/office/drawing/2014/main" id="{18F73F9B-C463-DAB5-2998-25312F6B7A85}"/>
              </a:ext>
            </a:extLst>
          </p:cNvPr>
          <p:cNvSpPr>
            <a:spLocks noChangeArrowheads="1"/>
          </p:cNvSpPr>
          <p:nvPr/>
        </p:nvSpPr>
        <p:spPr bwMode="auto">
          <a:xfrm>
            <a:off x="2115960" y="4995518"/>
            <a:ext cx="1260475" cy="358775"/>
          </a:xfrm>
          <a:prstGeom prst="rect">
            <a:avLst/>
          </a:prstGeom>
          <a:solidFill>
            <a:schemeClr val="accent1">
              <a:lumMod val="40000"/>
              <a:lumOff val="6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Personnel</a:t>
            </a:r>
          </a:p>
        </p:txBody>
      </p:sp>
      <p:sp>
        <p:nvSpPr>
          <p:cNvPr id="19" name="Prostokąt 23">
            <a:extLst>
              <a:ext uri="{FF2B5EF4-FFF2-40B4-BE49-F238E27FC236}">
                <a16:creationId xmlns:a16="http://schemas.microsoft.com/office/drawing/2014/main" id="{5D944CED-0939-0640-9E37-23FD4C3ACF3E}"/>
              </a:ext>
            </a:extLst>
          </p:cNvPr>
          <p:cNvSpPr>
            <a:spLocks noChangeArrowheads="1"/>
          </p:cNvSpPr>
          <p:nvPr/>
        </p:nvSpPr>
        <p:spPr bwMode="auto">
          <a:xfrm>
            <a:off x="3690760" y="4995518"/>
            <a:ext cx="1003300" cy="358775"/>
          </a:xfrm>
          <a:prstGeom prst="rect">
            <a:avLst/>
          </a:prstGeom>
          <a:solidFill>
            <a:schemeClr val="accent1">
              <a:lumMod val="40000"/>
              <a:lumOff val="6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Sales</a:t>
            </a:r>
          </a:p>
        </p:txBody>
      </p:sp>
      <p:sp>
        <p:nvSpPr>
          <p:cNvPr id="20" name="Prostokąt 24">
            <a:extLst>
              <a:ext uri="{FF2B5EF4-FFF2-40B4-BE49-F238E27FC236}">
                <a16:creationId xmlns:a16="http://schemas.microsoft.com/office/drawing/2014/main" id="{CC5F424A-19E1-2A2F-C412-41CD021543C0}"/>
              </a:ext>
            </a:extLst>
          </p:cNvPr>
          <p:cNvSpPr>
            <a:spLocks noChangeArrowheads="1"/>
          </p:cNvSpPr>
          <p:nvPr/>
        </p:nvSpPr>
        <p:spPr bwMode="auto">
          <a:xfrm>
            <a:off x="5089347" y="4995518"/>
            <a:ext cx="1108075" cy="358775"/>
          </a:xfrm>
          <a:prstGeom prst="rect">
            <a:avLst/>
          </a:prstGeom>
          <a:solidFill>
            <a:schemeClr val="accent1">
              <a:lumMod val="40000"/>
              <a:lumOff val="6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Finance</a:t>
            </a:r>
          </a:p>
        </p:txBody>
      </p:sp>
      <p:sp>
        <p:nvSpPr>
          <p:cNvPr id="21" name="Prostokąt 25">
            <a:extLst>
              <a:ext uri="{FF2B5EF4-FFF2-40B4-BE49-F238E27FC236}">
                <a16:creationId xmlns:a16="http://schemas.microsoft.com/office/drawing/2014/main" id="{4B8BD669-89E7-2AF8-B50F-54B9358EE3C8}"/>
              </a:ext>
            </a:extLst>
          </p:cNvPr>
          <p:cNvSpPr>
            <a:spLocks noChangeArrowheads="1"/>
          </p:cNvSpPr>
          <p:nvPr/>
        </p:nvSpPr>
        <p:spPr bwMode="auto">
          <a:xfrm>
            <a:off x="7067372" y="4995518"/>
            <a:ext cx="2106613" cy="358775"/>
          </a:xfrm>
          <a:prstGeom prst="rect">
            <a:avLst/>
          </a:prstGeom>
          <a:solidFill>
            <a:schemeClr val="accent1">
              <a:lumMod val="40000"/>
              <a:lumOff val="60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Manufacturing</a:t>
            </a:r>
          </a:p>
        </p:txBody>
      </p:sp>
      <p:cxnSp>
        <p:nvCxnSpPr>
          <p:cNvPr id="22" name="Łącznik prostoliniowy 33">
            <a:extLst>
              <a:ext uri="{FF2B5EF4-FFF2-40B4-BE49-F238E27FC236}">
                <a16:creationId xmlns:a16="http://schemas.microsoft.com/office/drawing/2014/main" id="{22E9B457-B323-0897-84A0-425494692FF2}"/>
              </a:ext>
            </a:extLst>
          </p:cNvPr>
          <p:cNvCxnSpPr>
            <a:cxnSpLocks noChangeShapeType="1"/>
          </p:cNvCxnSpPr>
          <p:nvPr/>
        </p:nvCxnSpPr>
        <p:spPr bwMode="auto">
          <a:xfrm>
            <a:off x="4890910" y="4655793"/>
            <a:ext cx="0"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 name="Łącznik prostoliniowy 39">
            <a:extLst>
              <a:ext uri="{FF2B5EF4-FFF2-40B4-BE49-F238E27FC236}">
                <a16:creationId xmlns:a16="http://schemas.microsoft.com/office/drawing/2014/main" id="{B828F486-554D-E38B-F9FD-2047FA74E1B2}"/>
              </a:ext>
            </a:extLst>
          </p:cNvPr>
          <p:cNvCxnSpPr>
            <a:cxnSpLocks noChangeShapeType="1"/>
          </p:cNvCxnSpPr>
          <p:nvPr/>
        </p:nvCxnSpPr>
        <p:spPr bwMode="auto">
          <a:xfrm flipH="1">
            <a:off x="2639835" y="4871693"/>
            <a:ext cx="54006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4" name="Łącznik prostoliniowy 57">
            <a:extLst>
              <a:ext uri="{FF2B5EF4-FFF2-40B4-BE49-F238E27FC236}">
                <a16:creationId xmlns:a16="http://schemas.microsoft.com/office/drawing/2014/main" id="{9F3935E4-AF4E-40A0-A7C4-AEAF9FD9192C}"/>
              </a:ext>
            </a:extLst>
          </p:cNvPr>
          <p:cNvCxnSpPr>
            <a:cxnSpLocks noChangeShapeType="1"/>
          </p:cNvCxnSpPr>
          <p:nvPr/>
        </p:nvCxnSpPr>
        <p:spPr bwMode="auto">
          <a:xfrm>
            <a:off x="4219397" y="487645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 name="Łącznik prostoliniowy 58">
            <a:extLst>
              <a:ext uri="{FF2B5EF4-FFF2-40B4-BE49-F238E27FC236}">
                <a16:creationId xmlns:a16="http://schemas.microsoft.com/office/drawing/2014/main" id="{5099A42E-1202-6FF7-6A5D-4165B6CEA9AC}"/>
              </a:ext>
            </a:extLst>
          </p:cNvPr>
          <p:cNvCxnSpPr>
            <a:cxnSpLocks noChangeShapeType="1"/>
          </p:cNvCxnSpPr>
          <p:nvPr/>
        </p:nvCxnSpPr>
        <p:spPr bwMode="auto">
          <a:xfrm>
            <a:off x="5564010" y="487645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 name="Łącznik prostoliniowy 59">
            <a:extLst>
              <a:ext uri="{FF2B5EF4-FFF2-40B4-BE49-F238E27FC236}">
                <a16:creationId xmlns:a16="http://schemas.microsoft.com/office/drawing/2014/main" id="{B26B931D-0CDA-0B38-7335-A755A76D3441}"/>
              </a:ext>
            </a:extLst>
          </p:cNvPr>
          <p:cNvCxnSpPr>
            <a:cxnSpLocks noChangeShapeType="1"/>
          </p:cNvCxnSpPr>
          <p:nvPr/>
        </p:nvCxnSpPr>
        <p:spPr bwMode="auto">
          <a:xfrm>
            <a:off x="2639835" y="487645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 name="Łącznik prostoliniowy 62">
            <a:extLst>
              <a:ext uri="{FF2B5EF4-FFF2-40B4-BE49-F238E27FC236}">
                <a16:creationId xmlns:a16="http://schemas.microsoft.com/office/drawing/2014/main" id="{96712FE5-5921-630C-C873-08BB323B820D}"/>
              </a:ext>
            </a:extLst>
          </p:cNvPr>
          <p:cNvCxnSpPr>
            <a:cxnSpLocks noChangeShapeType="1"/>
          </p:cNvCxnSpPr>
          <p:nvPr/>
        </p:nvCxnSpPr>
        <p:spPr bwMode="auto">
          <a:xfrm>
            <a:off x="8040510" y="4876455"/>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8" name="Prostokąt 27">
            <a:extLst>
              <a:ext uri="{FF2B5EF4-FFF2-40B4-BE49-F238E27FC236}">
                <a16:creationId xmlns:a16="http://schemas.microsoft.com/office/drawing/2014/main" id="{1919F02D-7F2E-08DC-1C1A-5051993E4690}"/>
              </a:ext>
            </a:extLst>
          </p:cNvPr>
          <p:cNvSpPr/>
          <p:nvPr/>
        </p:nvSpPr>
        <p:spPr bwMode="auto">
          <a:xfrm>
            <a:off x="753155" y="5514580"/>
            <a:ext cx="10685690" cy="842588"/>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eaLnBrk="1" hangingPunct="1">
              <a:defRPr/>
            </a:pP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The divisional structure is particulary appropriate where there are a number of very different product or service offerings, significantly different market conditions for </a:t>
            </a:r>
            <a:r>
              <a:rPr lang="pl-PL" sz="1700"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different</a:t>
            </a: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 </a:t>
            </a:r>
            <a:r>
              <a:rPr lang="pl-PL" sz="1700"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offerings</a:t>
            </a: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 or large geographic dispersion.</a:t>
            </a:r>
          </a:p>
        </p:txBody>
      </p:sp>
    </p:spTree>
    <p:extLst>
      <p:ext uri="{BB962C8B-B14F-4D97-AF65-F5344CB8AC3E}">
        <p14:creationId xmlns:p14="http://schemas.microsoft.com/office/powerpoint/2010/main" val="2529738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a:bodyPr>
          <a:lstStyle/>
          <a:p>
            <a:pPr rtl="0"/>
            <a:r>
              <a:rPr lang="pl-PL" sz="5000" dirty="0" err="1">
                <a:latin typeface="Tenorite" panose="00000500000000000000" pitchFamily="2" charset="0"/>
              </a:rPr>
              <a:t>Divisional</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210150" y="2802065"/>
            <a:ext cx="9022324" cy="3785935"/>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300" b="1" dirty="0" err="1">
                <a:solidFill>
                  <a:srgbClr val="663300"/>
                </a:solidFill>
                <a:latin typeface="Tenorite" panose="00000500000000000000" pitchFamily="2" charset="0"/>
              </a:rPr>
              <a:t>Advant</a:t>
            </a:r>
            <a:r>
              <a:rPr lang="pl-PL" sz="2300" b="1" dirty="0">
                <a:solidFill>
                  <a:srgbClr val="663300"/>
                </a:solidFill>
                <a:latin typeface="Tenorite" panose="00000500000000000000" pitchFamily="2" charset="0"/>
              </a:rPr>
              <a:t>a</a:t>
            </a:r>
            <a:r>
              <a:rPr lang="en-US" sz="2300" b="1" dirty="0" err="1">
                <a:solidFill>
                  <a:srgbClr val="663300"/>
                </a:solidFill>
                <a:latin typeface="Tenorite" panose="00000500000000000000" pitchFamily="2" charset="0"/>
              </a:rPr>
              <a:t>ges</a:t>
            </a:r>
            <a:endParaRPr lang="en-US" sz="2300" b="1" dirty="0">
              <a:solidFill>
                <a:srgbClr val="663300"/>
              </a:solidFill>
              <a:latin typeface="Tenorite" panose="00000500000000000000" pitchFamily="2" charset="0"/>
            </a:endParaRP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Fast response to changing environmental conditions</a:t>
            </a:r>
          </a:p>
          <a:p>
            <a:pPr marL="1177200" lvl="2" indent="-457200" algn="l">
              <a:lnSpc>
                <a:spcPct val="100000"/>
              </a:lnSpc>
              <a:spcBef>
                <a:spcPts val="400"/>
              </a:spcBef>
              <a:spcAft>
                <a:spcPts val="600"/>
              </a:spcAft>
              <a:buClr>
                <a:srgbClr val="663300"/>
              </a:buClr>
              <a:buFont typeface="Wingdings" panose="05000000000000000000" pitchFamily="2" charset="2"/>
              <a:buChar char="§"/>
            </a:pPr>
            <a:r>
              <a:rPr lang="en-US" sz="1900" dirty="0">
                <a:solidFill>
                  <a:srgbClr val="663300"/>
                </a:solidFill>
                <a:latin typeface="Tenorite" panose="00000500000000000000" pitchFamily="2" charset="0"/>
              </a:rPr>
              <a:t>Customer satisfaction is typically higher</a:t>
            </a:r>
          </a:p>
          <a:p>
            <a:pPr marL="457200" indent="-457200" algn="just" rtl="0">
              <a:lnSpc>
                <a:spcPct val="100000"/>
              </a:lnSpc>
              <a:spcBef>
                <a:spcPts val="400"/>
              </a:spcBef>
              <a:buClr>
                <a:srgbClr val="663300"/>
              </a:buClr>
              <a:buFont typeface="Arial" panose="020B0604020202020204" pitchFamily="34" charset="0"/>
              <a:buChar char="•"/>
            </a:pPr>
            <a:r>
              <a:rPr lang="en-US" sz="2300" b="1" dirty="0">
                <a:solidFill>
                  <a:srgbClr val="663300"/>
                </a:solidFill>
                <a:latin typeface="Tenorite" panose="00000500000000000000" pitchFamily="2" charset="0"/>
              </a:rPr>
              <a:t>Disadvantages</a:t>
            </a:r>
            <a:endParaRPr lang="pl-PL" sz="2300" b="1" dirty="0">
              <a:solidFill>
                <a:srgbClr val="663300"/>
              </a:solidFill>
              <a:latin typeface="Tenorite" panose="00000500000000000000" pitchFamily="2" charset="0"/>
            </a:endParaRP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Duplication of functions across divisions</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Poorer co-ordination across divisional boundaries</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Lower technical specialization and specialist competence in divisional functions</a:t>
            </a: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Limitations to integration and standardization across divi</a:t>
            </a:r>
            <a:r>
              <a:rPr kumimoji="0" lang="pl-PL"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si</a:t>
            </a:r>
            <a:r>
              <a:rPr kumimoji="0" lang="en-US" sz="1900" b="0" i="0" u="none" strike="noStrike" kern="1200" cap="none" spc="50" normalizeH="0" baseline="0" noProof="0" dirty="0" err="1">
                <a:ln>
                  <a:noFill/>
                </a:ln>
                <a:solidFill>
                  <a:srgbClr val="663300"/>
                </a:solidFill>
                <a:effectLst/>
                <a:uLnTx/>
                <a:uFillTx/>
                <a:latin typeface="Tenorite" panose="00000500000000000000" pitchFamily="2" charset="0"/>
                <a:ea typeface="+mn-ea"/>
                <a:cs typeface="Calibri" panose="020F0502020204030204" pitchFamily="34" charset="0"/>
              </a:rPr>
              <a:t>ons</a:t>
            </a:r>
            <a:endPar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300" b="1" dirty="0">
              <a:solidFill>
                <a:srgbClr val="663300"/>
              </a:solidFill>
              <a:latin typeface="Tenorite" panose="00000500000000000000" pitchFamily="2" charset="0"/>
            </a:endParaRPr>
          </a:p>
        </p:txBody>
      </p:sp>
    </p:spTree>
    <p:extLst>
      <p:ext uri="{BB962C8B-B14F-4D97-AF65-F5344CB8AC3E}">
        <p14:creationId xmlns:p14="http://schemas.microsoft.com/office/powerpoint/2010/main" val="4144344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pPr rtl="0"/>
            <a:r>
              <a:rPr lang="pl-PL" sz="5000" dirty="0" err="1">
                <a:latin typeface="Tenorite" panose="00000500000000000000" pitchFamily="2" charset="0"/>
              </a:rPr>
              <a:t>Process-oriented</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400127" y="2304907"/>
            <a:ext cx="7391746" cy="990977"/>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1900" b="1" dirty="0">
                <a:solidFill>
                  <a:srgbClr val="663300"/>
                </a:solidFill>
                <a:latin typeface="Tenorite" panose="00000500000000000000" pitchFamily="2" charset="0"/>
              </a:rPr>
              <a:t>Process-oriented structure </a:t>
            </a:r>
            <a:r>
              <a:rPr lang="en-US" sz="1900" dirty="0">
                <a:solidFill>
                  <a:srgbClr val="663300"/>
                </a:solidFill>
                <a:latin typeface="Tenorite" panose="00000500000000000000" pitchFamily="2" charset="0"/>
              </a:rPr>
              <a:t>– seeks to align the structure of the organization with the workflows and core processes that aim at addressing and meeting customer needs.</a:t>
            </a:r>
          </a:p>
        </p:txBody>
      </p:sp>
      <p:sp>
        <p:nvSpPr>
          <p:cNvPr id="7" name="Prostokąt 3">
            <a:extLst>
              <a:ext uri="{FF2B5EF4-FFF2-40B4-BE49-F238E27FC236}">
                <a16:creationId xmlns:a16="http://schemas.microsoft.com/office/drawing/2014/main" id="{1E562FC6-CC41-D08A-9AD4-0285C0C7D9D5}"/>
              </a:ext>
            </a:extLst>
          </p:cNvPr>
          <p:cNvSpPr>
            <a:spLocks noChangeArrowheads="1"/>
          </p:cNvSpPr>
          <p:nvPr/>
        </p:nvSpPr>
        <p:spPr bwMode="auto">
          <a:xfrm>
            <a:off x="5866073" y="3310498"/>
            <a:ext cx="1728788" cy="503238"/>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a:solidFill>
                  <a:schemeClr val="bg1"/>
                </a:solidFill>
                <a:latin typeface="Tenorite" panose="00000500000000000000" pitchFamily="2" charset="0"/>
              </a:rPr>
              <a:t>CEO</a:t>
            </a:r>
          </a:p>
        </p:txBody>
      </p:sp>
      <p:sp>
        <p:nvSpPr>
          <p:cNvPr id="8" name="Prostokąt 5">
            <a:extLst>
              <a:ext uri="{FF2B5EF4-FFF2-40B4-BE49-F238E27FC236}">
                <a16:creationId xmlns:a16="http://schemas.microsoft.com/office/drawing/2014/main" id="{F258C471-FE83-1DA6-CC42-00F075827748}"/>
              </a:ext>
            </a:extLst>
          </p:cNvPr>
          <p:cNvSpPr>
            <a:spLocks noChangeArrowheads="1"/>
          </p:cNvSpPr>
          <p:nvPr/>
        </p:nvSpPr>
        <p:spPr bwMode="auto">
          <a:xfrm>
            <a:off x="2403368" y="4836086"/>
            <a:ext cx="1595805"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dirty="0" err="1">
                <a:solidFill>
                  <a:schemeClr val="bg1"/>
                </a:solidFill>
                <a:latin typeface="Tenorite" panose="00000500000000000000" pitchFamily="2" charset="0"/>
              </a:rPr>
              <a:t>Neonatal</a:t>
            </a: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intensive</a:t>
            </a: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care</a:t>
            </a:r>
            <a:r>
              <a:rPr lang="pl-PL" altLang="pl-PL" sz="1400" b="1" u="none" dirty="0">
                <a:solidFill>
                  <a:schemeClr val="bg1"/>
                </a:solidFill>
                <a:latin typeface="Tenorite" panose="00000500000000000000" pitchFamily="2" charset="0"/>
              </a:rPr>
              <a:t> unit</a:t>
            </a:r>
          </a:p>
        </p:txBody>
      </p:sp>
      <p:sp>
        <p:nvSpPr>
          <p:cNvPr id="9" name="Prostokąt 6">
            <a:extLst>
              <a:ext uri="{FF2B5EF4-FFF2-40B4-BE49-F238E27FC236}">
                <a16:creationId xmlns:a16="http://schemas.microsoft.com/office/drawing/2014/main" id="{E58B337C-A145-7825-45A9-C9AEE44C5882}"/>
              </a:ext>
            </a:extLst>
          </p:cNvPr>
          <p:cNvSpPr>
            <a:spLocks noChangeArrowheads="1"/>
          </p:cNvSpPr>
          <p:nvPr/>
        </p:nvSpPr>
        <p:spPr bwMode="auto">
          <a:xfrm>
            <a:off x="4138873" y="4102661"/>
            <a:ext cx="1727200"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a:solidFill>
                  <a:schemeClr val="bg1"/>
                </a:solidFill>
                <a:latin typeface="Tenorite" panose="00000500000000000000" pitchFamily="2" charset="0"/>
              </a:rPr>
              <a:t>Patient records</a:t>
            </a:r>
          </a:p>
        </p:txBody>
      </p:sp>
      <p:sp>
        <p:nvSpPr>
          <p:cNvPr id="10" name="Prostokąt 7">
            <a:extLst>
              <a:ext uri="{FF2B5EF4-FFF2-40B4-BE49-F238E27FC236}">
                <a16:creationId xmlns:a16="http://schemas.microsoft.com/office/drawing/2014/main" id="{F398242F-C33F-41CF-358E-0B2F210CBF56}"/>
              </a:ext>
            </a:extLst>
          </p:cNvPr>
          <p:cNvSpPr>
            <a:spLocks noChangeArrowheads="1"/>
          </p:cNvSpPr>
          <p:nvPr/>
        </p:nvSpPr>
        <p:spPr bwMode="auto">
          <a:xfrm>
            <a:off x="6515361" y="4102661"/>
            <a:ext cx="1727200"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a:solidFill>
                  <a:schemeClr val="bg1"/>
                </a:solidFill>
                <a:latin typeface="Tenorite" panose="00000500000000000000" pitchFamily="2" charset="0"/>
              </a:rPr>
              <a:t>Pharmacy services</a:t>
            </a:r>
          </a:p>
        </p:txBody>
      </p:sp>
      <p:sp>
        <p:nvSpPr>
          <p:cNvPr id="11" name="Prostokąt 8">
            <a:extLst>
              <a:ext uri="{FF2B5EF4-FFF2-40B4-BE49-F238E27FC236}">
                <a16:creationId xmlns:a16="http://schemas.microsoft.com/office/drawing/2014/main" id="{28A120F6-C367-21CB-0F33-83A1638E2E15}"/>
              </a:ext>
            </a:extLst>
          </p:cNvPr>
          <p:cNvSpPr>
            <a:spLocks noChangeArrowheads="1"/>
          </p:cNvSpPr>
          <p:nvPr/>
        </p:nvSpPr>
        <p:spPr bwMode="auto">
          <a:xfrm>
            <a:off x="8458461" y="4102661"/>
            <a:ext cx="1908175"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dirty="0" err="1">
                <a:solidFill>
                  <a:schemeClr val="bg1"/>
                </a:solidFill>
                <a:latin typeface="Tenorite" panose="00000500000000000000" pitchFamily="2" charset="0"/>
              </a:rPr>
              <a:t>Purchising</a:t>
            </a:r>
            <a:r>
              <a:rPr lang="pl-PL" altLang="pl-PL" sz="1400" b="1" u="none" dirty="0">
                <a:solidFill>
                  <a:schemeClr val="bg1"/>
                </a:solidFill>
                <a:latin typeface="Tenorite" panose="00000500000000000000" pitchFamily="2" charset="0"/>
              </a:rPr>
              <a:t> and </a:t>
            </a:r>
            <a:r>
              <a:rPr lang="pl-PL" altLang="pl-PL" sz="1400" b="1" u="none" dirty="0" err="1">
                <a:solidFill>
                  <a:schemeClr val="bg1"/>
                </a:solidFill>
                <a:latin typeface="Tenorite" panose="00000500000000000000" pitchFamily="2" charset="0"/>
              </a:rPr>
              <a:t>procurement</a:t>
            </a:r>
            <a:endParaRPr lang="pl-PL" altLang="pl-PL" sz="1400" b="1" u="none" dirty="0">
              <a:solidFill>
                <a:schemeClr val="bg1"/>
              </a:solidFill>
              <a:latin typeface="Tenorite" panose="00000500000000000000" pitchFamily="2" charset="0"/>
            </a:endParaRPr>
          </a:p>
        </p:txBody>
      </p:sp>
      <p:cxnSp>
        <p:nvCxnSpPr>
          <p:cNvPr id="12" name="Łącznik prostoliniowy 9">
            <a:extLst>
              <a:ext uri="{FF2B5EF4-FFF2-40B4-BE49-F238E27FC236}">
                <a16:creationId xmlns:a16="http://schemas.microsoft.com/office/drawing/2014/main" id="{4F5E5521-E7F8-E48E-E223-D5BB70B711AF}"/>
              </a:ext>
            </a:extLst>
          </p:cNvPr>
          <p:cNvCxnSpPr>
            <a:cxnSpLocks noChangeShapeType="1"/>
          </p:cNvCxnSpPr>
          <p:nvPr/>
        </p:nvCxnSpPr>
        <p:spPr bwMode="auto">
          <a:xfrm flipH="1">
            <a:off x="2238636" y="3978836"/>
            <a:ext cx="70850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 name="Łącznik prostoliniowy 10">
            <a:extLst>
              <a:ext uri="{FF2B5EF4-FFF2-40B4-BE49-F238E27FC236}">
                <a16:creationId xmlns:a16="http://schemas.microsoft.com/office/drawing/2014/main" id="{33E46B1A-50EC-8721-2C23-EF153F7E5276}"/>
              </a:ext>
            </a:extLst>
          </p:cNvPr>
          <p:cNvCxnSpPr>
            <a:cxnSpLocks noChangeShapeType="1"/>
          </p:cNvCxnSpPr>
          <p:nvPr/>
        </p:nvCxnSpPr>
        <p:spPr bwMode="auto">
          <a:xfrm>
            <a:off x="2238636" y="3978836"/>
            <a:ext cx="0" cy="23399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 name="Łącznik prostoliniowy 12">
            <a:extLst>
              <a:ext uri="{FF2B5EF4-FFF2-40B4-BE49-F238E27FC236}">
                <a16:creationId xmlns:a16="http://schemas.microsoft.com/office/drawing/2014/main" id="{7FC06E2C-BD9D-4E63-5319-0549FB088E8C}"/>
              </a:ext>
            </a:extLst>
          </p:cNvPr>
          <p:cNvCxnSpPr>
            <a:cxnSpLocks noChangeShapeType="1"/>
          </p:cNvCxnSpPr>
          <p:nvPr/>
        </p:nvCxnSpPr>
        <p:spPr bwMode="auto">
          <a:xfrm>
            <a:off x="4997711" y="3978836"/>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 name="Łącznik prostoliniowy 13">
            <a:extLst>
              <a:ext uri="{FF2B5EF4-FFF2-40B4-BE49-F238E27FC236}">
                <a16:creationId xmlns:a16="http://schemas.microsoft.com/office/drawing/2014/main" id="{4435A489-1D39-8F43-9000-E0044809ABA1}"/>
              </a:ext>
            </a:extLst>
          </p:cNvPr>
          <p:cNvCxnSpPr>
            <a:cxnSpLocks noChangeShapeType="1"/>
          </p:cNvCxnSpPr>
          <p:nvPr/>
        </p:nvCxnSpPr>
        <p:spPr bwMode="auto">
          <a:xfrm>
            <a:off x="7307523" y="3978836"/>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 name="Łącznik prostoliniowy 14">
            <a:extLst>
              <a:ext uri="{FF2B5EF4-FFF2-40B4-BE49-F238E27FC236}">
                <a16:creationId xmlns:a16="http://schemas.microsoft.com/office/drawing/2014/main" id="{6D166296-891A-8E49-0A95-921FCE1EAC3E}"/>
              </a:ext>
            </a:extLst>
          </p:cNvPr>
          <p:cNvCxnSpPr>
            <a:cxnSpLocks noChangeShapeType="1"/>
          </p:cNvCxnSpPr>
          <p:nvPr/>
        </p:nvCxnSpPr>
        <p:spPr bwMode="auto">
          <a:xfrm>
            <a:off x="6731261" y="3834373"/>
            <a:ext cx="0" cy="1444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 name="Łącznik prostoliniowy 15">
            <a:extLst>
              <a:ext uri="{FF2B5EF4-FFF2-40B4-BE49-F238E27FC236}">
                <a16:creationId xmlns:a16="http://schemas.microsoft.com/office/drawing/2014/main" id="{180BE786-E2B1-782C-81E9-F5DD3BEDB59E}"/>
              </a:ext>
            </a:extLst>
          </p:cNvPr>
          <p:cNvCxnSpPr>
            <a:cxnSpLocks noChangeShapeType="1"/>
          </p:cNvCxnSpPr>
          <p:nvPr/>
        </p:nvCxnSpPr>
        <p:spPr bwMode="auto">
          <a:xfrm>
            <a:off x="9323648" y="3978836"/>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8" name="Prostokąt 26">
            <a:extLst>
              <a:ext uri="{FF2B5EF4-FFF2-40B4-BE49-F238E27FC236}">
                <a16:creationId xmlns:a16="http://schemas.microsoft.com/office/drawing/2014/main" id="{9C95E028-7E8D-4A0A-B230-6D1F0EF126E9}"/>
              </a:ext>
            </a:extLst>
          </p:cNvPr>
          <p:cNvSpPr>
            <a:spLocks noChangeArrowheads="1"/>
          </p:cNvSpPr>
          <p:nvPr/>
        </p:nvSpPr>
        <p:spPr bwMode="auto">
          <a:xfrm>
            <a:off x="2403368" y="5447273"/>
            <a:ext cx="1595805" cy="503238"/>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a:solidFill>
                  <a:schemeClr val="bg1"/>
                </a:solidFill>
                <a:latin typeface="Tenorite" panose="00000500000000000000" pitchFamily="2" charset="0"/>
              </a:rPr>
              <a:t>Prenatal outpatient care</a:t>
            </a:r>
          </a:p>
        </p:txBody>
      </p:sp>
      <p:sp>
        <p:nvSpPr>
          <p:cNvPr id="19" name="Prostokąt 27">
            <a:extLst>
              <a:ext uri="{FF2B5EF4-FFF2-40B4-BE49-F238E27FC236}">
                <a16:creationId xmlns:a16="http://schemas.microsoft.com/office/drawing/2014/main" id="{B73A15CA-82F2-0AB2-F290-E0B0011DBFFC}"/>
              </a:ext>
            </a:extLst>
          </p:cNvPr>
          <p:cNvSpPr>
            <a:spLocks noChangeArrowheads="1"/>
          </p:cNvSpPr>
          <p:nvPr/>
        </p:nvSpPr>
        <p:spPr bwMode="auto">
          <a:xfrm>
            <a:off x="2403368" y="6045761"/>
            <a:ext cx="1595805" cy="504825"/>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other</a:t>
            </a: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core</a:t>
            </a: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process</a:t>
            </a:r>
            <a:r>
              <a:rPr lang="pl-PL" altLang="pl-PL" sz="1400" b="1" u="none" dirty="0">
                <a:solidFill>
                  <a:schemeClr val="bg1"/>
                </a:solidFill>
                <a:latin typeface="Tenorite" panose="00000500000000000000" pitchFamily="2" charset="0"/>
              </a:rPr>
              <a:t> </a:t>
            </a:r>
            <a:r>
              <a:rPr lang="pl-PL" altLang="pl-PL" sz="1400" b="1" u="none" dirty="0" err="1">
                <a:solidFill>
                  <a:schemeClr val="bg1"/>
                </a:solidFill>
                <a:latin typeface="Tenorite" panose="00000500000000000000" pitchFamily="2" charset="0"/>
              </a:rPr>
              <a:t>groups</a:t>
            </a:r>
            <a:r>
              <a:rPr lang="pl-PL" altLang="pl-PL" sz="1400" b="1" u="none" dirty="0">
                <a:solidFill>
                  <a:schemeClr val="bg1"/>
                </a:solidFill>
                <a:latin typeface="Tenorite" panose="00000500000000000000" pitchFamily="2" charset="0"/>
              </a:rPr>
              <a:t>)</a:t>
            </a:r>
          </a:p>
        </p:txBody>
      </p:sp>
      <p:cxnSp>
        <p:nvCxnSpPr>
          <p:cNvPr id="20" name="Łącznik prostoliniowy 29">
            <a:extLst>
              <a:ext uri="{FF2B5EF4-FFF2-40B4-BE49-F238E27FC236}">
                <a16:creationId xmlns:a16="http://schemas.microsoft.com/office/drawing/2014/main" id="{BECAFC13-4638-BD28-B5C9-ACD118A54681}"/>
              </a:ext>
            </a:extLst>
          </p:cNvPr>
          <p:cNvCxnSpPr>
            <a:cxnSpLocks noChangeShapeType="1"/>
            <a:stCxn id="8" idx="1"/>
          </p:cNvCxnSpPr>
          <p:nvPr/>
        </p:nvCxnSpPr>
        <p:spPr bwMode="auto">
          <a:xfrm flipH="1">
            <a:off x="2238636" y="5087705"/>
            <a:ext cx="164732" cy="79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 name="Łącznik prostoliniowy 35">
            <a:extLst>
              <a:ext uri="{FF2B5EF4-FFF2-40B4-BE49-F238E27FC236}">
                <a16:creationId xmlns:a16="http://schemas.microsoft.com/office/drawing/2014/main" id="{0F26A176-10C4-442A-325C-E4C1CFFB736C}"/>
              </a:ext>
            </a:extLst>
          </p:cNvPr>
          <p:cNvCxnSpPr>
            <a:cxnSpLocks noChangeShapeType="1"/>
            <a:stCxn id="18" idx="1"/>
          </p:cNvCxnSpPr>
          <p:nvPr/>
        </p:nvCxnSpPr>
        <p:spPr bwMode="auto">
          <a:xfrm flipH="1" flipV="1">
            <a:off x="2238636" y="5698098"/>
            <a:ext cx="164732" cy="79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 name="Łącznik prostoliniowy 36">
            <a:extLst>
              <a:ext uri="{FF2B5EF4-FFF2-40B4-BE49-F238E27FC236}">
                <a16:creationId xmlns:a16="http://schemas.microsoft.com/office/drawing/2014/main" id="{6DADC686-C605-22BC-795B-6BFB916F9576}"/>
              </a:ext>
            </a:extLst>
          </p:cNvPr>
          <p:cNvCxnSpPr>
            <a:cxnSpLocks noChangeShapeType="1"/>
          </p:cNvCxnSpPr>
          <p:nvPr/>
        </p:nvCxnSpPr>
        <p:spPr bwMode="auto">
          <a:xfrm flipH="1">
            <a:off x="2238636" y="6328336"/>
            <a:ext cx="16473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 name="Łącznik prostoliniowy 37">
            <a:extLst>
              <a:ext uri="{FF2B5EF4-FFF2-40B4-BE49-F238E27FC236}">
                <a16:creationId xmlns:a16="http://schemas.microsoft.com/office/drawing/2014/main" id="{70B97BA9-0F70-6D4B-83A2-3C4FBC4F29ED}"/>
              </a:ext>
            </a:extLst>
          </p:cNvPr>
          <p:cNvCxnSpPr>
            <a:cxnSpLocks noChangeShapeType="1"/>
          </p:cNvCxnSpPr>
          <p:nvPr/>
        </p:nvCxnSpPr>
        <p:spPr bwMode="auto">
          <a:xfrm flipH="1">
            <a:off x="3999173" y="5088498"/>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4" name="Łącznik prostoliniowy 41">
            <a:extLst>
              <a:ext uri="{FF2B5EF4-FFF2-40B4-BE49-F238E27FC236}">
                <a16:creationId xmlns:a16="http://schemas.microsoft.com/office/drawing/2014/main" id="{D55E1BC1-928E-925A-2EE2-2A96A7E54BFA}"/>
              </a:ext>
            </a:extLst>
          </p:cNvPr>
          <p:cNvCxnSpPr>
            <a:cxnSpLocks noChangeShapeType="1"/>
          </p:cNvCxnSpPr>
          <p:nvPr/>
        </p:nvCxnSpPr>
        <p:spPr bwMode="auto">
          <a:xfrm flipH="1">
            <a:off x="3999173" y="5698098"/>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5" name="Łącznik prostoliniowy 42">
            <a:extLst>
              <a:ext uri="{FF2B5EF4-FFF2-40B4-BE49-F238E27FC236}">
                <a16:creationId xmlns:a16="http://schemas.microsoft.com/office/drawing/2014/main" id="{8849B659-D16A-8EE8-F4BC-8A1D4839D587}"/>
              </a:ext>
            </a:extLst>
          </p:cNvPr>
          <p:cNvCxnSpPr>
            <a:cxnSpLocks noChangeShapeType="1"/>
          </p:cNvCxnSpPr>
          <p:nvPr/>
        </p:nvCxnSpPr>
        <p:spPr bwMode="auto">
          <a:xfrm flipH="1">
            <a:off x="3999173" y="6318811"/>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041145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r>
              <a:rPr lang="pl-PL" sz="5000" dirty="0" err="1">
                <a:latin typeface="Tenorite" panose="00000500000000000000" pitchFamily="2" charset="0"/>
              </a:rPr>
              <a:t>Process-oriented</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88914" y="2752276"/>
            <a:ext cx="7814171" cy="3502237"/>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300" b="1" dirty="0" err="1">
                <a:solidFill>
                  <a:srgbClr val="663300"/>
                </a:solidFill>
                <a:latin typeface="Tenorite" panose="00000500000000000000" pitchFamily="2" charset="0"/>
              </a:rPr>
              <a:t>Advant</a:t>
            </a:r>
            <a:r>
              <a:rPr lang="pl-PL" sz="2300" b="1" dirty="0">
                <a:solidFill>
                  <a:srgbClr val="663300"/>
                </a:solidFill>
                <a:latin typeface="Tenorite" panose="00000500000000000000" pitchFamily="2" charset="0"/>
              </a:rPr>
              <a:t>a</a:t>
            </a:r>
            <a:r>
              <a:rPr lang="en-US" sz="2300" b="1" dirty="0" err="1">
                <a:solidFill>
                  <a:srgbClr val="663300"/>
                </a:solidFill>
                <a:latin typeface="Tenorite" panose="00000500000000000000" pitchFamily="2" charset="0"/>
              </a:rPr>
              <a:t>ges</a:t>
            </a:r>
            <a:endParaRPr lang="en-US" sz="2300" b="1" dirty="0">
              <a:solidFill>
                <a:srgbClr val="663300"/>
              </a:solidFill>
              <a:latin typeface="Tenorite" panose="00000500000000000000" pitchFamily="2" charset="0"/>
            </a:endParaRP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Flexible and responsive reactions to customer demands</a:t>
            </a: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Minimize the disconnects in flows of information, materials or people</a:t>
            </a: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Provides p</a:t>
            </a:r>
            <a:r>
              <a:rPr lang="pl-PL" sz="1900" dirty="0">
                <a:solidFill>
                  <a:srgbClr val="663300"/>
                </a:solidFill>
                <a:latin typeface="Tenorite" panose="00000500000000000000" pitchFamily="2" charset="0"/>
              </a:rPr>
              <a:t>o</a:t>
            </a:r>
            <a:r>
              <a:rPr lang="en-US" sz="1900" dirty="0" err="1">
                <a:solidFill>
                  <a:srgbClr val="663300"/>
                </a:solidFill>
                <a:latin typeface="Tenorite" panose="00000500000000000000" pitchFamily="2" charset="0"/>
              </a:rPr>
              <a:t>tentially</a:t>
            </a:r>
            <a:r>
              <a:rPr lang="en-US" sz="1900" dirty="0">
                <a:solidFill>
                  <a:srgbClr val="663300"/>
                </a:solidFill>
                <a:latin typeface="Tenorite" panose="00000500000000000000" pitchFamily="2" charset="0"/>
              </a:rPr>
              <a:t> satisfying work environment</a:t>
            </a:r>
          </a:p>
          <a:p>
            <a:pPr marL="1177200" lvl="2" indent="-457200" algn="l">
              <a:lnSpc>
                <a:spcPct val="100000"/>
              </a:lnSpc>
              <a:spcBef>
                <a:spcPts val="400"/>
              </a:spcBef>
              <a:buClr>
                <a:srgbClr val="663300"/>
              </a:buClr>
              <a:buFont typeface="Wingdings" panose="05000000000000000000" pitchFamily="2" charset="2"/>
              <a:buChar char="§"/>
            </a:pPr>
            <a:r>
              <a:rPr lang="en-US" sz="1900" dirty="0">
                <a:solidFill>
                  <a:srgbClr val="663300"/>
                </a:solidFill>
                <a:latin typeface="Tenorite" panose="00000500000000000000" pitchFamily="2" charset="0"/>
              </a:rPr>
              <a:t>Customer satisfaction is typically higher</a:t>
            </a:r>
          </a:p>
          <a:p>
            <a:pPr marL="457200" indent="-457200" algn="just" rtl="0">
              <a:lnSpc>
                <a:spcPct val="100000"/>
              </a:lnSpc>
              <a:spcBef>
                <a:spcPts val="400"/>
              </a:spcBef>
              <a:buClr>
                <a:srgbClr val="663300"/>
              </a:buClr>
              <a:buFont typeface="Arial" panose="020B0604020202020204" pitchFamily="34" charset="0"/>
              <a:buChar char="•"/>
            </a:pPr>
            <a:r>
              <a:rPr lang="en-US" sz="2300" b="1" dirty="0">
                <a:solidFill>
                  <a:srgbClr val="663300"/>
                </a:solidFill>
                <a:latin typeface="Tenorite" panose="00000500000000000000" pitchFamily="2" charset="0"/>
              </a:rPr>
              <a:t>Disadvantages</a:t>
            </a:r>
            <a:endParaRPr lang="pl-PL" sz="2300" b="1" dirty="0">
              <a:solidFill>
                <a:srgbClr val="663300"/>
              </a:solidFill>
              <a:latin typeface="Tenorite" panose="00000500000000000000" pitchFamily="2" charset="0"/>
            </a:endParaRPr>
          </a:p>
          <a:p>
            <a:pPr marL="1177200" marR="0" lvl="2" indent="-457200" algn="l" defTabSz="914400" rtl="0" eaLnBrk="1" fontAlgn="auto" latinLnBrk="0" hangingPunct="1">
              <a:lnSpc>
                <a:spcPct val="100000"/>
              </a:lnSpc>
              <a:spcBef>
                <a:spcPts val="400"/>
              </a:spcBef>
              <a:spcAft>
                <a:spcPts val="0"/>
              </a:spcAft>
              <a:buClr>
                <a:srgbClr val="663300"/>
              </a:buClr>
              <a:buSzTx/>
              <a:buFont typeface="Wingdings" panose="05000000000000000000" pitchFamily="2" charset="2"/>
              <a:buChar char="§"/>
              <a:tabLst/>
              <a:defRPr/>
            </a:pP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The level of failed applications is high (too complex to apply easily, the costs can </a:t>
            </a:r>
            <a:r>
              <a:rPr kumimoji="0" lang="en-US" sz="1900" b="0" i="0" u="none" strike="noStrike" kern="1200" cap="none" spc="50" normalizeH="0" baseline="0" noProof="0" dirty="0" err="1">
                <a:ln>
                  <a:noFill/>
                </a:ln>
                <a:solidFill>
                  <a:srgbClr val="663300"/>
                </a:solidFill>
                <a:effectLst/>
                <a:uLnTx/>
                <a:uFillTx/>
                <a:latin typeface="Tenorite" panose="00000500000000000000" pitchFamily="2" charset="0"/>
                <a:ea typeface="+mn-ea"/>
                <a:cs typeface="Calibri" panose="020F0502020204030204" pitchFamily="34" charset="0"/>
              </a:rPr>
              <a:t>outweight</a:t>
            </a:r>
            <a:r>
              <a:rPr kumimoji="0" lang="en-US" sz="1900" b="0" i="0" u="none" strike="noStrike" kern="1200" cap="none" spc="50" normalizeH="0" baseline="0" noProof="0" dirty="0">
                <a:ln>
                  <a:noFill/>
                </a:ln>
                <a:solidFill>
                  <a:srgbClr val="663300"/>
                </a:solidFill>
                <a:effectLst/>
                <a:uLnTx/>
                <a:uFillTx/>
                <a:latin typeface="Tenorite" panose="00000500000000000000" pitchFamily="2" charset="0"/>
                <a:ea typeface="+mn-ea"/>
                <a:cs typeface="Calibri" panose="020F0502020204030204" pitchFamily="34" charset="0"/>
              </a:rPr>
              <a:t> the benefits)</a:t>
            </a:r>
          </a:p>
        </p:txBody>
      </p:sp>
    </p:spTree>
    <p:extLst>
      <p:ext uri="{BB962C8B-B14F-4D97-AF65-F5344CB8AC3E}">
        <p14:creationId xmlns:p14="http://schemas.microsoft.com/office/powerpoint/2010/main" val="1248529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pPr rtl="0"/>
            <a:r>
              <a:rPr lang="pl-PL" sz="5000" dirty="0" err="1">
                <a:latin typeface="Tenorite" panose="00000500000000000000" pitchFamily="2" charset="0"/>
              </a:rPr>
              <a:t>Process-oriented</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086097" y="2368817"/>
            <a:ext cx="8189668" cy="1052520"/>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1900" b="1" dirty="0">
                <a:solidFill>
                  <a:srgbClr val="663300"/>
                </a:solidFill>
                <a:latin typeface="Tenorite" panose="00000500000000000000" pitchFamily="2" charset="0"/>
              </a:rPr>
              <a:t>Hybrid structures </a:t>
            </a:r>
            <a:r>
              <a:rPr lang="en-US" sz="1900" dirty="0">
                <a:solidFill>
                  <a:srgbClr val="663300"/>
                </a:solidFill>
                <a:latin typeface="Tenorite" panose="00000500000000000000" pitchFamily="2" charset="0"/>
              </a:rPr>
              <a:t>- these apply to more than one of the departmentation principles simultaneously. The best known of which is the </a:t>
            </a:r>
            <a:r>
              <a:rPr lang="en-US" sz="1900" b="1" dirty="0">
                <a:solidFill>
                  <a:srgbClr val="663300"/>
                </a:solidFill>
                <a:latin typeface="Tenorite" panose="00000500000000000000" pitchFamily="2" charset="0"/>
              </a:rPr>
              <a:t>matrix</a:t>
            </a:r>
            <a:r>
              <a:rPr lang="en-US" sz="1900" dirty="0">
                <a:solidFill>
                  <a:srgbClr val="663300"/>
                </a:solidFill>
                <a:latin typeface="Tenorite" panose="00000500000000000000" pitchFamily="2" charset="0"/>
              </a:rPr>
              <a:t> structure</a:t>
            </a:r>
          </a:p>
        </p:txBody>
      </p:sp>
      <p:sp>
        <p:nvSpPr>
          <p:cNvPr id="26" name="Prostokąt 25">
            <a:extLst>
              <a:ext uri="{FF2B5EF4-FFF2-40B4-BE49-F238E27FC236}">
                <a16:creationId xmlns:a16="http://schemas.microsoft.com/office/drawing/2014/main" id="{D906682B-26B9-9B73-F68F-7517C0EB0128}"/>
              </a:ext>
            </a:extLst>
          </p:cNvPr>
          <p:cNvSpPr>
            <a:spLocks noChangeArrowheads="1"/>
          </p:cNvSpPr>
          <p:nvPr/>
        </p:nvSpPr>
        <p:spPr bwMode="auto">
          <a:xfrm>
            <a:off x="6180931" y="3065326"/>
            <a:ext cx="1728788" cy="503238"/>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Chef executive</a:t>
            </a:r>
          </a:p>
        </p:txBody>
      </p:sp>
      <p:sp>
        <p:nvSpPr>
          <p:cNvPr id="27" name="Prostokąt 5">
            <a:extLst>
              <a:ext uri="{FF2B5EF4-FFF2-40B4-BE49-F238E27FC236}">
                <a16:creationId xmlns:a16="http://schemas.microsoft.com/office/drawing/2014/main" id="{90860243-BA89-0CDC-E4C7-BF837209F0CC}"/>
              </a:ext>
            </a:extLst>
          </p:cNvPr>
          <p:cNvSpPr>
            <a:spLocks noChangeArrowheads="1"/>
          </p:cNvSpPr>
          <p:nvPr/>
        </p:nvSpPr>
        <p:spPr bwMode="auto">
          <a:xfrm>
            <a:off x="2801144" y="4590914"/>
            <a:ext cx="1512887"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Project director 1</a:t>
            </a:r>
          </a:p>
        </p:txBody>
      </p:sp>
      <p:sp>
        <p:nvSpPr>
          <p:cNvPr id="28" name="Prostokąt 6">
            <a:extLst>
              <a:ext uri="{FF2B5EF4-FFF2-40B4-BE49-F238E27FC236}">
                <a16:creationId xmlns:a16="http://schemas.microsoft.com/office/drawing/2014/main" id="{20438A4A-7D54-3519-9AFE-D5797A694E62}"/>
              </a:ext>
            </a:extLst>
          </p:cNvPr>
          <p:cNvSpPr>
            <a:spLocks noChangeArrowheads="1"/>
          </p:cNvSpPr>
          <p:nvPr/>
        </p:nvSpPr>
        <p:spPr bwMode="auto">
          <a:xfrm>
            <a:off x="4453731" y="3857489"/>
            <a:ext cx="1727200"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Production director</a:t>
            </a:r>
          </a:p>
        </p:txBody>
      </p:sp>
      <p:sp>
        <p:nvSpPr>
          <p:cNvPr id="29" name="Prostokąt 7">
            <a:extLst>
              <a:ext uri="{FF2B5EF4-FFF2-40B4-BE49-F238E27FC236}">
                <a16:creationId xmlns:a16="http://schemas.microsoft.com/office/drawing/2014/main" id="{01B1384E-A3E9-6293-7292-2A84E3B0187F}"/>
              </a:ext>
            </a:extLst>
          </p:cNvPr>
          <p:cNvSpPr>
            <a:spLocks noChangeArrowheads="1"/>
          </p:cNvSpPr>
          <p:nvPr/>
        </p:nvSpPr>
        <p:spPr bwMode="auto">
          <a:xfrm>
            <a:off x="6830219" y="3857489"/>
            <a:ext cx="1727200"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Finance director</a:t>
            </a:r>
          </a:p>
        </p:txBody>
      </p:sp>
      <p:sp>
        <p:nvSpPr>
          <p:cNvPr id="30" name="Prostokąt 8">
            <a:extLst>
              <a:ext uri="{FF2B5EF4-FFF2-40B4-BE49-F238E27FC236}">
                <a16:creationId xmlns:a16="http://schemas.microsoft.com/office/drawing/2014/main" id="{92B96123-469E-0D03-85A4-8927BE67784B}"/>
              </a:ext>
            </a:extLst>
          </p:cNvPr>
          <p:cNvSpPr>
            <a:spLocks noChangeArrowheads="1"/>
          </p:cNvSpPr>
          <p:nvPr/>
        </p:nvSpPr>
        <p:spPr bwMode="auto">
          <a:xfrm>
            <a:off x="8773319" y="3857489"/>
            <a:ext cx="1908175" cy="503237"/>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Marketing director</a:t>
            </a:r>
          </a:p>
        </p:txBody>
      </p:sp>
      <p:cxnSp>
        <p:nvCxnSpPr>
          <p:cNvPr id="31" name="Łącznik prostoliniowy 9">
            <a:extLst>
              <a:ext uri="{FF2B5EF4-FFF2-40B4-BE49-F238E27FC236}">
                <a16:creationId xmlns:a16="http://schemas.microsoft.com/office/drawing/2014/main" id="{1EB7F815-7E26-3421-A441-AA252AB0EA22}"/>
              </a:ext>
            </a:extLst>
          </p:cNvPr>
          <p:cNvCxnSpPr>
            <a:cxnSpLocks noChangeShapeType="1"/>
          </p:cNvCxnSpPr>
          <p:nvPr/>
        </p:nvCxnSpPr>
        <p:spPr bwMode="auto">
          <a:xfrm flipH="1">
            <a:off x="2553494" y="3733664"/>
            <a:ext cx="70850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 name="Łącznik prostoliniowy 10">
            <a:extLst>
              <a:ext uri="{FF2B5EF4-FFF2-40B4-BE49-F238E27FC236}">
                <a16:creationId xmlns:a16="http://schemas.microsoft.com/office/drawing/2014/main" id="{927A3772-0F8F-A162-F33D-CC20AADBBB84}"/>
              </a:ext>
            </a:extLst>
          </p:cNvPr>
          <p:cNvCxnSpPr>
            <a:cxnSpLocks noChangeShapeType="1"/>
          </p:cNvCxnSpPr>
          <p:nvPr/>
        </p:nvCxnSpPr>
        <p:spPr bwMode="auto">
          <a:xfrm>
            <a:off x="2553494" y="3733664"/>
            <a:ext cx="0" cy="23399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 name="Łącznik prostoliniowy 12">
            <a:extLst>
              <a:ext uri="{FF2B5EF4-FFF2-40B4-BE49-F238E27FC236}">
                <a16:creationId xmlns:a16="http://schemas.microsoft.com/office/drawing/2014/main" id="{4F6836AF-2D5E-6C09-6022-9ACEDF023539}"/>
              </a:ext>
            </a:extLst>
          </p:cNvPr>
          <p:cNvCxnSpPr>
            <a:cxnSpLocks noChangeShapeType="1"/>
          </p:cNvCxnSpPr>
          <p:nvPr/>
        </p:nvCxnSpPr>
        <p:spPr bwMode="auto">
          <a:xfrm>
            <a:off x="5312569" y="3733664"/>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4" name="Łącznik prostoliniowy 13">
            <a:extLst>
              <a:ext uri="{FF2B5EF4-FFF2-40B4-BE49-F238E27FC236}">
                <a16:creationId xmlns:a16="http://schemas.microsoft.com/office/drawing/2014/main" id="{2871040D-3AE7-448E-6F63-CB42D0C091CB}"/>
              </a:ext>
            </a:extLst>
          </p:cNvPr>
          <p:cNvCxnSpPr>
            <a:cxnSpLocks noChangeShapeType="1"/>
          </p:cNvCxnSpPr>
          <p:nvPr/>
        </p:nvCxnSpPr>
        <p:spPr bwMode="auto">
          <a:xfrm>
            <a:off x="7622381" y="3733664"/>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5" name="Łącznik prostoliniowy 14">
            <a:extLst>
              <a:ext uri="{FF2B5EF4-FFF2-40B4-BE49-F238E27FC236}">
                <a16:creationId xmlns:a16="http://schemas.microsoft.com/office/drawing/2014/main" id="{030AF78D-DCFD-4AD1-D835-03DC2BC783D1}"/>
              </a:ext>
            </a:extLst>
          </p:cNvPr>
          <p:cNvCxnSpPr>
            <a:cxnSpLocks noChangeShapeType="1"/>
          </p:cNvCxnSpPr>
          <p:nvPr/>
        </p:nvCxnSpPr>
        <p:spPr bwMode="auto">
          <a:xfrm>
            <a:off x="7046119" y="3589201"/>
            <a:ext cx="0" cy="1444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6" name="Łącznik prostoliniowy 15">
            <a:extLst>
              <a:ext uri="{FF2B5EF4-FFF2-40B4-BE49-F238E27FC236}">
                <a16:creationId xmlns:a16="http://schemas.microsoft.com/office/drawing/2014/main" id="{5BDCB43B-B8E9-CE61-85D4-798B1F9B861B}"/>
              </a:ext>
            </a:extLst>
          </p:cNvPr>
          <p:cNvCxnSpPr>
            <a:cxnSpLocks noChangeShapeType="1"/>
          </p:cNvCxnSpPr>
          <p:nvPr/>
        </p:nvCxnSpPr>
        <p:spPr bwMode="auto">
          <a:xfrm>
            <a:off x="9638506" y="3733664"/>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7" name="Prostokąt 26">
            <a:extLst>
              <a:ext uri="{FF2B5EF4-FFF2-40B4-BE49-F238E27FC236}">
                <a16:creationId xmlns:a16="http://schemas.microsoft.com/office/drawing/2014/main" id="{D71C670D-80C3-AE34-2B64-5D2E9B0924A2}"/>
              </a:ext>
            </a:extLst>
          </p:cNvPr>
          <p:cNvSpPr>
            <a:spLocks noChangeArrowheads="1"/>
          </p:cNvSpPr>
          <p:nvPr/>
        </p:nvSpPr>
        <p:spPr bwMode="auto">
          <a:xfrm>
            <a:off x="2801144" y="5202101"/>
            <a:ext cx="1512887" cy="503238"/>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Project director 2</a:t>
            </a:r>
          </a:p>
        </p:txBody>
      </p:sp>
      <p:sp>
        <p:nvSpPr>
          <p:cNvPr id="38" name="Prostokąt 27">
            <a:extLst>
              <a:ext uri="{FF2B5EF4-FFF2-40B4-BE49-F238E27FC236}">
                <a16:creationId xmlns:a16="http://schemas.microsoft.com/office/drawing/2014/main" id="{585D35B3-88AD-ED09-4ED6-274F4FAF73BE}"/>
              </a:ext>
            </a:extLst>
          </p:cNvPr>
          <p:cNvSpPr>
            <a:spLocks noChangeArrowheads="1"/>
          </p:cNvSpPr>
          <p:nvPr/>
        </p:nvSpPr>
        <p:spPr bwMode="auto">
          <a:xfrm>
            <a:off x="2801144" y="5800589"/>
            <a:ext cx="1512887" cy="504825"/>
          </a:xfrm>
          <a:prstGeom prst="rect">
            <a:avLst/>
          </a:prstGeom>
          <a:solidFill>
            <a:srgbClr val="5E5441"/>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500" b="1" u="none">
                <a:solidFill>
                  <a:schemeClr val="bg1"/>
                </a:solidFill>
                <a:latin typeface="Tenorite" panose="00000500000000000000" pitchFamily="2" charset="0"/>
              </a:rPr>
              <a:t>Project director 2</a:t>
            </a:r>
          </a:p>
        </p:txBody>
      </p:sp>
      <p:cxnSp>
        <p:nvCxnSpPr>
          <p:cNvPr id="39" name="Łącznik prostoliniowy 29">
            <a:extLst>
              <a:ext uri="{FF2B5EF4-FFF2-40B4-BE49-F238E27FC236}">
                <a16:creationId xmlns:a16="http://schemas.microsoft.com/office/drawing/2014/main" id="{7D62961B-6025-4A67-FFE2-139B5AFE051A}"/>
              </a:ext>
            </a:extLst>
          </p:cNvPr>
          <p:cNvCxnSpPr>
            <a:cxnSpLocks noChangeShapeType="1"/>
            <a:stCxn id="27" idx="1"/>
          </p:cNvCxnSpPr>
          <p:nvPr/>
        </p:nvCxnSpPr>
        <p:spPr bwMode="auto">
          <a:xfrm flipH="1">
            <a:off x="2553494" y="4843326"/>
            <a:ext cx="2476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0" name="Łącznik prostoliniowy 35">
            <a:extLst>
              <a:ext uri="{FF2B5EF4-FFF2-40B4-BE49-F238E27FC236}">
                <a16:creationId xmlns:a16="http://schemas.microsoft.com/office/drawing/2014/main" id="{D76FBC1F-A473-64C9-125C-F32518AF0817}"/>
              </a:ext>
            </a:extLst>
          </p:cNvPr>
          <p:cNvCxnSpPr>
            <a:cxnSpLocks noChangeShapeType="1"/>
          </p:cNvCxnSpPr>
          <p:nvPr/>
        </p:nvCxnSpPr>
        <p:spPr bwMode="auto">
          <a:xfrm flipH="1">
            <a:off x="2553494" y="5452926"/>
            <a:ext cx="2476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1" name="Łącznik prostoliniowy 36">
            <a:extLst>
              <a:ext uri="{FF2B5EF4-FFF2-40B4-BE49-F238E27FC236}">
                <a16:creationId xmlns:a16="http://schemas.microsoft.com/office/drawing/2014/main" id="{5BCBF422-FB0B-E9F9-5626-15DA0F4EB3A0}"/>
              </a:ext>
            </a:extLst>
          </p:cNvPr>
          <p:cNvCxnSpPr>
            <a:cxnSpLocks noChangeShapeType="1"/>
          </p:cNvCxnSpPr>
          <p:nvPr/>
        </p:nvCxnSpPr>
        <p:spPr bwMode="auto">
          <a:xfrm flipH="1">
            <a:off x="2553494" y="6083164"/>
            <a:ext cx="2476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2" name="Łącznik prostoliniowy 37">
            <a:extLst>
              <a:ext uri="{FF2B5EF4-FFF2-40B4-BE49-F238E27FC236}">
                <a16:creationId xmlns:a16="http://schemas.microsoft.com/office/drawing/2014/main" id="{B74DF0AD-1F5E-AAB7-EC7D-6E326AD3C63F}"/>
              </a:ext>
            </a:extLst>
          </p:cNvPr>
          <p:cNvCxnSpPr>
            <a:cxnSpLocks noChangeShapeType="1"/>
          </p:cNvCxnSpPr>
          <p:nvPr/>
        </p:nvCxnSpPr>
        <p:spPr bwMode="auto">
          <a:xfrm flipH="1">
            <a:off x="4314031" y="4843326"/>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3" name="Łącznik prostoliniowy 41">
            <a:extLst>
              <a:ext uri="{FF2B5EF4-FFF2-40B4-BE49-F238E27FC236}">
                <a16:creationId xmlns:a16="http://schemas.microsoft.com/office/drawing/2014/main" id="{7B0AEC7F-8AD3-7B23-89F9-9132E6A45689}"/>
              </a:ext>
            </a:extLst>
          </p:cNvPr>
          <p:cNvCxnSpPr>
            <a:cxnSpLocks noChangeShapeType="1"/>
          </p:cNvCxnSpPr>
          <p:nvPr/>
        </p:nvCxnSpPr>
        <p:spPr bwMode="auto">
          <a:xfrm flipH="1">
            <a:off x="4314031" y="5452926"/>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4" name="Łącznik prostoliniowy 42">
            <a:extLst>
              <a:ext uri="{FF2B5EF4-FFF2-40B4-BE49-F238E27FC236}">
                <a16:creationId xmlns:a16="http://schemas.microsoft.com/office/drawing/2014/main" id="{0B425C2A-4710-B0B6-7FF9-5B0B5E60086C}"/>
              </a:ext>
            </a:extLst>
          </p:cNvPr>
          <p:cNvCxnSpPr>
            <a:cxnSpLocks noChangeShapeType="1"/>
          </p:cNvCxnSpPr>
          <p:nvPr/>
        </p:nvCxnSpPr>
        <p:spPr bwMode="auto">
          <a:xfrm flipH="1">
            <a:off x="4314031" y="6073639"/>
            <a:ext cx="6367463" cy="0"/>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5" name="Łącznik prostoliniowy 37">
            <a:extLst>
              <a:ext uri="{FF2B5EF4-FFF2-40B4-BE49-F238E27FC236}">
                <a16:creationId xmlns:a16="http://schemas.microsoft.com/office/drawing/2014/main" id="{106ABA6E-2B46-4431-9D58-ADB48949BE08}"/>
              </a:ext>
            </a:extLst>
          </p:cNvPr>
          <p:cNvCxnSpPr>
            <a:cxnSpLocks noChangeShapeType="1"/>
          </p:cNvCxnSpPr>
          <p:nvPr/>
        </p:nvCxnSpPr>
        <p:spPr bwMode="auto">
          <a:xfrm flipV="1">
            <a:off x="5312569" y="4360726"/>
            <a:ext cx="0" cy="1944688"/>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6" name="Łącznik prostoliniowy 37">
            <a:extLst>
              <a:ext uri="{FF2B5EF4-FFF2-40B4-BE49-F238E27FC236}">
                <a16:creationId xmlns:a16="http://schemas.microsoft.com/office/drawing/2014/main" id="{23536A2B-F8D3-F00D-8E8C-B0BCBF4A82FF}"/>
              </a:ext>
            </a:extLst>
          </p:cNvPr>
          <p:cNvCxnSpPr>
            <a:cxnSpLocks noChangeShapeType="1"/>
          </p:cNvCxnSpPr>
          <p:nvPr/>
        </p:nvCxnSpPr>
        <p:spPr bwMode="auto">
          <a:xfrm flipV="1">
            <a:off x="7622381" y="4367076"/>
            <a:ext cx="0" cy="1944688"/>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7" name="Łącznik prostoliniowy 37">
            <a:extLst>
              <a:ext uri="{FF2B5EF4-FFF2-40B4-BE49-F238E27FC236}">
                <a16:creationId xmlns:a16="http://schemas.microsoft.com/office/drawing/2014/main" id="{037B4A2F-7D42-3805-111C-42643EEA5B00}"/>
              </a:ext>
            </a:extLst>
          </p:cNvPr>
          <p:cNvCxnSpPr>
            <a:cxnSpLocks noChangeShapeType="1"/>
          </p:cNvCxnSpPr>
          <p:nvPr/>
        </p:nvCxnSpPr>
        <p:spPr bwMode="auto">
          <a:xfrm flipV="1">
            <a:off x="9638506" y="4360726"/>
            <a:ext cx="0" cy="1944688"/>
          </a:xfrm>
          <a:prstGeom prst="line">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5974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r>
              <a:rPr lang="pl-PL" sz="5000" dirty="0" err="1">
                <a:latin typeface="Tenorite" panose="00000500000000000000" pitchFamily="2" charset="0"/>
              </a:rPr>
              <a:t>Process-oriented</a:t>
            </a:r>
            <a:r>
              <a:rPr lang="pl-PL" sz="5000" dirty="0">
                <a:latin typeface="Tenorite" panose="00000500000000000000" pitchFamily="2" charset="0"/>
              </a:rPr>
              <a:t> </a:t>
            </a:r>
            <a:r>
              <a:rPr lang="pl-PL" sz="5000" dirty="0" err="1">
                <a:latin typeface="Tenorite" panose="00000500000000000000" pitchFamily="2" charset="0"/>
              </a:rPr>
              <a:t>structure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88914" y="2807858"/>
            <a:ext cx="7814171" cy="3502237"/>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000" b="1" dirty="0">
                <a:solidFill>
                  <a:srgbClr val="663300"/>
                </a:solidFill>
                <a:latin typeface="Tenorite" panose="00000500000000000000" pitchFamily="2" charset="0"/>
              </a:rPr>
              <a:t>The following situation was described by an employee who reported to more than one boss:</a:t>
            </a:r>
          </a:p>
          <a:p>
            <a:pPr marL="1177200" lvl="2" indent="-457200" algn="l">
              <a:lnSpc>
                <a:spcPct val="100000"/>
              </a:lnSpc>
              <a:spcBef>
                <a:spcPts val="400"/>
              </a:spcBef>
              <a:buClr>
                <a:srgbClr val="663300"/>
              </a:buClr>
              <a:buFont typeface="Wingdings" panose="05000000000000000000" pitchFamily="2" charset="2"/>
              <a:buChar char="§"/>
            </a:pPr>
            <a:r>
              <a:rPr lang="en-US" sz="1800" dirty="0">
                <a:solidFill>
                  <a:srgbClr val="663300"/>
                </a:solidFill>
                <a:latin typeface="Tenorite" panose="00000500000000000000" pitchFamily="2" charset="0"/>
              </a:rPr>
              <a:t>My job has expanded and I now have three bosses to report to rather than one. I have tried to point out that I can only do a limited amount for each boss, but they don’t seem to understand the difficulties involved in reporting to three different masters. My initial idea was to get them all together to discuss what each can reasonably expect of me, but they don’t get on with one another and have found excuses to miss the meetings. How can I tackle this?</a:t>
            </a:r>
          </a:p>
          <a:p>
            <a:pPr marL="457200" indent="-457200" algn="l" rtl="0">
              <a:lnSpc>
                <a:spcPct val="100000"/>
              </a:lnSpc>
              <a:spcBef>
                <a:spcPts val="400"/>
              </a:spcBef>
              <a:buClr>
                <a:srgbClr val="663300"/>
              </a:buClr>
              <a:buFont typeface="Arial" panose="020B0604020202020204" pitchFamily="34" charset="0"/>
              <a:buChar char="•"/>
            </a:pPr>
            <a:r>
              <a:rPr lang="en-US" sz="2000" b="1" dirty="0">
                <a:solidFill>
                  <a:srgbClr val="663300"/>
                </a:solidFill>
                <a:latin typeface="Tenorite" panose="00000500000000000000" pitchFamily="2" charset="0"/>
              </a:rPr>
              <a:t>To what extent and how might such difficulties be avoided in </a:t>
            </a:r>
            <a:br>
              <a:rPr lang="en-US" sz="2000" b="1" dirty="0">
                <a:solidFill>
                  <a:srgbClr val="663300"/>
                </a:solidFill>
                <a:latin typeface="Tenorite" panose="00000500000000000000" pitchFamily="2" charset="0"/>
              </a:rPr>
            </a:br>
            <a:r>
              <a:rPr lang="en-US" sz="2000" b="1" dirty="0">
                <a:solidFill>
                  <a:srgbClr val="663300"/>
                </a:solidFill>
                <a:latin typeface="Tenorite" panose="00000500000000000000" pitchFamily="2" charset="0"/>
              </a:rPr>
              <a:t>a matrix structure?</a:t>
            </a:r>
          </a:p>
        </p:txBody>
      </p:sp>
    </p:spTree>
    <p:extLst>
      <p:ext uri="{BB962C8B-B14F-4D97-AF65-F5344CB8AC3E}">
        <p14:creationId xmlns:p14="http://schemas.microsoft.com/office/powerpoint/2010/main" val="3249844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794823" y="779950"/>
            <a:ext cx="6602352" cy="1453003"/>
          </a:xfrm>
        </p:spPr>
        <p:txBody>
          <a:bodyPr wrap="square" rtlCol="0" anchor="b">
            <a:normAutofit fontScale="90000"/>
          </a:bodyPr>
          <a:lstStyle/>
          <a:p>
            <a:pPr rtl="0"/>
            <a:r>
              <a:rPr lang="en-US" sz="5000" dirty="0">
                <a:latin typeface="Tenorite" panose="00000500000000000000" pitchFamily="2" charset="0"/>
              </a:rPr>
              <a:t>Mechanistic and organic organizational forms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pic>
        <p:nvPicPr>
          <p:cNvPr id="11" name="Picture 2" descr="Znalezione obrazy dla zapytania storm in the sea">
            <a:extLst>
              <a:ext uri="{FF2B5EF4-FFF2-40B4-BE49-F238E27FC236}">
                <a16:creationId xmlns:a16="http://schemas.microsoft.com/office/drawing/2014/main" id="{242D8668-04AA-51C0-7B59-5B53C5EF0AC5}"/>
              </a:ext>
            </a:extLst>
          </p:cNvPr>
          <p:cNvPicPr>
            <a:picLocks noChangeAspect="1" noChangeArrowheads="1"/>
          </p:cNvPicPr>
          <p:nvPr/>
        </p:nvPicPr>
        <p:blipFill>
          <a:blip r:embed="rId3"/>
          <a:srcRect/>
          <a:stretch>
            <a:fillRect/>
          </a:stretch>
        </p:blipFill>
        <p:spPr bwMode="auto">
          <a:xfrm>
            <a:off x="6096000" y="2689882"/>
            <a:ext cx="4330700" cy="32400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Znalezione obrazy dla zapytania raft">
            <a:extLst>
              <a:ext uri="{FF2B5EF4-FFF2-40B4-BE49-F238E27FC236}">
                <a16:creationId xmlns:a16="http://schemas.microsoft.com/office/drawing/2014/main" id="{587AF568-E27B-7A95-923A-C5981ACE79D4}"/>
              </a:ext>
            </a:extLst>
          </p:cNvPr>
          <p:cNvPicPr>
            <a:picLocks noChangeAspect="1" noChangeArrowheads="1"/>
          </p:cNvPicPr>
          <p:nvPr/>
        </p:nvPicPr>
        <p:blipFill>
          <a:blip r:embed="rId4"/>
          <a:srcRect/>
          <a:stretch>
            <a:fillRect/>
          </a:stretch>
        </p:blipFill>
        <p:spPr bwMode="auto">
          <a:xfrm>
            <a:off x="1631950" y="2659720"/>
            <a:ext cx="4321175" cy="3241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2915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pPr rtl="0"/>
            <a:r>
              <a:rPr lang="pl-PL" sz="5000" dirty="0" err="1">
                <a:latin typeface="Tenorite" panose="00000500000000000000" pitchFamily="2" charset="0"/>
              </a:rPr>
              <a:t>Mechanistic</a:t>
            </a:r>
            <a:r>
              <a:rPr lang="pl-PL" sz="5000" dirty="0">
                <a:latin typeface="Tenorite" panose="00000500000000000000" pitchFamily="2" charset="0"/>
              </a:rPr>
              <a:t> </a:t>
            </a:r>
            <a:r>
              <a:rPr lang="pl-PL" sz="5000" dirty="0" err="1">
                <a:latin typeface="Tenorite" panose="00000500000000000000" pitchFamily="2" charset="0"/>
              </a:rPr>
              <a:t>organizational</a:t>
            </a:r>
            <a:r>
              <a:rPr lang="pl-PL" sz="5000" dirty="0">
                <a:latin typeface="Tenorite" panose="00000500000000000000" pitchFamily="2" charset="0"/>
              </a:rPr>
              <a:t> form</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88915" y="2807858"/>
            <a:ext cx="3907086" cy="2903131"/>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Mechanistic organizations </a:t>
            </a:r>
            <a:r>
              <a:rPr lang="en-US" sz="2000" dirty="0">
                <a:solidFill>
                  <a:srgbClr val="663300"/>
                </a:solidFill>
                <a:latin typeface="Tenorite" panose="00000500000000000000" pitchFamily="2" charset="0"/>
              </a:rPr>
              <a:t>- these provide a blueprint of an organizational structure that is often compared to a machine: all the parts are clearly aligned to work together in prescribed, predetermined and stable ways</a:t>
            </a:r>
            <a:r>
              <a:rPr lang="pl-PL" sz="2000" dirty="0">
                <a:solidFill>
                  <a:srgbClr val="663300"/>
                </a:solidFill>
                <a:latin typeface="Tenorite" panose="00000500000000000000" pitchFamily="2" charset="0"/>
              </a:rPr>
              <a:t>.</a:t>
            </a:r>
            <a:endParaRPr lang="en-US" sz="2000" dirty="0">
              <a:solidFill>
                <a:srgbClr val="663300"/>
              </a:solidFill>
              <a:latin typeface="Tenorite" panose="00000500000000000000" pitchFamily="2" charset="0"/>
            </a:endParaRPr>
          </a:p>
        </p:txBody>
      </p:sp>
      <p:pic>
        <p:nvPicPr>
          <p:cNvPr id="7" name="Picture 2" descr="Znalezione obrazy dla zapytania raft">
            <a:extLst>
              <a:ext uri="{FF2B5EF4-FFF2-40B4-BE49-F238E27FC236}">
                <a16:creationId xmlns:a16="http://schemas.microsoft.com/office/drawing/2014/main" id="{11741074-1195-EA0D-FFC2-FFF2DEBA5CE5}"/>
              </a:ext>
            </a:extLst>
          </p:cNvPr>
          <p:cNvPicPr>
            <a:picLocks noChangeAspect="1" noChangeArrowheads="1"/>
          </p:cNvPicPr>
          <p:nvPr/>
        </p:nvPicPr>
        <p:blipFill>
          <a:blip r:embed="rId3"/>
          <a:srcRect/>
          <a:stretch>
            <a:fillRect/>
          </a:stretch>
        </p:blipFill>
        <p:spPr bwMode="auto">
          <a:xfrm>
            <a:off x="6257842" y="2703101"/>
            <a:ext cx="4319587" cy="32400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942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603487"/>
            <a:ext cx="5761168" cy="1453003"/>
          </a:xfrm>
        </p:spPr>
        <p:txBody>
          <a:bodyPr wrap="square" rtlCol="0" anchor="b">
            <a:normAutofit fontScale="90000"/>
          </a:bodyPr>
          <a:lstStyle/>
          <a:p>
            <a:pPr rtl="0"/>
            <a:r>
              <a:rPr lang="pl-PL" sz="5000" dirty="0" err="1">
                <a:latin typeface="Tenorite" panose="00000500000000000000" pitchFamily="2" charset="0"/>
              </a:rPr>
              <a:t>Organic</a:t>
            </a:r>
            <a:r>
              <a:rPr lang="pl-PL" sz="5000" dirty="0">
                <a:latin typeface="Tenorite" panose="00000500000000000000" pitchFamily="2" charset="0"/>
              </a:rPr>
              <a:t> </a:t>
            </a:r>
            <a:r>
              <a:rPr lang="pl-PL" sz="5000" dirty="0" err="1">
                <a:latin typeface="Tenorite" panose="00000500000000000000" pitchFamily="2" charset="0"/>
              </a:rPr>
              <a:t>organizational</a:t>
            </a:r>
            <a:r>
              <a:rPr lang="pl-PL" sz="5000" dirty="0">
                <a:latin typeface="Tenorite" panose="00000500000000000000" pitchFamily="2" charset="0"/>
              </a:rPr>
              <a:t> form</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614570" y="2508057"/>
            <a:ext cx="4481430" cy="3849111"/>
          </a:xfrm>
        </p:spPr>
        <p:txBody>
          <a:bodyPr rtlCol="0">
            <a:noAutofit/>
          </a:bodyPr>
          <a:lstStyle/>
          <a:p>
            <a:pPr marL="457200" indent="-457200" algn="just" rtl="0">
              <a:lnSpc>
                <a:spcPct val="100000"/>
              </a:lnSpc>
              <a:spcBef>
                <a:spcPts val="400"/>
              </a:spcBef>
              <a:buClr>
                <a:srgbClr val="663300"/>
              </a:buClr>
              <a:buFont typeface="Arial" panose="020B0604020202020204" pitchFamily="34" charset="0"/>
              <a:buChar char="•"/>
            </a:pPr>
            <a:r>
              <a:rPr lang="en-US" sz="1900" b="1" dirty="0">
                <a:solidFill>
                  <a:srgbClr val="663300"/>
                </a:solidFill>
                <a:latin typeface="Tenorite" panose="00000500000000000000" pitchFamily="2" charset="0"/>
              </a:rPr>
              <a:t>Organic organizations </a:t>
            </a:r>
            <a:r>
              <a:rPr lang="en-US" sz="1900" dirty="0">
                <a:solidFill>
                  <a:srgbClr val="663300"/>
                </a:solidFill>
                <a:latin typeface="Tenorite" panose="00000500000000000000" pitchFamily="2" charset="0"/>
              </a:rPr>
              <a:t>– sometimes referred to as organismic organizations. Reflects an organizational form emerging in fluid and relatively unpredictable situations. It is typified by a high level of flexibility in job responsibilities, also incorporating high levels of technical expertise at the lower level of the organization and recognition of the value of individual contribution</a:t>
            </a:r>
            <a:r>
              <a:rPr lang="pl-PL" sz="1900" dirty="0">
                <a:solidFill>
                  <a:srgbClr val="663300"/>
                </a:solidFill>
                <a:latin typeface="Tenorite" panose="00000500000000000000" pitchFamily="2" charset="0"/>
              </a:rPr>
              <a:t>.</a:t>
            </a:r>
            <a:endParaRPr lang="en-US" sz="19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marL="457200" indent="-457200" algn="just" rtl="0">
              <a:lnSpc>
                <a:spcPct val="100000"/>
              </a:lnSpc>
              <a:spcBef>
                <a:spcPts val="400"/>
              </a:spcBef>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p:txBody>
      </p:sp>
      <p:pic>
        <p:nvPicPr>
          <p:cNvPr id="8" name="Picture 2" descr="Znalezione obrazy dla zapytania storm in the sea">
            <a:extLst>
              <a:ext uri="{FF2B5EF4-FFF2-40B4-BE49-F238E27FC236}">
                <a16:creationId xmlns:a16="http://schemas.microsoft.com/office/drawing/2014/main" id="{5753C742-BC47-A0BC-8E30-C798D896E721}"/>
              </a:ext>
            </a:extLst>
          </p:cNvPr>
          <p:cNvPicPr>
            <a:picLocks noChangeAspect="1" noChangeArrowheads="1"/>
          </p:cNvPicPr>
          <p:nvPr/>
        </p:nvPicPr>
        <p:blipFill>
          <a:blip r:embed="rId3"/>
          <a:srcRect/>
          <a:stretch>
            <a:fillRect/>
          </a:stretch>
        </p:blipFill>
        <p:spPr bwMode="auto">
          <a:xfrm>
            <a:off x="6248317" y="2812568"/>
            <a:ext cx="4329113" cy="32400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7755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1874461" y="417453"/>
            <a:ext cx="8443077" cy="1600812"/>
          </a:xfrm>
        </p:spPr>
        <p:txBody>
          <a:bodyPr wrap="square" rtlCol="0" anchor="b">
            <a:normAutofit fontScale="90000"/>
          </a:bodyPr>
          <a:lstStyle/>
          <a:p>
            <a:pPr rtl="0"/>
            <a:r>
              <a:rPr lang="en-US" sz="5000" dirty="0">
                <a:latin typeface="Tenorite" panose="00000500000000000000" pitchFamily="2" charset="0"/>
              </a:rPr>
              <a:t>Differences between mechanistic and organic organizational forms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graphicFrame>
        <p:nvGraphicFramePr>
          <p:cNvPr id="10" name="Tabela 9">
            <a:extLst>
              <a:ext uri="{FF2B5EF4-FFF2-40B4-BE49-F238E27FC236}">
                <a16:creationId xmlns:a16="http://schemas.microsoft.com/office/drawing/2014/main" id="{4BEA037F-2136-F403-1527-D2220786CE41}"/>
              </a:ext>
            </a:extLst>
          </p:cNvPr>
          <p:cNvGraphicFramePr>
            <a:graphicFrameLocks noGrp="1"/>
          </p:cNvGraphicFramePr>
          <p:nvPr>
            <p:extLst>
              <p:ext uri="{D42A27DB-BD31-4B8C-83A1-F6EECF244321}">
                <p14:modId xmlns:p14="http://schemas.microsoft.com/office/powerpoint/2010/main" val="38654837"/>
              </p:ext>
            </p:extLst>
          </p:nvPr>
        </p:nvGraphicFramePr>
        <p:xfrm>
          <a:off x="2042305" y="2066327"/>
          <a:ext cx="8107387" cy="4242779"/>
        </p:xfrm>
        <a:graphic>
          <a:graphicData uri="http://schemas.openxmlformats.org/drawingml/2006/table">
            <a:tbl>
              <a:tblPr firstRow="1" bandRow="1">
                <a:tableStyleId>{F5AB1C69-6EDB-4FF4-983F-18BD219EF322}</a:tableStyleId>
              </a:tblPr>
              <a:tblGrid>
                <a:gridCol w="2376300">
                  <a:extLst>
                    <a:ext uri="{9D8B030D-6E8A-4147-A177-3AD203B41FA5}">
                      <a16:colId xmlns:a16="http://schemas.microsoft.com/office/drawing/2014/main" val="20000"/>
                    </a:ext>
                  </a:extLst>
                </a:gridCol>
                <a:gridCol w="2865916">
                  <a:extLst>
                    <a:ext uri="{9D8B030D-6E8A-4147-A177-3AD203B41FA5}">
                      <a16:colId xmlns:a16="http://schemas.microsoft.com/office/drawing/2014/main" val="20001"/>
                    </a:ext>
                  </a:extLst>
                </a:gridCol>
                <a:gridCol w="2865171">
                  <a:extLst>
                    <a:ext uri="{9D8B030D-6E8A-4147-A177-3AD203B41FA5}">
                      <a16:colId xmlns:a16="http://schemas.microsoft.com/office/drawing/2014/main" val="20002"/>
                    </a:ext>
                  </a:extLst>
                </a:gridCol>
              </a:tblGrid>
              <a:tr h="604261">
                <a:tc>
                  <a:txBody>
                    <a:bodyPr/>
                    <a:lstStyle/>
                    <a:p>
                      <a:r>
                        <a:rPr lang="pl-PL" sz="1700" dirty="0">
                          <a:solidFill>
                            <a:schemeClr val="tx1"/>
                          </a:solidFill>
                        </a:rPr>
                        <a:t>Organizational form</a:t>
                      </a:r>
                      <a:endParaRPr lang="pl-PL" sz="1700" dirty="0">
                        <a:solidFill>
                          <a:schemeClr val="tx1"/>
                        </a:solidFill>
                        <a:latin typeface="Tenorite" panose="00000500000000000000" pitchFamily="2" charset="0"/>
                      </a:endParaRPr>
                    </a:p>
                  </a:txBody>
                  <a:tcPr marL="91428" marR="91428" marT="45705" marB="45705" anchor="ctr"/>
                </a:tc>
                <a:tc>
                  <a:txBody>
                    <a:bodyPr/>
                    <a:lstStyle/>
                    <a:p>
                      <a:pPr algn="ctr"/>
                      <a:r>
                        <a:rPr lang="pl-PL" sz="1700" dirty="0">
                          <a:solidFill>
                            <a:schemeClr val="tx1"/>
                          </a:solidFill>
                        </a:rPr>
                        <a:t>MECHANISTIC</a:t>
                      </a:r>
                      <a:endParaRPr lang="pl-PL" sz="1700" dirty="0">
                        <a:solidFill>
                          <a:schemeClr val="tx1"/>
                        </a:solidFill>
                        <a:latin typeface="Tenorite" panose="00000500000000000000" pitchFamily="2" charset="0"/>
                      </a:endParaRPr>
                    </a:p>
                  </a:txBody>
                  <a:tcPr marL="91428" marR="91428" marT="45705" marB="45705" anchor="ctr"/>
                </a:tc>
                <a:tc>
                  <a:txBody>
                    <a:bodyPr/>
                    <a:lstStyle/>
                    <a:p>
                      <a:pPr algn="ctr"/>
                      <a:r>
                        <a:rPr lang="pl-PL" sz="1700" dirty="0">
                          <a:solidFill>
                            <a:schemeClr val="tx1"/>
                          </a:solidFill>
                        </a:rPr>
                        <a:t>ORGANIC</a:t>
                      </a:r>
                      <a:endParaRPr lang="pl-PL" sz="1700" dirty="0">
                        <a:solidFill>
                          <a:schemeClr val="tx1"/>
                        </a:solidFill>
                        <a:latin typeface="Tenorite" panose="00000500000000000000" pitchFamily="2" charset="0"/>
                      </a:endParaRPr>
                    </a:p>
                  </a:txBody>
                  <a:tcPr marL="91428" marR="91428" marT="45705" marB="45705" anchor="ctr"/>
                </a:tc>
                <a:extLst>
                  <a:ext uri="{0D108BD9-81ED-4DB2-BD59-A6C34878D82A}">
                    <a16:rowId xmlns:a16="http://schemas.microsoft.com/office/drawing/2014/main" val="10000"/>
                  </a:ext>
                </a:extLst>
              </a:tr>
              <a:tr h="482938">
                <a:tc>
                  <a:txBody>
                    <a:bodyPr/>
                    <a:lstStyle/>
                    <a:p>
                      <a:r>
                        <a:rPr lang="pl-PL" sz="1700" b="1" dirty="0"/>
                        <a:t>Nature of tasks</a:t>
                      </a:r>
                      <a:endParaRPr lang="pl-PL" sz="1700" b="1" dirty="0">
                        <a:latin typeface="Tenorite" panose="00000500000000000000" pitchFamily="2" charset="0"/>
                      </a:endParaRPr>
                    </a:p>
                  </a:txBody>
                  <a:tcPr marL="91428" marR="91428" marT="45705" marB="45705" anchor="ctr"/>
                </a:tc>
                <a:tc>
                  <a:txBody>
                    <a:bodyPr/>
                    <a:lstStyle/>
                    <a:p>
                      <a:pPr algn="just"/>
                      <a:r>
                        <a:rPr lang="pl-PL" sz="1700" b="0" kern="1200" dirty="0">
                          <a:solidFill>
                            <a:schemeClr val="dk1"/>
                          </a:solidFill>
                          <a:effectLst/>
                        </a:rPr>
                        <a:t>Routine</a:t>
                      </a:r>
                      <a:endParaRPr lang="pl-PL" sz="1700" b="0" dirty="0">
                        <a:latin typeface="Tenorite" panose="00000500000000000000" pitchFamily="2" charset="0"/>
                      </a:endParaRPr>
                    </a:p>
                  </a:txBody>
                  <a:tcPr marL="91428" marR="91428" marT="45705" marB="45705" anchor="ctr"/>
                </a:tc>
                <a:tc>
                  <a:txBody>
                    <a:bodyPr/>
                    <a:lstStyle/>
                    <a:p>
                      <a:r>
                        <a:rPr lang="pl-PL" sz="1700" b="0" dirty="0"/>
                        <a:t>Nonroutine</a:t>
                      </a:r>
                      <a:endParaRPr lang="pl-PL" sz="1700" b="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1"/>
                  </a:ext>
                </a:extLst>
              </a:tr>
              <a:tr h="639534">
                <a:tc>
                  <a:txBody>
                    <a:bodyPr/>
                    <a:lstStyle/>
                    <a:p>
                      <a:r>
                        <a:rPr lang="pl-PL" sz="1700" b="1" dirty="0"/>
                        <a:t>Degree of standardization</a:t>
                      </a:r>
                      <a:endParaRPr lang="pl-PL" sz="1700" b="1" dirty="0">
                        <a:latin typeface="Tenorite" panose="00000500000000000000" pitchFamily="2" charset="0"/>
                      </a:endParaRPr>
                    </a:p>
                  </a:txBody>
                  <a:tcPr marL="91428" marR="91428" marT="45705" marB="45705" anchor="ctr"/>
                </a:tc>
                <a:tc>
                  <a:txBody>
                    <a:bodyPr/>
                    <a:lstStyle/>
                    <a:p>
                      <a:r>
                        <a:rPr lang="pl-PL" sz="1700" dirty="0"/>
                        <a:t>High</a:t>
                      </a:r>
                      <a:endParaRPr lang="pl-PL" sz="1700" dirty="0">
                        <a:latin typeface="Tenorite" panose="00000500000000000000" pitchFamily="2" charset="0"/>
                      </a:endParaRPr>
                    </a:p>
                  </a:txBody>
                  <a:tcPr marL="91428" marR="91428" marT="45705" marB="45705" anchor="ctr"/>
                </a:tc>
                <a:tc>
                  <a:txBody>
                    <a:bodyPr/>
                    <a:lstStyle/>
                    <a:p>
                      <a:r>
                        <a:rPr lang="pl-PL" sz="1700" dirty="0"/>
                        <a:t>Low</a:t>
                      </a:r>
                      <a:endParaRPr lang="pl-PL" sz="170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2"/>
                  </a:ext>
                </a:extLst>
              </a:tr>
              <a:tr h="639534">
                <a:tc>
                  <a:txBody>
                    <a:bodyPr/>
                    <a:lstStyle/>
                    <a:p>
                      <a:r>
                        <a:rPr lang="pl-PL" sz="1700" b="1" dirty="0"/>
                        <a:t>Degree of formalization</a:t>
                      </a:r>
                      <a:endParaRPr lang="pl-PL" sz="1700" b="1" dirty="0">
                        <a:latin typeface="Tenorite" panose="00000500000000000000" pitchFamily="2" charset="0"/>
                      </a:endParaRPr>
                    </a:p>
                  </a:txBody>
                  <a:tcPr marL="91428" marR="91428" marT="45705" marB="4570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sz="1700" b="0" kern="1200" dirty="0">
                          <a:solidFill>
                            <a:schemeClr val="dk1"/>
                          </a:solidFill>
                          <a:effectLst/>
                        </a:rPr>
                        <a:t>High</a:t>
                      </a:r>
                      <a:endParaRPr lang="pl-PL" sz="1700" dirty="0">
                        <a:latin typeface="Tenorite" panose="00000500000000000000" pitchFamily="2" charset="0"/>
                      </a:endParaRPr>
                    </a:p>
                  </a:txBody>
                  <a:tcPr marL="91428" marR="91428" marT="45705" marB="45705" anchor="ctr"/>
                </a:tc>
                <a:tc>
                  <a:txBody>
                    <a:bodyPr/>
                    <a:lstStyle/>
                    <a:p>
                      <a:r>
                        <a:rPr lang="pl-PL" sz="1700" b="0" kern="1200" dirty="0">
                          <a:solidFill>
                            <a:schemeClr val="dk1"/>
                          </a:solidFill>
                          <a:effectLst/>
                        </a:rPr>
                        <a:t>Low</a:t>
                      </a:r>
                      <a:endParaRPr lang="pl-PL" sz="170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3"/>
                  </a:ext>
                </a:extLst>
              </a:tr>
              <a:tr h="690407">
                <a:tc>
                  <a:txBody>
                    <a:bodyPr/>
                    <a:lstStyle/>
                    <a:p>
                      <a:r>
                        <a:rPr lang="pl-PL" sz="1700" b="1" dirty="0"/>
                        <a:t>Differentation and specialization</a:t>
                      </a:r>
                      <a:endParaRPr lang="pl-PL" sz="1700" b="1" dirty="0">
                        <a:latin typeface="Tenorite" panose="00000500000000000000" pitchFamily="2" charset="0"/>
                      </a:endParaRPr>
                    </a:p>
                  </a:txBody>
                  <a:tcPr marL="91428" marR="91428" marT="45705" marB="45705" anchor="ctr"/>
                </a:tc>
                <a:tc>
                  <a:txBody>
                    <a:bodyPr/>
                    <a:lstStyle/>
                    <a:p>
                      <a:pPr algn="just"/>
                      <a:r>
                        <a:rPr lang="pl-PL" sz="1700" b="0" kern="1200" dirty="0">
                          <a:solidFill>
                            <a:schemeClr val="dk1"/>
                          </a:solidFill>
                          <a:effectLst/>
                        </a:rPr>
                        <a:t>Low to medium</a:t>
                      </a:r>
                      <a:endParaRPr lang="pl-PL" sz="1700" dirty="0">
                        <a:latin typeface="Tenorite" panose="00000500000000000000" pitchFamily="2" charset="0"/>
                      </a:endParaRPr>
                    </a:p>
                  </a:txBody>
                  <a:tcPr marL="91428" marR="91428" marT="45705" marB="45705" anchor="ctr"/>
                </a:tc>
                <a:tc>
                  <a:txBody>
                    <a:bodyPr/>
                    <a:lstStyle/>
                    <a:p>
                      <a:pPr algn="just"/>
                      <a:r>
                        <a:rPr lang="pl-PL" sz="1700" b="0" kern="1200" dirty="0">
                          <a:solidFill>
                            <a:schemeClr val="dk1"/>
                          </a:solidFill>
                          <a:effectLst/>
                        </a:rPr>
                        <a:t>Medium</a:t>
                      </a:r>
                      <a:r>
                        <a:rPr lang="pl-PL" sz="1700" b="0" kern="1200" baseline="0" dirty="0">
                          <a:solidFill>
                            <a:schemeClr val="dk1"/>
                          </a:solidFill>
                          <a:effectLst/>
                        </a:rPr>
                        <a:t> to high</a:t>
                      </a:r>
                      <a:endParaRPr lang="pl-PL" sz="170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4"/>
                  </a:ext>
                </a:extLst>
              </a:tr>
              <a:tr h="639534">
                <a:tc>
                  <a:txBody>
                    <a:bodyPr/>
                    <a:lstStyle/>
                    <a:p>
                      <a:r>
                        <a:rPr lang="pl-PL" sz="1700" b="1" dirty="0"/>
                        <a:t>Hierarchy of authority</a:t>
                      </a:r>
                      <a:endParaRPr lang="pl-PL" sz="1700" b="1" dirty="0">
                        <a:latin typeface="Tenorite" panose="00000500000000000000" pitchFamily="2" charset="0"/>
                      </a:endParaRPr>
                    </a:p>
                  </a:txBody>
                  <a:tcPr marL="91428" marR="91428" marT="45705" marB="45705" anchor="ctr"/>
                </a:tc>
                <a:tc>
                  <a:txBody>
                    <a:bodyPr/>
                    <a:lstStyle/>
                    <a:p>
                      <a:pPr algn="just"/>
                      <a:r>
                        <a:rPr lang="pl-PL" sz="1700" b="0" kern="1200" dirty="0">
                          <a:solidFill>
                            <a:schemeClr val="dk1"/>
                          </a:solidFill>
                          <a:effectLst/>
                        </a:rPr>
                        <a:t>Tall with narrow span of control</a:t>
                      </a:r>
                      <a:endParaRPr lang="pl-PL" sz="1700" dirty="0">
                        <a:latin typeface="Tenorite" panose="00000500000000000000" pitchFamily="2" charset="0"/>
                      </a:endParaRPr>
                    </a:p>
                  </a:txBody>
                  <a:tcPr marL="91428" marR="91428" marT="45705" marB="45705" anchor="ctr"/>
                </a:tc>
                <a:tc>
                  <a:txBody>
                    <a:bodyPr/>
                    <a:lstStyle/>
                    <a:p>
                      <a:pPr algn="just"/>
                      <a:r>
                        <a:rPr lang="pl-PL" sz="1700" dirty="0"/>
                        <a:t>Flat with wide</a:t>
                      </a:r>
                      <a:r>
                        <a:rPr lang="pl-PL" sz="1700" baseline="0" dirty="0"/>
                        <a:t> span of control</a:t>
                      </a:r>
                      <a:endParaRPr lang="pl-PL" sz="170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5"/>
                  </a:ext>
                </a:extLst>
              </a:tr>
              <a:tr h="546571">
                <a:tc>
                  <a:txBody>
                    <a:bodyPr/>
                    <a:lstStyle/>
                    <a:p>
                      <a:r>
                        <a:rPr lang="pl-PL" sz="1700" b="1" dirty="0"/>
                        <a:t>Decision making</a:t>
                      </a:r>
                      <a:endParaRPr lang="pl-PL" sz="1700" b="1" dirty="0">
                        <a:latin typeface="Tenorite" panose="00000500000000000000" pitchFamily="2" charset="0"/>
                      </a:endParaRPr>
                    </a:p>
                  </a:txBody>
                  <a:tcPr marL="91428" marR="91428" marT="45705" marB="45705" anchor="ctr"/>
                </a:tc>
                <a:tc>
                  <a:txBody>
                    <a:bodyPr/>
                    <a:lstStyle/>
                    <a:p>
                      <a:r>
                        <a:rPr lang="pl-PL" sz="1700" dirty="0"/>
                        <a:t>Centralized</a:t>
                      </a:r>
                      <a:endParaRPr lang="pl-PL" sz="1700" dirty="0">
                        <a:latin typeface="Tenorite" panose="00000500000000000000" pitchFamily="2" charset="0"/>
                      </a:endParaRPr>
                    </a:p>
                  </a:txBody>
                  <a:tcPr marL="91428" marR="91428" marT="45705" marB="45705" anchor="ctr"/>
                </a:tc>
                <a:tc>
                  <a:txBody>
                    <a:bodyPr/>
                    <a:lstStyle/>
                    <a:p>
                      <a:r>
                        <a:rPr lang="pl-PL" sz="1700" dirty="0"/>
                        <a:t>Decentralized</a:t>
                      </a:r>
                      <a:endParaRPr lang="pl-PL" sz="1700" dirty="0">
                        <a:latin typeface="Tenorite" panose="00000500000000000000" pitchFamily="2" charset="0"/>
                      </a:endParaRPr>
                    </a:p>
                  </a:txBody>
                  <a:tcPr marL="91428" marR="91428" marT="45705" marB="45705"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6359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481755" y="2749209"/>
            <a:ext cx="7228488" cy="3489579"/>
          </a:xfrm>
        </p:spPr>
        <p:txBody>
          <a:bodyPr rtlCol="0">
            <a:noAutofit/>
          </a:bodyPr>
          <a:lstStyle/>
          <a:p>
            <a:pPr marL="457200" marR="0" lvl="0" indent="-457200" algn="just" defTabSz="914400" rtl="0" eaLnBrk="0" fontAlgn="base" latinLnBrk="0" hangingPunct="0">
              <a:lnSpc>
                <a:spcPct val="100000"/>
              </a:lnSpc>
              <a:spcBef>
                <a:spcPts val="0"/>
              </a:spcBef>
              <a:spcAft>
                <a:spcPts val="1800"/>
              </a:spcAft>
              <a:buClrTx/>
              <a:buSzTx/>
              <a:buFontTx/>
              <a:buAutoNum type="arabicPeriod"/>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type of structure is used when a company has locations in multiple cities?</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Flat organizational structure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Functional organizational structure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Divisional organizational structure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Process-oriented structure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0" i="0" u="sng"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840442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69844" y="2626749"/>
            <a:ext cx="8053262" cy="3970004"/>
          </a:xfrm>
        </p:spPr>
        <p:txBody>
          <a:bodyPr rtlCol="0">
            <a:noAutofit/>
          </a:bodyPr>
          <a:lstStyle/>
          <a:p>
            <a:pPr marR="0" lvl="0" algn="l" defTabSz="914400" rtl="0" eaLnBrk="0" fontAlgn="base" latinLnBrk="0" hangingPunct="0">
              <a:lnSpc>
                <a:spcPct val="100000"/>
              </a:lnSpc>
              <a:spcBef>
                <a:spcPct val="0"/>
              </a:spcBef>
              <a:spcAft>
                <a:spcPts val="1800"/>
              </a:spcAft>
              <a:buClrTx/>
              <a:buSzTx/>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2</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does the organizational matrix structure focus on?</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use of divisional work groups that focus on different tasks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use of small, highly specialized teams to maximize efficiency</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use of strong hierarchical structure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use of cross–functional teams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435011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69844" y="2626749"/>
            <a:ext cx="8053262" cy="3970004"/>
          </a:xfrm>
        </p:spPr>
        <p:txBody>
          <a:bodyPr rtlCol="0">
            <a:noAutofit/>
          </a:bodyPr>
          <a:lstStyle/>
          <a:p>
            <a:pPr marR="0" lvl="0" algn="l" defTabSz="914400" rtl="0" eaLnBrk="0" fontAlgn="base" latinLnBrk="0" hangingPunct="0">
              <a:lnSpc>
                <a:spcPct val="100000"/>
              </a:lnSpc>
              <a:spcBef>
                <a:spcPct val="0"/>
              </a:spcBef>
              <a:spcAft>
                <a:spcPts val="1800"/>
              </a:spcAft>
              <a:buClrTx/>
              <a:buSzTx/>
              <a:tabLst/>
              <a:defRPr/>
            </a:pPr>
            <a:r>
              <a:rPr lang="en-US" altLang="pl-PL" sz="2400" b="1" spc="0" dirty="0">
                <a:solidFill>
                  <a:srgbClr val="000000"/>
                </a:solidFill>
                <a:latin typeface="Tenorite" panose="00000500000000000000" pitchFamily="2" charset="0"/>
                <a:cs typeface="Arial" panose="020B0604020202020204" pitchFamily="34" charset="0"/>
              </a:rPr>
              <a:t>3</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of the following is NOT a characteristic of </a:t>
            </a:r>
            <a:b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b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flat organizational structure?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Relatively few layers of management</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Relatively large span of control</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graphical representation of its organizational structure will be relatively wide and short</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More promotional opportunities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603697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21305" y="2725072"/>
            <a:ext cx="8149388" cy="3468018"/>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4</a:t>
            </a:r>
            <a:r>
              <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Span of control is: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number of employees a manager can feasibly oversee</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number of managers an employee can deal with</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number of top managers making decisions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number of </a:t>
            </a:r>
            <a:r>
              <a:rPr kumimoji="0" lang="en-US"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deci</a:t>
            </a:r>
            <a:r>
              <a:rPr kumimoji="0" lang="pl-PL"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si</a:t>
            </a:r>
            <a:r>
              <a:rPr kumimoji="0" lang="en-US"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ons</a:t>
            </a: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top managers delegate to lower-level managers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034665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r>
              <a:rPr lang="pl-PL" sz="5000" dirty="0">
                <a:latin typeface="Tenorite" panose="00000500000000000000" pitchFamily="2" charset="0"/>
              </a:rPr>
              <a:t> - </a:t>
            </a:r>
            <a:r>
              <a:rPr lang="pl-PL" sz="5000" dirty="0" err="1">
                <a:latin typeface="Tenorite" panose="00000500000000000000" pitchFamily="2" charset="0"/>
              </a:rPr>
              <a:t>Answers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5549068" y="2968101"/>
            <a:ext cx="1093862" cy="2971226"/>
          </a:xfrm>
        </p:spPr>
        <p:txBody>
          <a:bodyPr rtlCol="0">
            <a:noAutofit/>
          </a:bodyPr>
          <a:lstStyle/>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C</a:t>
            </a:r>
            <a:r>
              <a:rPr kumimoji="0" lang="pl-PL" sz="2400" b="1"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rPr>
              <a:t>.</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D.</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D.</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A.</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kumimoji="0" lang="en-US" sz="1800" b="0"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448665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structure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29</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3" ma:contentTypeDescription="Utwórz nowy dokument." ma:contentTypeScope="" ma:versionID="778144d80a1999da162ac662f825c2c5">
  <xsd:schema xmlns:xsd="http://www.w3.org/2001/XMLSchema" xmlns:xs="http://www.w3.org/2001/XMLSchema" xmlns:p="http://schemas.microsoft.com/office/2006/metadata/properties" xmlns:ns2="74d0b6ec-ebf6-45c9-ba31-30d50b17e98f" targetNamespace="http://schemas.microsoft.com/office/2006/metadata/properties" ma:root="true" ma:fieldsID="620183f7246a9b8f5a036504d13b15a5" ns2:_="">
    <xsd:import namespace="74d0b6ec-ebf6-45c9-ba31-30d50b17e9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b6ec-ebf6-45c9-ba31-30d50b17e9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66B748-E3F7-472E-980B-1F0254F9F6BA}"/>
</file>

<file path=customXml/itemProps2.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1309999-888E-44BA-A188-888AF21B1F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Projekt Mroźny</Template>
  <TotalTime>2202</TotalTime>
  <Words>1461</Words>
  <Application>Microsoft Office PowerPoint</Application>
  <PresentationFormat>Widescreen</PresentationFormat>
  <Paragraphs>325</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Tenorite</vt:lpstr>
      <vt:lpstr>Arial</vt:lpstr>
      <vt:lpstr>Calibri</vt:lpstr>
      <vt:lpstr>Candara</vt:lpstr>
      <vt:lpstr>Tahoma</vt:lpstr>
      <vt:lpstr>Times New Roman</vt:lpstr>
      <vt:lpstr>Wingdings</vt:lpstr>
      <vt:lpstr>FrostyVTI</vt:lpstr>
      <vt:lpstr>Introduction  to management</vt:lpstr>
      <vt:lpstr>Organizational structure</vt:lpstr>
      <vt:lpstr>Organizational structure - definitions</vt:lpstr>
      <vt:lpstr>Organigram –  example</vt:lpstr>
      <vt:lpstr>Organizational structure - definitions</vt:lpstr>
      <vt:lpstr>Organizational structure - types</vt:lpstr>
      <vt:lpstr>Flat and tall structure </vt:lpstr>
      <vt:lpstr>Differences between flat and tall structures</vt:lpstr>
      <vt:lpstr>Exercise 1</vt:lpstr>
      <vt:lpstr>Exercise 2</vt:lpstr>
      <vt:lpstr>Organizational structure - types</vt:lpstr>
      <vt:lpstr>Functional structure</vt:lpstr>
      <vt:lpstr>Functional structure</vt:lpstr>
      <vt:lpstr>Divisional structure</vt:lpstr>
      <vt:lpstr>Divisional structure</vt:lpstr>
      <vt:lpstr>Process-oriented structure</vt:lpstr>
      <vt:lpstr>Process-oriented structure</vt:lpstr>
      <vt:lpstr>Process-oriented structure</vt:lpstr>
      <vt:lpstr>Process-oriented structure</vt:lpstr>
      <vt:lpstr>Mechanistic and organic organizational forms</vt:lpstr>
      <vt:lpstr>Mechanistic organizational form</vt:lpstr>
      <vt:lpstr>Organic organizational form</vt:lpstr>
      <vt:lpstr>Differences between mechanistic and organic organizational forms</vt:lpstr>
      <vt:lpstr>Test</vt:lpstr>
      <vt:lpstr>Test</vt:lpstr>
      <vt:lpstr>Test</vt:lpstr>
      <vt:lpstr>Test</vt:lpstr>
      <vt:lpstr>Test - Answers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Glaszczka</cp:lastModifiedBy>
  <cp:revision>59</cp:revision>
  <dcterms:created xsi:type="dcterms:W3CDTF">2022-09-23T12:53:53Z</dcterms:created>
  <dcterms:modified xsi:type="dcterms:W3CDTF">2025-10-28T10:04:28Z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