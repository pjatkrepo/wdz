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36"/>
  </p:notesMasterIdLst>
  <p:handoutMasterIdLst>
    <p:handoutMasterId r:id="rId37"/>
  </p:handoutMasterIdLst>
  <p:sldIdLst>
    <p:sldId id="256" r:id="rId5"/>
    <p:sldId id="308" r:id="rId6"/>
    <p:sldId id="389" r:id="rId7"/>
    <p:sldId id="395" r:id="rId8"/>
    <p:sldId id="396" r:id="rId9"/>
    <p:sldId id="397" r:id="rId10"/>
    <p:sldId id="398" r:id="rId11"/>
    <p:sldId id="400" r:id="rId12"/>
    <p:sldId id="399" r:id="rId13"/>
    <p:sldId id="401" r:id="rId14"/>
    <p:sldId id="402" r:id="rId15"/>
    <p:sldId id="418" r:id="rId16"/>
    <p:sldId id="417" r:id="rId17"/>
    <p:sldId id="407" r:id="rId18"/>
    <p:sldId id="405" r:id="rId19"/>
    <p:sldId id="406" r:id="rId20"/>
    <p:sldId id="409" r:id="rId21"/>
    <p:sldId id="410" r:id="rId22"/>
    <p:sldId id="393" r:id="rId23"/>
    <p:sldId id="411" r:id="rId24"/>
    <p:sldId id="412" r:id="rId25"/>
    <p:sldId id="413" r:id="rId26"/>
    <p:sldId id="414" r:id="rId27"/>
    <p:sldId id="415" r:id="rId28"/>
    <p:sldId id="416" r:id="rId29"/>
    <p:sldId id="356" r:id="rId30"/>
    <p:sldId id="357" r:id="rId31"/>
    <p:sldId id="358" r:id="rId32"/>
    <p:sldId id="365" r:id="rId33"/>
    <p:sldId id="366" r:id="rId34"/>
    <p:sldId id="268" r:id="rId35"/>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441"/>
    <a:srgbClr val="663300"/>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5934"/>
  </p:normalViewPr>
  <p:slideViewPr>
    <p:cSldViewPr snapToGrid="0">
      <p:cViewPr varScale="1">
        <p:scale>
          <a:sx n="123" d="100"/>
          <a:sy n="123" d="100"/>
        </p:scale>
        <p:origin x="114" y="24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18.10.2025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18.10.2025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263628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3521587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2565240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131572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1270524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3810144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2904685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699891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4047447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3892208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2262597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1274313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416710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4262321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1483371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3451666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2157547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4252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1199165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4393523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3128949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2431507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3051974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2295620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3329023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27</a:t>
            </a:fld>
            <a:endParaRPr lang="pl-PL"/>
          </a:p>
        </p:txBody>
      </p:sp>
    </p:spTree>
    <p:extLst>
      <p:ext uri="{BB962C8B-B14F-4D97-AF65-F5344CB8AC3E}">
        <p14:creationId xmlns:p14="http://schemas.microsoft.com/office/powerpoint/2010/main" val="2606040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28</a:t>
            </a:fld>
            <a:endParaRPr lang="pl-PL"/>
          </a:p>
        </p:txBody>
      </p:sp>
    </p:spTree>
    <p:extLst>
      <p:ext uri="{BB962C8B-B14F-4D97-AF65-F5344CB8AC3E}">
        <p14:creationId xmlns:p14="http://schemas.microsoft.com/office/powerpoint/2010/main" val="738289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29</a:t>
            </a:fld>
            <a:endParaRPr lang="pl-PL"/>
          </a:p>
        </p:txBody>
      </p:sp>
    </p:spTree>
    <p:extLst>
      <p:ext uri="{BB962C8B-B14F-4D97-AF65-F5344CB8AC3E}">
        <p14:creationId xmlns:p14="http://schemas.microsoft.com/office/powerpoint/2010/main" val="12810026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30</a:t>
            </a:fld>
            <a:endParaRPr lang="pl-PL"/>
          </a:p>
        </p:txBody>
      </p:sp>
    </p:spTree>
    <p:extLst>
      <p:ext uri="{BB962C8B-B14F-4D97-AF65-F5344CB8AC3E}">
        <p14:creationId xmlns:p14="http://schemas.microsoft.com/office/powerpoint/2010/main" val="1469462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31</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jpe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jpe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4</a:t>
            </a:r>
          </a:p>
          <a:p>
            <a:pPr rtl="0"/>
            <a:r>
              <a:rPr lang="pl-PL" sz="2800" dirty="0" err="1">
                <a:solidFill>
                  <a:srgbClr val="663300"/>
                </a:solidFill>
                <a:latin typeface="Tenorite" panose="00000500000000000000" pitchFamily="2" charset="0"/>
              </a:rPr>
              <a:t>Organizational</a:t>
            </a:r>
            <a:r>
              <a:rPr lang="pl-PL" sz="2800" dirty="0">
                <a:solidFill>
                  <a:srgbClr val="663300"/>
                </a:solidFill>
                <a:latin typeface="Tenorite" panose="00000500000000000000" pitchFamily="2" charset="0"/>
              </a:rPr>
              <a:t> </a:t>
            </a:r>
            <a:r>
              <a:rPr lang="pl-PL" sz="2800" dirty="0" err="1">
                <a:solidFill>
                  <a:srgbClr val="663300"/>
                </a:solidFill>
                <a:latin typeface="Tenorite" panose="00000500000000000000" pitchFamily="2" charset="0"/>
              </a:rPr>
              <a:t>culture</a:t>
            </a:r>
            <a:endParaRPr lang="pl-PL" sz="28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pic>
        <p:nvPicPr>
          <p:cNvPr id="11" name="Picture 2" descr="Znalezione obrazy dla zapytania iceberg clipart">
            <a:extLst>
              <a:ext uri="{FF2B5EF4-FFF2-40B4-BE49-F238E27FC236}">
                <a16:creationId xmlns:a16="http://schemas.microsoft.com/office/drawing/2014/main" id="{71E78F64-74C2-74FA-EABE-4B2A4A4BB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8189" y="385010"/>
            <a:ext cx="7475621" cy="560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651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Defining</a:t>
            </a:r>
            <a:r>
              <a:rPr lang="pl-PL" sz="5000" dirty="0">
                <a:latin typeface="Tenorite" panose="00000500000000000000" pitchFamily="2" charset="0"/>
              </a:rPr>
              <a:t> </a:t>
            </a:r>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05734" y="2728364"/>
            <a:ext cx="6229666" cy="288958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Organizational culture</a:t>
            </a:r>
            <a:r>
              <a:rPr lang="en-US" sz="1900" dirty="0">
                <a:solidFill>
                  <a:srgbClr val="663300"/>
                </a:solidFill>
                <a:latin typeface="Tenorite" panose="00000500000000000000" pitchFamily="2" charset="0"/>
              </a:rPr>
              <a:t> - a set of shared, often implicit </a:t>
            </a:r>
            <a:r>
              <a:rPr lang="en-US" sz="1900" b="1" dirty="0">
                <a:solidFill>
                  <a:srgbClr val="663300"/>
                </a:solidFill>
                <a:latin typeface="Tenorite" panose="00000500000000000000" pitchFamily="2" charset="0"/>
              </a:rPr>
              <a:t>assumptions</a:t>
            </a:r>
            <a:r>
              <a:rPr lang="en-US" sz="1900" dirty="0">
                <a:solidFill>
                  <a:srgbClr val="663300"/>
                </a:solidFill>
                <a:latin typeface="Tenorite" panose="00000500000000000000" pitchFamily="2" charset="0"/>
              </a:rPr>
              <a:t>, </a:t>
            </a:r>
            <a:r>
              <a:rPr lang="en-US" sz="1900" b="1" dirty="0">
                <a:solidFill>
                  <a:srgbClr val="663300"/>
                </a:solidFill>
                <a:latin typeface="Tenorite" panose="00000500000000000000" pitchFamily="2" charset="0"/>
              </a:rPr>
              <a:t>beliefs</a:t>
            </a:r>
            <a:r>
              <a:rPr lang="en-US" sz="1900" dirty="0">
                <a:solidFill>
                  <a:srgbClr val="663300"/>
                </a:solidFill>
                <a:latin typeface="Tenorite" panose="00000500000000000000" pitchFamily="2" charset="0"/>
              </a:rPr>
              <a:t>, </a:t>
            </a:r>
            <a:r>
              <a:rPr lang="en-US" sz="1900" b="1" dirty="0">
                <a:solidFill>
                  <a:srgbClr val="663300"/>
                </a:solidFill>
                <a:latin typeface="Tenorite" panose="00000500000000000000" pitchFamily="2" charset="0"/>
              </a:rPr>
              <a:t>values</a:t>
            </a:r>
            <a:r>
              <a:rPr lang="en-US" sz="1900" dirty="0">
                <a:solidFill>
                  <a:srgbClr val="663300"/>
                </a:solidFill>
                <a:latin typeface="Tenorite" panose="00000500000000000000" pitchFamily="2" charset="0"/>
              </a:rPr>
              <a:t> and </a:t>
            </a:r>
            <a:r>
              <a:rPr lang="en-US" sz="1900" b="1" dirty="0">
                <a:solidFill>
                  <a:srgbClr val="663300"/>
                </a:solidFill>
                <a:latin typeface="Tenorite" panose="00000500000000000000" pitchFamily="2" charset="0"/>
              </a:rPr>
              <a:t>sensemaking procedures</a:t>
            </a:r>
            <a:r>
              <a:rPr lang="en-US" sz="1900" dirty="0">
                <a:solidFill>
                  <a:srgbClr val="663300"/>
                </a:solidFill>
                <a:latin typeface="Tenorite" panose="00000500000000000000" pitchFamily="2" charset="0"/>
              </a:rPr>
              <a:t> that influences and guides the behavior and thinking of organizational members, and is continuously enacted and in turn reinforced - or changed - by the b</a:t>
            </a:r>
            <a:r>
              <a:rPr lang="pl-PL" sz="1900" dirty="0">
                <a:solidFill>
                  <a:srgbClr val="663300"/>
                </a:solidFill>
                <a:latin typeface="Tenorite" panose="00000500000000000000" pitchFamily="2" charset="0"/>
              </a:rPr>
              <a:t>e</a:t>
            </a:r>
            <a:r>
              <a:rPr lang="en-US" sz="1900" dirty="0" err="1">
                <a:solidFill>
                  <a:srgbClr val="663300"/>
                </a:solidFill>
                <a:latin typeface="Tenorite" panose="00000500000000000000" pitchFamily="2" charset="0"/>
              </a:rPr>
              <a:t>havior</a:t>
            </a:r>
            <a:r>
              <a:rPr lang="en-US" sz="1900" dirty="0">
                <a:solidFill>
                  <a:srgbClr val="663300"/>
                </a:solidFill>
                <a:latin typeface="Tenorite" panose="00000500000000000000" pitchFamily="2" charset="0"/>
              </a:rPr>
              <a:t> of organizational members.</a:t>
            </a:r>
          </a:p>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The initial source </a:t>
            </a:r>
            <a:r>
              <a:rPr lang="en-US" sz="1900" dirty="0">
                <a:solidFill>
                  <a:srgbClr val="663300"/>
                </a:solidFill>
                <a:latin typeface="Tenorite" panose="00000500000000000000" pitchFamily="2" charset="0"/>
              </a:rPr>
              <a:t>of an organization's</a:t>
            </a:r>
            <a:r>
              <a:rPr lang="en-US" sz="1900" b="1" dirty="0">
                <a:solidFill>
                  <a:srgbClr val="663300"/>
                </a:solidFill>
                <a:latin typeface="Tenorite" panose="00000500000000000000" pitchFamily="2" charset="0"/>
              </a:rPr>
              <a:t> culture</a:t>
            </a:r>
            <a:r>
              <a:rPr lang="en-US" sz="1900" dirty="0">
                <a:solidFill>
                  <a:srgbClr val="663300"/>
                </a:solidFill>
                <a:latin typeface="Tenorite" panose="00000500000000000000" pitchFamily="2" charset="0"/>
              </a:rPr>
              <a:t> is the </a:t>
            </a:r>
            <a:r>
              <a:rPr lang="en-US" sz="1900" b="1" dirty="0">
                <a:solidFill>
                  <a:srgbClr val="663300"/>
                </a:solidFill>
                <a:latin typeface="Tenorite" panose="00000500000000000000" pitchFamily="2" charset="0"/>
              </a:rPr>
              <a:t>founder of the organization</a:t>
            </a:r>
            <a:r>
              <a:rPr lang="en-US" sz="1900" dirty="0">
                <a:solidFill>
                  <a:srgbClr val="663300"/>
                </a:solidFill>
                <a:latin typeface="Tenorite" panose="00000500000000000000" pitchFamily="2" charset="0"/>
              </a:rPr>
              <a:t>.</a:t>
            </a:r>
          </a:p>
        </p:txBody>
      </p:sp>
      <p:pic>
        <p:nvPicPr>
          <p:cNvPr id="7" name="Picture 4">
            <a:extLst>
              <a:ext uri="{FF2B5EF4-FFF2-40B4-BE49-F238E27FC236}">
                <a16:creationId xmlns:a16="http://schemas.microsoft.com/office/drawing/2014/main" id="{8917BC2E-B520-C50B-2DE2-67BA505AF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938" y="3869897"/>
            <a:ext cx="3057937" cy="1748051"/>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95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1167" y="648004"/>
            <a:ext cx="6229665" cy="1453003"/>
          </a:xfrm>
        </p:spPr>
        <p:txBody>
          <a:bodyPr wrap="square" rtlCol="0" anchor="b">
            <a:normAutofit fontScale="90000"/>
          </a:bodyPr>
          <a:lstStyle/>
          <a:p>
            <a:pPr rtl="0"/>
            <a:r>
              <a:rPr lang="en-US" sz="5000" dirty="0">
                <a:latin typeface="Tenorite" panose="00000500000000000000" pitchFamily="2" charset="0"/>
              </a:rPr>
              <a:t>Levels and dimensions of organizational 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
        <p:nvSpPr>
          <p:cNvPr id="10" name="Prostokąt zaokrąglony 2">
            <a:extLst>
              <a:ext uri="{FF2B5EF4-FFF2-40B4-BE49-F238E27FC236}">
                <a16:creationId xmlns:a16="http://schemas.microsoft.com/office/drawing/2014/main" id="{F8042995-F7C4-674D-7ADC-43CC0DBC21AC}"/>
              </a:ext>
            </a:extLst>
          </p:cNvPr>
          <p:cNvSpPr/>
          <p:nvPr/>
        </p:nvSpPr>
        <p:spPr bwMode="auto">
          <a:xfrm>
            <a:off x="4022383" y="2250273"/>
            <a:ext cx="3944937" cy="792162"/>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sz="3500" b="1" u="none" dirty="0" err="1">
                <a:latin typeface="Tenorite" panose="00000500000000000000" pitchFamily="2" charset="0"/>
                <a:cs typeface="Arial" charset="0"/>
              </a:rPr>
              <a:t>Artifacts</a:t>
            </a:r>
            <a:endParaRPr lang="pl-PL" sz="3500" b="1" u="none" dirty="0">
              <a:latin typeface="Tenorite" panose="00000500000000000000" pitchFamily="2" charset="0"/>
              <a:cs typeface="Arial" charset="0"/>
            </a:endParaRPr>
          </a:p>
        </p:txBody>
      </p:sp>
      <p:sp>
        <p:nvSpPr>
          <p:cNvPr id="11" name="Prostokąt zaokrąglony 9">
            <a:extLst>
              <a:ext uri="{FF2B5EF4-FFF2-40B4-BE49-F238E27FC236}">
                <a16:creationId xmlns:a16="http://schemas.microsoft.com/office/drawing/2014/main" id="{22BE9D5C-C146-711B-F032-B406D7039A41}"/>
              </a:ext>
            </a:extLst>
          </p:cNvPr>
          <p:cNvSpPr>
            <a:spLocks noChangeArrowheads="1"/>
          </p:cNvSpPr>
          <p:nvPr/>
        </p:nvSpPr>
        <p:spPr bwMode="auto">
          <a:xfrm>
            <a:off x="4005716" y="3833222"/>
            <a:ext cx="3992560" cy="792162"/>
          </a:xfrm>
          <a:prstGeom prst="roundRect">
            <a:avLst>
              <a:gd name="adj" fmla="val 16667"/>
            </a:avLst>
          </a:prstGeom>
          <a:solidFill>
            <a:schemeClr val="bg2">
              <a:lumMod val="75000"/>
            </a:schemeClr>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3500" b="1" u="none" dirty="0" err="1">
                <a:latin typeface="Tenorite" panose="00000500000000000000" pitchFamily="2" charset="0"/>
              </a:rPr>
              <a:t>Values</a:t>
            </a:r>
            <a:endParaRPr lang="pl-PL" altLang="pl-PL" sz="3500" b="1" u="none" dirty="0">
              <a:latin typeface="Tenorite" panose="00000500000000000000" pitchFamily="2" charset="0"/>
            </a:endParaRPr>
          </a:p>
        </p:txBody>
      </p:sp>
      <p:sp>
        <p:nvSpPr>
          <p:cNvPr id="12" name="Prostokąt zaokrąglony 10">
            <a:extLst>
              <a:ext uri="{FF2B5EF4-FFF2-40B4-BE49-F238E27FC236}">
                <a16:creationId xmlns:a16="http://schemas.microsoft.com/office/drawing/2014/main" id="{FC181B0A-B755-D2CB-8D41-B034FE9ED124}"/>
              </a:ext>
            </a:extLst>
          </p:cNvPr>
          <p:cNvSpPr/>
          <p:nvPr/>
        </p:nvSpPr>
        <p:spPr bwMode="auto">
          <a:xfrm>
            <a:off x="4005716" y="5416171"/>
            <a:ext cx="3961604" cy="79216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sz="3500" b="1" u="none" dirty="0" err="1">
                <a:latin typeface="Tenorite" panose="00000500000000000000" pitchFamily="2" charset="0"/>
                <a:cs typeface="Arial" charset="0"/>
              </a:rPr>
              <a:t>Assumptions</a:t>
            </a:r>
            <a:endParaRPr lang="pl-PL" sz="3500" b="1" u="none" dirty="0">
              <a:latin typeface="Tenorite" panose="00000500000000000000" pitchFamily="2" charset="0"/>
              <a:cs typeface="Arial" charset="0"/>
            </a:endParaRPr>
          </a:p>
        </p:txBody>
      </p:sp>
      <p:cxnSp>
        <p:nvCxnSpPr>
          <p:cNvPr id="13" name="Łącznik prosty ze strzałką 12">
            <a:extLst>
              <a:ext uri="{FF2B5EF4-FFF2-40B4-BE49-F238E27FC236}">
                <a16:creationId xmlns:a16="http://schemas.microsoft.com/office/drawing/2014/main" id="{53381437-46A8-3BE3-5B82-6BB72BA3A764}"/>
              </a:ext>
            </a:extLst>
          </p:cNvPr>
          <p:cNvCxnSpPr>
            <a:cxnSpLocks noChangeShapeType="1"/>
          </p:cNvCxnSpPr>
          <p:nvPr/>
        </p:nvCxnSpPr>
        <p:spPr bwMode="auto">
          <a:xfrm flipV="1">
            <a:off x="4922495" y="4625384"/>
            <a:ext cx="0" cy="792163"/>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Łącznik prosty ze strzałką 13">
            <a:extLst>
              <a:ext uri="{FF2B5EF4-FFF2-40B4-BE49-F238E27FC236}">
                <a16:creationId xmlns:a16="http://schemas.microsoft.com/office/drawing/2014/main" id="{BA2FACC6-0F31-B138-1FCC-5783999B9FF7}"/>
              </a:ext>
            </a:extLst>
          </p:cNvPr>
          <p:cNvCxnSpPr>
            <a:cxnSpLocks noChangeShapeType="1"/>
          </p:cNvCxnSpPr>
          <p:nvPr/>
        </p:nvCxnSpPr>
        <p:spPr bwMode="auto">
          <a:xfrm flipV="1">
            <a:off x="4885983" y="3042435"/>
            <a:ext cx="0" cy="792162"/>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Łącznik prosty ze strzałką 14">
            <a:extLst>
              <a:ext uri="{FF2B5EF4-FFF2-40B4-BE49-F238E27FC236}">
                <a16:creationId xmlns:a16="http://schemas.microsoft.com/office/drawing/2014/main" id="{59B2AE3C-70DC-48B3-72DE-890ECA68DB56}"/>
              </a:ext>
            </a:extLst>
          </p:cNvPr>
          <p:cNvCxnSpPr>
            <a:cxnSpLocks noChangeShapeType="1"/>
          </p:cNvCxnSpPr>
          <p:nvPr/>
        </p:nvCxnSpPr>
        <p:spPr bwMode="auto">
          <a:xfrm>
            <a:off x="7059270" y="3042435"/>
            <a:ext cx="0" cy="792162"/>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Łącznik prosty ze strzałką 15">
            <a:extLst>
              <a:ext uri="{FF2B5EF4-FFF2-40B4-BE49-F238E27FC236}">
                <a16:creationId xmlns:a16="http://schemas.microsoft.com/office/drawing/2014/main" id="{D3B43A8E-2F25-6D46-9F75-D2DBA27DF9AA}"/>
              </a:ext>
            </a:extLst>
          </p:cNvPr>
          <p:cNvCxnSpPr>
            <a:cxnSpLocks noChangeShapeType="1"/>
          </p:cNvCxnSpPr>
          <p:nvPr/>
        </p:nvCxnSpPr>
        <p:spPr bwMode="auto">
          <a:xfrm>
            <a:off x="7059270" y="4625384"/>
            <a:ext cx="0" cy="792163"/>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53497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pic>
        <p:nvPicPr>
          <p:cNvPr id="11" name="Picture 2" descr="Znalezione obrazy dla zapytania iceberg clipart">
            <a:extLst>
              <a:ext uri="{FF2B5EF4-FFF2-40B4-BE49-F238E27FC236}">
                <a16:creationId xmlns:a16="http://schemas.microsoft.com/office/drawing/2014/main" id="{71E78F64-74C2-74FA-EABE-4B2A4A4BB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8189" y="385010"/>
            <a:ext cx="7475621" cy="560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rostokąt zaokrąglony 2">
            <a:extLst>
              <a:ext uri="{FF2B5EF4-FFF2-40B4-BE49-F238E27FC236}">
                <a16:creationId xmlns:a16="http://schemas.microsoft.com/office/drawing/2014/main" id="{1FAF32F5-2518-188F-D700-5818C63CB71D}"/>
              </a:ext>
            </a:extLst>
          </p:cNvPr>
          <p:cNvSpPr>
            <a:spLocks noChangeArrowheads="1"/>
          </p:cNvSpPr>
          <p:nvPr/>
        </p:nvSpPr>
        <p:spPr bwMode="auto">
          <a:xfrm>
            <a:off x="2413168" y="1333834"/>
            <a:ext cx="1728787" cy="360363"/>
          </a:xfrm>
          <a:prstGeom prst="roundRect">
            <a:avLst>
              <a:gd name="adj" fmla="val 16667"/>
            </a:avLst>
          </a:prstGeom>
          <a:solidFill>
            <a:schemeClr val="accent2">
              <a:lumMod val="20000"/>
              <a:lumOff val="80000"/>
            </a:schemeClr>
          </a:solidFill>
          <a:ln w="9525" algn="ctr">
            <a:solidFill>
              <a:schemeClr val="tx1"/>
            </a:solidFill>
            <a:round/>
            <a:headEnd/>
            <a:tailEnd/>
          </a:ln>
        </p:spPr>
        <p:txBody>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eaLnBrk="1" hangingPunct="1"/>
            <a:r>
              <a:rPr lang="pl-PL" altLang="pl-PL" sz="1600" b="1" u="none" dirty="0" err="1">
                <a:latin typeface="Tenorite" panose="00000500000000000000" pitchFamily="2" charset="0"/>
              </a:rPr>
              <a:t>Artifacts</a:t>
            </a:r>
            <a:endParaRPr lang="pl-PL" altLang="pl-PL" sz="1600" b="1" u="none" dirty="0">
              <a:latin typeface="Tenorite" panose="00000500000000000000" pitchFamily="2" charset="0"/>
            </a:endParaRPr>
          </a:p>
        </p:txBody>
      </p:sp>
      <p:sp>
        <p:nvSpPr>
          <p:cNvPr id="3" name="Prostokąt zaokrąglony 9">
            <a:extLst>
              <a:ext uri="{FF2B5EF4-FFF2-40B4-BE49-F238E27FC236}">
                <a16:creationId xmlns:a16="http://schemas.microsoft.com/office/drawing/2014/main" id="{6A22A482-A760-91C7-271B-FEBC94B52C0C}"/>
              </a:ext>
            </a:extLst>
          </p:cNvPr>
          <p:cNvSpPr>
            <a:spLocks noChangeArrowheads="1"/>
          </p:cNvSpPr>
          <p:nvPr/>
        </p:nvSpPr>
        <p:spPr bwMode="auto">
          <a:xfrm>
            <a:off x="4376905" y="2279984"/>
            <a:ext cx="1471613" cy="384175"/>
          </a:xfrm>
          <a:prstGeom prst="roundRect">
            <a:avLst>
              <a:gd name="adj" fmla="val 16667"/>
            </a:avLst>
          </a:prstGeom>
          <a:solidFill>
            <a:schemeClr val="bg2">
              <a:lumMod val="75000"/>
            </a:schemeClr>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600" b="1" u="none">
                <a:latin typeface="Tenorite" panose="00000500000000000000" pitchFamily="2" charset="0"/>
              </a:rPr>
              <a:t>Values</a:t>
            </a:r>
          </a:p>
        </p:txBody>
      </p:sp>
      <p:sp>
        <p:nvSpPr>
          <p:cNvPr id="7" name="Prostokąt zaokrąglony 4">
            <a:extLst>
              <a:ext uri="{FF2B5EF4-FFF2-40B4-BE49-F238E27FC236}">
                <a16:creationId xmlns:a16="http://schemas.microsoft.com/office/drawing/2014/main" id="{2E6109AA-B303-08CF-4B0F-7A0DA219F9D4}"/>
              </a:ext>
            </a:extLst>
          </p:cNvPr>
          <p:cNvSpPr/>
          <p:nvPr/>
        </p:nvSpPr>
        <p:spPr bwMode="auto">
          <a:xfrm>
            <a:off x="3133893" y="4215147"/>
            <a:ext cx="3959225" cy="863600"/>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a:lstStyle/>
          <a:p>
            <a:pPr algn="ctr" eaLnBrk="1" hangingPunct="1">
              <a:defRPr/>
            </a:pPr>
            <a:r>
              <a:rPr lang="pl-PL" sz="4400" b="1" u="none" dirty="0" err="1">
                <a:latin typeface="Tenorite" panose="00000500000000000000" pitchFamily="2" charset="0"/>
                <a:cs typeface="Arial" charset="0"/>
              </a:rPr>
              <a:t>Assumptions</a:t>
            </a:r>
            <a:endParaRPr lang="pl-PL" sz="4400" b="1" u="none" dirty="0">
              <a:latin typeface="Tenorite" panose="00000500000000000000" pitchFamily="2" charset="0"/>
              <a:cs typeface="Arial" charset="0"/>
            </a:endParaRPr>
          </a:p>
        </p:txBody>
      </p:sp>
      <p:sp>
        <p:nvSpPr>
          <p:cNvPr id="8" name="pole tekstowe 7">
            <a:extLst>
              <a:ext uri="{FF2B5EF4-FFF2-40B4-BE49-F238E27FC236}">
                <a16:creationId xmlns:a16="http://schemas.microsoft.com/office/drawing/2014/main" id="{777C86F5-2607-142E-89D9-91D3E85C714E}"/>
              </a:ext>
            </a:extLst>
          </p:cNvPr>
          <p:cNvSpPr txBox="1"/>
          <p:nvPr/>
        </p:nvSpPr>
        <p:spPr>
          <a:xfrm>
            <a:off x="4284830" y="1333834"/>
            <a:ext cx="4464050" cy="374650"/>
          </a:xfrm>
          <a:prstGeom prst="roundRect">
            <a:avLst/>
          </a:prstGeom>
          <a:solidFill>
            <a:schemeClr val="accent2">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lIns="91430" tIns="45715" rIns="91430" bIns="45715">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eaLnBrk="1" hangingPunct="1">
              <a:defRPr/>
            </a:pPr>
            <a:r>
              <a:rPr lang="pl-PL" altLang="en-US" sz="1600" b="1" u="none" dirty="0" err="1">
                <a:latin typeface="Tenorite" panose="00000500000000000000" pitchFamily="2" charset="0"/>
                <a:cs typeface="Tahoma" panose="020B0604030504040204" pitchFamily="34" charset="0"/>
              </a:rPr>
              <a:t>Visible</a:t>
            </a:r>
            <a:r>
              <a:rPr lang="pl-PL" altLang="en-US" sz="1600" b="1" u="none" dirty="0">
                <a:latin typeface="Tenorite" panose="00000500000000000000" pitchFamily="2" charset="0"/>
                <a:cs typeface="Tahoma" panose="020B0604030504040204" pitchFamily="34" charset="0"/>
              </a:rPr>
              <a:t> </a:t>
            </a:r>
            <a:r>
              <a:rPr lang="pl-PL" altLang="en-US" sz="1600" b="1" u="none" dirty="0" err="1">
                <a:latin typeface="Tenorite" panose="00000500000000000000" pitchFamily="2" charset="0"/>
                <a:cs typeface="Tahoma" panose="020B0604030504040204" pitchFamily="34" charset="0"/>
              </a:rPr>
              <a:t>elements</a:t>
            </a:r>
            <a:r>
              <a:rPr lang="pl-PL" altLang="en-US" sz="1600" b="1" u="none" dirty="0">
                <a:latin typeface="Tenorite" panose="00000500000000000000" pitchFamily="2" charset="0"/>
                <a:cs typeface="Tahoma" panose="020B0604030504040204" pitchFamily="34" charset="0"/>
              </a:rPr>
              <a:t> of </a:t>
            </a:r>
            <a:r>
              <a:rPr lang="pl-PL" altLang="en-US" sz="1600" b="1" u="none" dirty="0" err="1">
                <a:latin typeface="Tenorite" panose="00000500000000000000" pitchFamily="2" charset="0"/>
                <a:cs typeface="Tahoma" panose="020B0604030504040204" pitchFamily="34" charset="0"/>
              </a:rPr>
              <a:t>culture</a:t>
            </a:r>
            <a:endParaRPr lang="pl-PL" altLang="en-US" sz="1600" b="1" u="none" dirty="0">
              <a:latin typeface="Tenorite" panose="00000500000000000000" pitchFamily="2" charset="0"/>
              <a:cs typeface="Tahoma" panose="020B0604030504040204" pitchFamily="34" charset="0"/>
            </a:endParaRPr>
          </a:p>
        </p:txBody>
      </p:sp>
      <p:sp>
        <p:nvSpPr>
          <p:cNvPr id="9" name="pole tekstowe 8">
            <a:extLst>
              <a:ext uri="{FF2B5EF4-FFF2-40B4-BE49-F238E27FC236}">
                <a16:creationId xmlns:a16="http://schemas.microsoft.com/office/drawing/2014/main" id="{722CDA76-5352-4E04-1D7A-7E38D69370A9}"/>
              </a:ext>
            </a:extLst>
          </p:cNvPr>
          <p:cNvSpPr txBox="1"/>
          <p:nvPr/>
        </p:nvSpPr>
        <p:spPr>
          <a:xfrm>
            <a:off x="5942180" y="2279984"/>
            <a:ext cx="3706813" cy="374650"/>
          </a:xfrm>
          <a:prstGeom prst="roundRect">
            <a:avLst/>
          </a:prstGeom>
          <a:solidFill>
            <a:schemeClr val="bg2">
              <a:lumMod val="7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lIns="91430" tIns="45715" rIns="91430" bIns="45715">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eaLnBrk="1" hangingPunct="1">
              <a:defRPr/>
            </a:pPr>
            <a:r>
              <a:rPr lang="pl-PL" altLang="en-US" sz="1600" b="1" u="none" dirty="0" err="1">
                <a:latin typeface="Tenorite" panose="00000500000000000000" pitchFamily="2" charset="0"/>
                <a:cs typeface="Tahoma" panose="020B0604030504040204" pitchFamily="34" charset="0"/>
              </a:rPr>
              <a:t>Ethical</a:t>
            </a:r>
            <a:r>
              <a:rPr lang="pl-PL" altLang="en-US" sz="1600" b="1" u="none" dirty="0">
                <a:latin typeface="Tenorite" panose="00000500000000000000" pitchFamily="2" charset="0"/>
                <a:cs typeface="Tahoma" panose="020B0604030504040204" pitchFamily="34" charset="0"/>
              </a:rPr>
              <a:t> </a:t>
            </a:r>
            <a:r>
              <a:rPr lang="pl-PL" altLang="en-US" sz="1600" b="1" u="none" dirty="0" err="1">
                <a:latin typeface="Tenorite" panose="00000500000000000000" pitchFamily="2" charset="0"/>
                <a:cs typeface="Tahoma" panose="020B0604030504040204" pitchFamily="34" charset="0"/>
              </a:rPr>
              <a:t>statements</a:t>
            </a:r>
            <a:r>
              <a:rPr lang="pl-PL" altLang="en-US" sz="1600" b="1" u="none" dirty="0">
                <a:latin typeface="Tenorite" panose="00000500000000000000" pitchFamily="2" charset="0"/>
                <a:cs typeface="Tahoma" panose="020B0604030504040204" pitchFamily="34" charset="0"/>
              </a:rPr>
              <a:t> of </a:t>
            </a:r>
            <a:r>
              <a:rPr lang="pl-PL" altLang="en-US" sz="1600" b="1" u="none" dirty="0" err="1">
                <a:latin typeface="Tenorite" panose="00000500000000000000" pitchFamily="2" charset="0"/>
                <a:cs typeface="Tahoma" panose="020B0604030504040204" pitchFamily="34" charset="0"/>
              </a:rPr>
              <a:t>rightness</a:t>
            </a:r>
            <a:endParaRPr lang="pl-PL" altLang="en-US" sz="1600" b="1" u="none" dirty="0">
              <a:latin typeface="Tenorite" panose="00000500000000000000" pitchFamily="2" charset="0"/>
              <a:cs typeface="Tahoma" panose="020B0604030504040204" pitchFamily="34" charset="0"/>
            </a:endParaRPr>
          </a:p>
        </p:txBody>
      </p:sp>
      <p:sp>
        <p:nvSpPr>
          <p:cNvPr id="10" name="pole tekstowe 9">
            <a:extLst>
              <a:ext uri="{FF2B5EF4-FFF2-40B4-BE49-F238E27FC236}">
                <a16:creationId xmlns:a16="http://schemas.microsoft.com/office/drawing/2014/main" id="{408F3B9D-A84D-AF52-3EE6-393B4EFA1EF8}"/>
              </a:ext>
            </a:extLst>
          </p:cNvPr>
          <p:cNvSpPr txBox="1"/>
          <p:nvPr/>
        </p:nvSpPr>
        <p:spPr>
          <a:xfrm>
            <a:off x="7166143" y="4207096"/>
            <a:ext cx="2592387" cy="919389"/>
          </a:xfrm>
          <a:prstGeom prst="roundRect">
            <a:avLst/>
          </a:prstGeom>
          <a:solidFill>
            <a:schemeClr val="accent2">
              <a:lumMod val="75000"/>
            </a:schemeClr>
          </a:solidFill>
          <a:ln w="3175"/>
        </p:spPr>
        <p:style>
          <a:lnRef idx="2">
            <a:schemeClr val="dk1"/>
          </a:lnRef>
          <a:fillRef idx="1">
            <a:schemeClr val="lt1"/>
          </a:fillRef>
          <a:effectRef idx="0">
            <a:schemeClr val="dk1"/>
          </a:effectRef>
          <a:fontRef idx="minor">
            <a:schemeClr val="dk1"/>
          </a:fontRef>
        </p:style>
        <p:txBody>
          <a:bodyPr lIns="91430" tIns="45715" rIns="91430" bIns="45715" anchor="ct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eaLnBrk="1" hangingPunct="1">
              <a:defRPr/>
            </a:pPr>
            <a:r>
              <a:rPr lang="pl-PL" altLang="en-US" sz="1600" b="1" u="none" dirty="0" err="1">
                <a:latin typeface="Tenorite" panose="00000500000000000000" pitchFamily="2" charset="0"/>
                <a:cs typeface="Tahoma" panose="020B0604030504040204" pitchFamily="34" charset="0"/>
              </a:rPr>
              <a:t>Unconscious</a:t>
            </a:r>
            <a:r>
              <a:rPr lang="pl-PL" altLang="en-US" sz="1600" b="1" u="none" dirty="0">
                <a:latin typeface="Tenorite" panose="00000500000000000000" pitchFamily="2" charset="0"/>
                <a:cs typeface="Tahoma" panose="020B0604030504040204" pitchFamily="34" charset="0"/>
              </a:rPr>
              <a:t> and </a:t>
            </a:r>
            <a:r>
              <a:rPr lang="pl-PL" altLang="en-US" sz="1600" b="1" u="none" dirty="0" err="1">
                <a:latin typeface="Tenorite" panose="00000500000000000000" pitchFamily="2" charset="0"/>
                <a:cs typeface="Tahoma" panose="020B0604030504040204" pitchFamily="34" charset="0"/>
              </a:rPr>
              <a:t>taken</a:t>
            </a:r>
            <a:r>
              <a:rPr lang="pl-PL" altLang="en-US" sz="1600" b="1" u="none" dirty="0">
                <a:latin typeface="Tenorite" panose="00000500000000000000" pitchFamily="2" charset="0"/>
                <a:cs typeface="Tahoma" panose="020B0604030504040204" pitchFamily="34" charset="0"/>
              </a:rPr>
              <a:t> for </a:t>
            </a:r>
            <a:r>
              <a:rPr lang="pl-PL" altLang="en-US" sz="1600" b="1" u="none" dirty="0" err="1">
                <a:latin typeface="Tenorite" panose="00000500000000000000" pitchFamily="2" charset="0"/>
                <a:cs typeface="Tahoma" panose="020B0604030504040204" pitchFamily="34" charset="0"/>
              </a:rPr>
              <a:t>granted</a:t>
            </a:r>
            <a:r>
              <a:rPr lang="pl-PL" altLang="en-US" sz="1600" b="1" u="none" dirty="0">
                <a:latin typeface="Tenorite" panose="00000500000000000000" pitchFamily="2" charset="0"/>
                <a:cs typeface="Tahoma" panose="020B0604030504040204" pitchFamily="34" charset="0"/>
              </a:rPr>
              <a:t> </a:t>
            </a:r>
            <a:r>
              <a:rPr lang="pl-PL" altLang="en-US" sz="1600" b="1" u="none" dirty="0" err="1">
                <a:latin typeface="Tenorite" panose="00000500000000000000" pitchFamily="2" charset="0"/>
                <a:cs typeface="Tahoma" panose="020B0604030504040204" pitchFamily="34" charset="0"/>
              </a:rPr>
              <a:t>ways</a:t>
            </a:r>
            <a:r>
              <a:rPr lang="pl-PL" altLang="en-US" sz="1600" b="1" u="none" dirty="0">
                <a:latin typeface="Tenorite" panose="00000500000000000000" pitchFamily="2" charset="0"/>
                <a:cs typeface="Tahoma" panose="020B0604030504040204" pitchFamily="34" charset="0"/>
              </a:rPr>
              <a:t> of </a:t>
            </a:r>
            <a:r>
              <a:rPr lang="pl-PL" altLang="en-US" sz="1600" b="1" u="none" dirty="0" err="1">
                <a:latin typeface="Tenorite" panose="00000500000000000000" pitchFamily="2" charset="0"/>
                <a:cs typeface="Tahoma" panose="020B0604030504040204" pitchFamily="34" charset="0"/>
              </a:rPr>
              <a:t>seeing</a:t>
            </a:r>
            <a:r>
              <a:rPr lang="pl-PL" altLang="en-US" sz="1600" b="1" u="none" dirty="0">
                <a:latin typeface="Tenorite" panose="00000500000000000000" pitchFamily="2" charset="0"/>
                <a:cs typeface="Tahoma" panose="020B0604030504040204" pitchFamily="34" charset="0"/>
              </a:rPr>
              <a:t> the </a:t>
            </a:r>
            <a:r>
              <a:rPr lang="pl-PL" altLang="en-US" sz="1600" b="1" u="none" dirty="0" err="1">
                <a:latin typeface="Tenorite" panose="00000500000000000000" pitchFamily="2" charset="0"/>
                <a:cs typeface="Tahoma" panose="020B0604030504040204" pitchFamily="34" charset="0"/>
              </a:rPr>
              <a:t>world</a:t>
            </a:r>
            <a:endParaRPr lang="pl-PL" altLang="en-US" sz="1600" b="1" u="none" dirty="0">
              <a:latin typeface="Tenorite" panose="00000500000000000000" pitchFamily="2" charset="0"/>
              <a:cs typeface="Tahoma" panose="020B0604030504040204" pitchFamily="34" charset="0"/>
            </a:endParaRPr>
          </a:p>
        </p:txBody>
      </p:sp>
    </p:spTree>
    <p:extLst>
      <p:ext uri="{BB962C8B-B14F-4D97-AF65-F5344CB8AC3E}">
        <p14:creationId xmlns:p14="http://schemas.microsoft.com/office/powerpoint/2010/main" val="507610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1167" y="648004"/>
            <a:ext cx="6229665" cy="1453003"/>
          </a:xfrm>
        </p:spPr>
        <p:txBody>
          <a:bodyPr wrap="square" rtlCol="0" anchor="b">
            <a:normAutofit fontScale="90000"/>
          </a:bodyPr>
          <a:lstStyle/>
          <a:p>
            <a:pPr rtl="0"/>
            <a:r>
              <a:rPr lang="en-US" sz="5000" dirty="0">
                <a:latin typeface="Tenorite" panose="00000500000000000000" pitchFamily="2" charset="0"/>
              </a:rPr>
              <a:t>Levels and dimensions of organizational 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sp>
        <p:nvSpPr>
          <p:cNvPr id="10" name="Prostokąt zaokrąglony 2">
            <a:extLst>
              <a:ext uri="{FF2B5EF4-FFF2-40B4-BE49-F238E27FC236}">
                <a16:creationId xmlns:a16="http://schemas.microsoft.com/office/drawing/2014/main" id="{F8042995-F7C4-674D-7ADC-43CC0DBC21AC}"/>
              </a:ext>
            </a:extLst>
          </p:cNvPr>
          <p:cNvSpPr/>
          <p:nvPr/>
        </p:nvSpPr>
        <p:spPr bwMode="auto">
          <a:xfrm>
            <a:off x="2610677" y="2251935"/>
            <a:ext cx="3944937" cy="792162"/>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sz="3500" b="1" u="none" dirty="0" err="1">
                <a:latin typeface="Tenorite" panose="00000500000000000000" pitchFamily="2" charset="0"/>
                <a:cs typeface="Arial" charset="0"/>
              </a:rPr>
              <a:t>Artifacts</a:t>
            </a:r>
            <a:endParaRPr lang="pl-PL" sz="3500" b="1" u="none" dirty="0">
              <a:latin typeface="Tenorite" panose="00000500000000000000" pitchFamily="2" charset="0"/>
              <a:cs typeface="Arial" charset="0"/>
            </a:endParaRPr>
          </a:p>
        </p:txBody>
      </p:sp>
      <p:sp>
        <p:nvSpPr>
          <p:cNvPr id="11" name="Prostokąt zaokrąglony 9">
            <a:extLst>
              <a:ext uri="{FF2B5EF4-FFF2-40B4-BE49-F238E27FC236}">
                <a16:creationId xmlns:a16="http://schemas.microsoft.com/office/drawing/2014/main" id="{22BE9D5C-C146-711B-F032-B406D7039A41}"/>
              </a:ext>
            </a:extLst>
          </p:cNvPr>
          <p:cNvSpPr>
            <a:spLocks noChangeArrowheads="1"/>
          </p:cNvSpPr>
          <p:nvPr/>
        </p:nvSpPr>
        <p:spPr bwMode="auto">
          <a:xfrm>
            <a:off x="2594010" y="3834884"/>
            <a:ext cx="3992560" cy="792162"/>
          </a:xfrm>
          <a:prstGeom prst="roundRect">
            <a:avLst>
              <a:gd name="adj" fmla="val 16667"/>
            </a:avLst>
          </a:prstGeom>
          <a:solidFill>
            <a:schemeClr val="bg2">
              <a:lumMod val="75000"/>
            </a:schemeClr>
          </a:solidFill>
          <a:ln w="9525" algn="ctr">
            <a:solidFill>
              <a:schemeClr val="tx1"/>
            </a:solidFill>
            <a:round/>
            <a:headEnd/>
            <a:tailEnd/>
          </a:ln>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spcBef>
                <a:spcPct val="0"/>
              </a:spcBef>
              <a:buClrTx/>
              <a:buSzTx/>
              <a:buFontTx/>
              <a:buNone/>
            </a:pPr>
            <a:r>
              <a:rPr lang="pl-PL" altLang="pl-PL" sz="3500" b="1" u="none" dirty="0" err="1">
                <a:latin typeface="Tenorite" panose="00000500000000000000" pitchFamily="2" charset="0"/>
              </a:rPr>
              <a:t>Values</a:t>
            </a:r>
            <a:endParaRPr lang="pl-PL" altLang="pl-PL" sz="3500" b="1" u="none" dirty="0">
              <a:latin typeface="Tenorite" panose="00000500000000000000" pitchFamily="2" charset="0"/>
            </a:endParaRPr>
          </a:p>
        </p:txBody>
      </p:sp>
      <p:sp>
        <p:nvSpPr>
          <p:cNvPr id="12" name="Prostokąt zaokrąglony 10">
            <a:extLst>
              <a:ext uri="{FF2B5EF4-FFF2-40B4-BE49-F238E27FC236}">
                <a16:creationId xmlns:a16="http://schemas.microsoft.com/office/drawing/2014/main" id="{FC181B0A-B755-D2CB-8D41-B034FE9ED124}"/>
              </a:ext>
            </a:extLst>
          </p:cNvPr>
          <p:cNvSpPr/>
          <p:nvPr/>
        </p:nvSpPr>
        <p:spPr bwMode="auto">
          <a:xfrm>
            <a:off x="2594010" y="5417833"/>
            <a:ext cx="3961604" cy="79216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eaLnBrk="1" hangingPunct="1">
              <a:defRPr/>
            </a:pPr>
            <a:r>
              <a:rPr lang="pl-PL" sz="3500" b="1" u="none" dirty="0" err="1">
                <a:latin typeface="Tenorite" panose="00000500000000000000" pitchFamily="2" charset="0"/>
                <a:cs typeface="Arial" charset="0"/>
              </a:rPr>
              <a:t>Assumptions</a:t>
            </a:r>
            <a:endParaRPr lang="pl-PL" sz="3500" b="1" u="none" dirty="0">
              <a:latin typeface="Tenorite" panose="00000500000000000000" pitchFamily="2" charset="0"/>
              <a:cs typeface="Arial" charset="0"/>
            </a:endParaRPr>
          </a:p>
        </p:txBody>
      </p:sp>
      <p:cxnSp>
        <p:nvCxnSpPr>
          <p:cNvPr id="13" name="Łącznik prosty ze strzałką 12">
            <a:extLst>
              <a:ext uri="{FF2B5EF4-FFF2-40B4-BE49-F238E27FC236}">
                <a16:creationId xmlns:a16="http://schemas.microsoft.com/office/drawing/2014/main" id="{53381437-46A8-3BE3-5B82-6BB72BA3A764}"/>
              </a:ext>
            </a:extLst>
          </p:cNvPr>
          <p:cNvCxnSpPr>
            <a:cxnSpLocks noChangeShapeType="1"/>
          </p:cNvCxnSpPr>
          <p:nvPr/>
        </p:nvCxnSpPr>
        <p:spPr bwMode="auto">
          <a:xfrm flipV="1">
            <a:off x="3510789" y="4627046"/>
            <a:ext cx="0" cy="792163"/>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Łącznik prosty ze strzałką 13">
            <a:extLst>
              <a:ext uri="{FF2B5EF4-FFF2-40B4-BE49-F238E27FC236}">
                <a16:creationId xmlns:a16="http://schemas.microsoft.com/office/drawing/2014/main" id="{BA2FACC6-0F31-B138-1FCC-5783999B9FF7}"/>
              </a:ext>
            </a:extLst>
          </p:cNvPr>
          <p:cNvCxnSpPr>
            <a:cxnSpLocks noChangeShapeType="1"/>
          </p:cNvCxnSpPr>
          <p:nvPr/>
        </p:nvCxnSpPr>
        <p:spPr bwMode="auto">
          <a:xfrm flipV="1">
            <a:off x="3474277" y="3044097"/>
            <a:ext cx="0" cy="792162"/>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Łącznik prosty ze strzałką 14">
            <a:extLst>
              <a:ext uri="{FF2B5EF4-FFF2-40B4-BE49-F238E27FC236}">
                <a16:creationId xmlns:a16="http://schemas.microsoft.com/office/drawing/2014/main" id="{59B2AE3C-70DC-48B3-72DE-890ECA68DB56}"/>
              </a:ext>
            </a:extLst>
          </p:cNvPr>
          <p:cNvCxnSpPr>
            <a:cxnSpLocks noChangeShapeType="1"/>
          </p:cNvCxnSpPr>
          <p:nvPr/>
        </p:nvCxnSpPr>
        <p:spPr bwMode="auto">
          <a:xfrm>
            <a:off x="5647564" y="3044097"/>
            <a:ext cx="0" cy="792162"/>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Łącznik prosty ze strzałką 15">
            <a:extLst>
              <a:ext uri="{FF2B5EF4-FFF2-40B4-BE49-F238E27FC236}">
                <a16:creationId xmlns:a16="http://schemas.microsoft.com/office/drawing/2014/main" id="{D3B43A8E-2F25-6D46-9F75-D2DBA27DF9AA}"/>
              </a:ext>
            </a:extLst>
          </p:cNvPr>
          <p:cNvCxnSpPr>
            <a:cxnSpLocks noChangeShapeType="1"/>
          </p:cNvCxnSpPr>
          <p:nvPr/>
        </p:nvCxnSpPr>
        <p:spPr bwMode="auto">
          <a:xfrm>
            <a:off x="5647564" y="4627046"/>
            <a:ext cx="0" cy="792163"/>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 name="Up Arrow 1">
            <a:extLst>
              <a:ext uri="{FF2B5EF4-FFF2-40B4-BE49-F238E27FC236}">
                <a16:creationId xmlns:a16="http://schemas.microsoft.com/office/drawing/2014/main" id="{465B86A1-1C03-889E-0A43-1BDEAC9ADA02}"/>
              </a:ext>
            </a:extLst>
          </p:cNvPr>
          <p:cNvSpPr>
            <a:spLocks noChangeArrowheads="1"/>
          </p:cNvSpPr>
          <p:nvPr/>
        </p:nvSpPr>
        <p:spPr bwMode="auto">
          <a:xfrm>
            <a:off x="7074579" y="2269052"/>
            <a:ext cx="344628" cy="3940944"/>
          </a:xfrm>
          <a:prstGeom prst="upArrow">
            <a:avLst>
              <a:gd name="adj1" fmla="val 50000"/>
              <a:gd name="adj2" fmla="val 49792"/>
            </a:avLst>
          </a:prstGeom>
          <a:solidFill>
            <a:schemeClr val="tx1"/>
          </a:solidFill>
          <a:ln w="9525" algn="ctr">
            <a:solidFill>
              <a:schemeClr val="tx1"/>
            </a:solidFill>
            <a:round/>
            <a:headEnd/>
            <a:tailEnd/>
          </a:ln>
        </p:spPr>
        <p:txBody>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a:latin typeface="Tenorite" panose="00000500000000000000" pitchFamily="2" charset="0"/>
            </a:endParaRPr>
          </a:p>
        </p:txBody>
      </p:sp>
      <p:sp>
        <p:nvSpPr>
          <p:cNvPr id="7" name="TextBox 3">
            <a:extLst>
              <a:ext uri="{FF2B5EF4-FFF2-40B4-BE49-F238E27FC236}">
                <a16:creationId xmlns:a16="http://schemas.microsoft.com/office/drawing/2014/main" id="{9CAA5A88-3234-96D0-A42D-FAE224ECA168}"/>
              </a:ext>
            </a:extLst>
          </p:cNvPr>
          <p:cNvSpPr txBox="1">
            <a:spLocks noChangeArrowheads="1"/>
          </p:cNvSpPr>
          <p:nvPr/>
        </p:nvSpPr>
        <p:spPr bwMode="auto">
          <a:xfrm>
            <a:off x="7503349" y="2319895"/>
            <a:ext cx="3060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r>
              <a:rPr lang="pl-PL" altLang="pl-PL" sz="2400" b="1" u="none" dirty="0" err="1">
                <a:latin typeface="Tenorite" panose="00000500000000000000" pitchFamily="2" charset="0"/>
              </a:rPr>
              <a:t>Easiest</a:t>
            </a:r>
            <a:r>
              <a:rPr lang="pl-PL" altLang="pl-PL" sz="2400" b="1" u="none" dirty="0">
                <a:latin typeface="Tenorite" panose="00000500000000000000" pitchFamily="2" charset="0"/>
              </a:rPr>
              <a:t> to </a:t>
            </a:r>
            <a:r>
              <a:rPr lang="pl-PL" altLang="pl-PL" sz="2400" b="1" u="none" dirty="0" err="1">
                <a:latin typeface="Tenorite" panose="00000500000000000000" pitchFamily="2" charset="0"/>
              </a:rPr>
              <a:t>recognize</a:t>
            </a:r>
            <a:endParaRPr lang="pl-PL" altLang="pl-PL" sz="2400" b="1" u="none" dirty="0">
              <a:latin typeface="Tenorite" panose="00000500000000000000" pitchFamily="2" charset="0"/>
            </a:endParaRPr>
          </a:p>
        </p:txBody>
      </p:sp>
      <p:sp>
        <p:nvSpPr>
          <p:cNvPr id="8" name="TextBox 11">
            <a:extLst>
              <a:ext uri="{FF2B5EF4-FFF2-40B4-BE49-F238E27FC236}">
                <a16:creationId xmlns:a16="http://schemas.microsoft.com/office/drawing/2014/main" id="{4E513D07-67BE-A111-BDD4-6F6DB7BCFCAC}"/>
              </a:ext>
            </a:extLst>
          </p:cNvPr>
          <p:cNvSpPr txBox="1">
            <a:spLocks noChangeArrowheads="1"/>
          </p:cNvSpPr>
          <p:nvPr/>
        </p:nvSpPr>
        <p:spPr bwMode="auto">
          <a:xfrm>
            <a:off x="7503349" y="5357705"/>
            <a:ext cx="3060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r>
              <a:rPr lang="pl-PL" altLang="pl-PL" sz="2400" b="1" u="none" dirty="0">
                <a:latin typeface="Tenorite" panose="00000500000000000000" pitchFamily="2" charset="0"/>
              </a:rPr>
              <a:t>Most </a:t>
            </a:r>
            <a:r>
              <a:rPr lang="pl-PL" altLang="pl-PL" sz="2400" b="1" u="none" dirty="0" err="1">
                <a:latin typeface="Tenorite" panose="00000500000000000000" pitchFamily="2" charset="0"/>
              </a:rPr>
              <a:t>difficult</a:t>
            </a:r>
            <a:r>
              <a:rPr lang="pl-PL" altLang="pl-PL" sz="2400" b="1" u="none" dirty="0">
                <a:latin typeface="Tenorite" panose="00000500000000000000" pitchFamily="2" charset="0"/>
              </a:rPr>
              <a:t> to </a:t>
            </a:r>
            <a:r>
              <a:rPr lang="pl-PL" altLang="pl-PL" sz="2400" b="1" u="none" dirty="0" err="1">
                <a:latin typeface="Tenorite" panose="00000500000000000000" pitchFamily="2" charset="0"/>
              </a:rPr>
              <a:t>recognize</a:t>
            </a:r>
            <a:endParaRPr lang="pl-PL" altLang="pl-PL" sz="2400" b="1" u="none" dirty="0">
              <a:latin typeface="Tenorite" panose="00000500000000000000" pitchFamily="2" charset="0"/>
            </a:endParaRPr>
          </a:p>
        </p:txBody>
      </p:sp>
    </p:spTree>
    <p:extLst>
      <p:ext uri="{BB962C8B-B14F-4D97-AF65-F5344CB8AC3E}">
        <p14:creationId xmlns:p14="http://schemas.microsoft.com/office/powerpoint/2010/main" val="350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pPr rtl="0"/>
            <a:r>
              <a:rPr lang="pl-PL" sz="5000" dirty="0" err="1">
                <a:latin typeface="Tenorite" panose="00000500000000000000" pitchFamily="2" charset="0"/>
              </a:rPr>
              <a:t>Artifacts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05734" y="2598821"/>
            <a:ext cx="6229666" cy="3527643"/>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They are the visible elements in culture. Artifacts can be recognized by people not part of culture.</a:t>
            </a:r>
          </a:p>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The outsider might easily see these </a:t>
            </a:r>
            <a:r>
              <a:rPr lang="en-US" sz="1800" dirty="0" err="1">
                <a:solidFill>
                  <a:srgbClr val="663300"/>
                </a:solidFill>
                <a:latin typeface="Tenorite" panose="00000500000000000000" pitchFamily="2" charset="0"/>
              </a:rPr>
              <a:t>artifiacts</a:t>
            </a:r>
            <a:r>
              <a:rPr lang="en-US" sz="1800" dirty="0">
                <a:solidFill>
                  <a:srgbClr val="663300"/>
                </a:solidFill>
                <a:latin typeface="Tenorite" panose="00000500000000000000" pitchFamily="2" charset="0"/>
              </a:rPr>
              <a:t>, but might not be able to fully understand why these artifacts have been established. To understand this, outsiders can look at the espoused values in the culture.</a:t>
            </a:r>
          </a:p>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Cat</a:t>
            </a:r>
            <a:r>
              <a:rPr lang="pl-PL" sz="1800" dirty="0">
                <a:solidFill>
                  <a:srgbClr val="663300"/>
                </a:solidFill>
                <a:latin typeface="Tenorite" panose="00000500000000000000" pitchFamily="2" charset="0"/>
              </a:rPr>
              <a:t>e</a:t>
            </a:r>
            <a:r>
              <a:rPr lang="en-US" sz="1800" dirty="0" err="1">
                <a:solidFill>
                  <a:srgbClr val="663300"/>
                </a:solidFill>
                <a:latin typeface="Tenorite" panose="00000500000000000000" pitchFamily="2" charset="0"/>
              </a:rPr>
              <a:t>gories</a:t>
            </a:r>
            <a:r>
              <a:rPr lang="en-US" sz="1800" dirty="0">
                <a:solidFill>
                  <a:srgbClr val="663300"/>
                </a:solidFill>
                <a:latin typeface="Tenorite" panose="00000500000000000000" pitchFamily="2" charset="0"/>
              </a:rPr>
              <a:t> of artifacts:</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Organizational stories, legends and language,</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Rituals and ceremonies,</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Physical structure and symbols.</a:t>
            </a:r>
          </a:p>
          <a:p>
            <a:pPr marL="457200" indent="-457200" algn="just" rtl="0">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pic>
        <p:nvPicPr>
          <p:cNvPr id="8" name="Picture 5" descr="Znalezione obrazy dla zapytania coca cola symbols">
            <a:extLst>
              <a:ext uri="{FF2B5EF4-FFF2-40B4-BE49-F238E27FC236}">
                <a16:creationId xmlns:a16="http://schemas.microsoft.com/office/drawing/2014/main" id="{6A083CC8-2014-A5DD-4181-3442AA2F2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1387" y="2900775"/>
            <a:ext cx="12954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descr="Znalezione obrazy dla zapytania handshake">
            <a:extLst>
              <a:ext uri="{FF2B5EF4-FFF2-40B4-BE49-F238E27FC236}">
                <a16:creationId xmlns:a16="http://schemas.microsoft.com/office/drawing/2014/main" id="{B3D98A7B-D349-669B-EB50-7A67AFCD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9812" y="3651662"/>
            <a:ext cx="122555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Znalezione obrazy dla zapytania toblerone">
            <a:extLst>
              <a:ext uri="{FF2B5EF4-FFF2-40B4-BE49-F238E27FC236}">
                <a16:creationId xmlns:a16="http://schemas.microsoft.com/office/drawing/2014/main" id="{2074CA76-3DA0-81CE-2B52-6FEE18387B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35400" y="4275550"/>
            <a:ext cx="2211387"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709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language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754312" y="2685991"/>
            <a:ext cx="5042151" cy="3082969"/>
          </a:xfrm>
        </p:spPr>
        <p:txBody>
          <a:bodyPr rtlCol="0">
            <a:noAutofit/>
          </a:bodyPr>
          <a:lstStyle/>
          <a:p>
            <a:pPr marL="457200" indent="-457200" algn="just" rtl="0">
              <a:buClr>
                <a:srgbClr val="663300"/>
              </a:buClr>
              <a:buFont typeface="Arial" panose="020B0604020202020204" pitchFamily="34" charset="0"/>
              <a:buChar char="•"/>
            </a:pPr>
            <a:r>
              <a:rPr lang="pl-PL" sz="3000" b="1" dirty="0">
                <a:solidFill>
                  <a:srgbClr val="663300"/>
                </a:solidFill>
                <a:latin typeface="Tenorite" panose="00000500000000000000" pitchFamily="2" charset="0"/>
              </a:rPr>
              <a:t>To </a:t>
            </a:r>
            <a:r>
              <a:rPr lang="pl-PL" sz="3000" b="1" dirty="0" err="1">
                <a:solidFill>
                  <a:srgbClr val="663300"/>
                </a:solidFill>
                <a:latin typeface="Tenorite" panose="00000500000000000000" pitchFamily="2" charset="0"/>
              </a:rPr>
              <a:t>work</a:t>
            </a:r>
            <a:r>
              <a:rPr lang="pl-PL" sz="3000" b="1" dirty="0">
                <a:solidFill>
                  <a:srgbClr val="663300"/>
                </a:solidFill>
                <a:latin typeface="Tenorite" panose="00000500000000000000" pitchFamily="2" charset="0"/>
              </a:rPr>
              <a:t> judo:</a:t>
            </a:r>
          </a:p>
          <a:p>
            <a:pPr marL="457200" indent="-457200" algn="just" rtl="0">
              <a:buClr>
                <a:srgbClr val="663300"/>
              </a:buClr>
              <a:buFont typeface="Arial" panose="020B0604020202020204" pitchFamily="34" charset="0"/>
              <a:buChar char="•"/>
            </a:pPr>
            <a:r>
              <a:rPr lang="pl-PL" sz="3000" b="1" dirty="0">
                <a:solidFill>
                  <a:srgbClr val="663300"/>
                </a:solidFill>
                <a:latin typeface="Tenorite" panose="00000500000000000000" pitchFamily="2" charset="0"/>
              </a:rPr>
              <a:t>Flat food:</a:t>
            </a:r>
          </a:p>
          <a:p>
            <a:pPr marL="457200" indent="-457200" algn="just" rtl="0">
              <a:buClr>
                <a:srgbClr val="663300"/>
              </a:buClr>
              <a:buFont typeface="Arial" panose="020B0604020202020204" pitchFamily="34" charset="0"/>
              <a:buChar char="•"/>
            </a:pPr>
            <a:r>
              <a:rPr lang="pl-PL" sz="3000" b="1" dirty="0" err="1">
                <a:solidFill>
                  <a:srgbClr val="663300"/>
                </a:solidFill>
                <a:latin typeface="Tenorite" panose="00000500000000000000" pitchFamily="2" charset="0"/>
              </a:rPr>
              <a:t>Eating</a:t>
            </a:r>
            <a:r>
              <a:rPr lang="pl-PL" sz="3000" b="1" dirty="0">
                <a:solidFill>
                  <a:srgbClr val="663300"/>
                </a:solidFill>
                <a:latin typeface="Tenorite" panose="00000500000000000000" pitchFamily="2" charset="0"/>
              </a:rPr>
              <a:t> </a:t>
            </a:r>
            <a:r>
              <a:rPr lang="pl-PL" sz="3000" b="1" dirty="0" err="1">
                <a:solidFill>
                  <a:srgbClr val="663300"/>
                </a:solidFill>
                <a:latin typeface="Tenorite" panose="00000500000000000000" pitchFamily="2" charset="0"/>
              </a:rPr>
              <a:t>your</a:t>
            </a:r>
            <a:r>
              <a:rPr lang="pl-PL" sz="3000" b="1" dirty="0">
                <a:solidFill>
                  <a:srgbClr val="663300"/>
                </a:solidFill>
                <a:latin typeface="Tenorite" panose="00000500000000000000" pitchFamily="2" charset="0"/>
              </a:rPr>
              <a:t> </a:t>
            </a:r>
            <a:r>
              <a:rPr lang="pl-PL" sz="3000" b="1" dirty="0" err="1">
                <a:solidFill>
                  <a:srgbClr val="663300"/>
                </a:solidFill>
                <a:latin typeface="Tenorite" panose="00000500000000000000" pitchFamily="2" charset="0"/>
              </a:rPr>
              <a:t>own</a:t>
            </a:r>
            <a:r>
              <a:rPr lang="pl-PL" sz="3000" b="1" dirty="0">
                <a:solidFill>
                  <a:srgbClr val="663300"/>
                </a:solidFill>
                <a:latin typeface="Tenorite" panose="00000500000000000000" pitchFamily="2" charset="0"/>
              </a:rPr>
              <a:t> dog food:</a:t>
            </a:r>
          </a:p>
          <a:p>
            <a:pPr algn="just" rtl="0">
              <a:lnSpc>
                <a:spcPct val="100000"/>
              </a:lnSpc>
              <a:buClr>
                <a:srgbClr val="663300"/>
              </a:buClr>
            </a:pPr>
            <a:endParaRPr lang="en-US" sz="3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pic>
        <p:nvPicPr>
          <p:cNvPr id="7" name="Grafika 6" descr="Znak zapytania z wypełnieniem pełnym">
            <a:extLst>
              <a:ext uri="{FF2B5EF4-FFF2-40B4-BE49-F238E27FC236}">
                <a16:creationId xmlns:a16="http://schemas.microsoft.com/office/drawing/2014/main" id="{C7017AD7-D7A9-678E-B0B0-DC4EA275D1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0545" y="3316705"/>
            <a:ext cx="2452255" cy="2452255"/>
          </a:xfrm>
          <a:prstGeom prst="rect">
            <a:avLst/>
          </a:prstGeom>
        </p:spPr>
      </p:pic>
    </p:spTree>
    <p:extLst>
      <p:ext uri="{BB962C8B-B14F-4D97-AF65-F5344CB8AC3E}">
        <p14:creationId xmlns:p14="http://schemas.microsoft.com/office/powerpoint/2010/main" val="350958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language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971023" y="2371514"/>
            <a:ext cx="10250905" cy="4216486"/>
          </a:xfrm>
        </p:spPr>
        <p:txBody>
          <a:bodyPr rtlCol="0">
            <a:noAutofit/>
          </a:bodyPr>
          <a:lstStyle/>
          <a:p>
            <a:pPr marL="457200" indent="-457200" algn="just" rtl="0">
              <a:lnSpc>
                <a:spcPct val="100000"/>
              </a:lnSpc>
              <a:buClr>
                <a:srgbClr val="663300"/>
              </a:buClr>
              <a:buFont typeface="Arial" panose="020B0604020202020204" pitchFamily="34" charset="0"/>
              <a:buChar char="•"/>
            </a:pPr>
            <a:r>
              <a:rPr lang="pl-PL" sz="2700" b="1" dirty="0">
                <a:solidFill>
                  <a:srgbClr val="663300"/>
                </a:solidFill>
                <a:latin typeface="Tenorite" panose="00000500000000000000" pitchFamily="2" charset="0"/>
              </a:rPr>
              <a:t>To </a:t>
            </a:r>
            <a:r>
              <a:rPr lang="pl-PL" sz="2700" b="1" dirty="0" err="1">
                <a:solidFill>
                  <a:srgbClr val="663300"/>
                </a:solidFill>
                <a:latin typeface="Tenorite" panose="00000500000000000000" pitchFamily="2" charset="0"/>
              </a:rPr>
              <a:t>work</a:t>
            </a:r>
            <a:r>
              <a:rPr lang="pl-PL" sz="2700" b="1" dirty="0">
                <a:solidFill>
                  <a:srgbClr val="663300"/>
                </a:solidFill>
                <a:latin typeface="Tenorite" panose="00000500000000000000" pitchFamily="2" charset="0"/>
              </a:rPr>
              <a:t> judo:</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Work judo is used to mean "the art of deflecting a work assignment to someone else without making it appear that you're avoiding it”.</a:t>
            </a: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2700" b="1" dirty="0">
                <a:solidFill>
                  <a:srgbClr val="663300"/>
                </a:solidFill>
                <a:latin typeface="Tenorite" panose="00000500000000000000" pitchFamily="2" charset="0"/>
              </a:rPr>
              <a:t>Flat food:</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Flat food is any food item that comes out of a vending machine and can be slid under a door. Flat food is often used by management to subsist software developers slaving long hours to meet a deadline.</a:t>
            </a: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2700" b="1" dirty="0" err="1">
                <a:solidFill>
                  <a:srgbClr val="663300"/>
                </a:solidFill>
                <a:latin typeface="Tenorite" panose="00000500000000000000" pitchFamily="2" charset="0"/>
              </a:rPr>
              <a:t>Eating</a:t>
            </a:r>
            <a:r>
              <a:rPr lang="pl-PL" sz="2700" b="1" dirty="0">
                <a:solidFill>
                  <a:srgbClr val="663300"/>
                </a:solidFill>
                <a:latin typeface="Tenorite" panose="00000500000000000000" pitchFamily="2" charset="0"/>
              </a:rPr>
              <a:t> </a:t>
            </a:r>
            <a:r>
              <a:rPr lang="pl-PL" sz="2700" b="1" dirty="0" err="1">
                <a:solidFill>
                  <a:srgbClr val="663300"/>
                </a:solidFill>
                <a:latin typeface="Tenorite" panose="00000500000000000000" pitchFamily="2" charset="0"/>
              </a:rPr>
              <a:t>your</a:t>
            </a:r>
            <a:r>
              <a:rPr lang="pl-PL" sz="2700" b="1" dirty="0">
                <a:solidFill>
                  <a:srgbClr val="663300"/>
                </a:solidFill>
                <a:latin typeface="Tenorite" panose="00000500000000000000" pitchFamily="2" charset="0"/>
              </a:rPr>
              <a:t> </a:t>
            </a:r>
            <a:r>
              <a:rPr lang="pl-PL" sz="2700" b="1" dirty="0" err="1">
                <a:solidFill>
                  <a:srgbClr val="663300"/>
                </a:solidFill>
                <a:latin typeface="Tenorite" panose="00000500000000000000" pitchFamily="2" charset="0"/>
              </a:rPr>
              <a:t>own</a:t>
            </a:r>
            <a:r>
              <a:rPr lang="pl-PL" sz="2700" b="1" dirty="0">
                <a:solidFill>
                  <a:srgbClr val="663300"/>
                </a:solidFill>
                <a:latin typeface="Tenorite" panose="00000500000000000000" pitchFamily="2" charset="0"/>
              </a:rPr>
              <a:t> dog food:</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Eating your own dog food, also called dogfooding, is a slang term used to reference a scenario in which a company uses its own product to test and promote the product e.g. auto dealers' policy of making salespeople drive the brands they sell.</a:t>
            </a:r>
          </a:p>
          <a:p>
            <a:pPr marL="457200" indent="-457200" algn="just" rtl="0">
              <a:lnSpc>
                <a:spcPct val="100000"/>
              </a:lnSpc>
              <a:buClr>
                <a:srgbClr val="663300"/>
              </a:buClr>
              <a:buFont typeface="Arial" panose="020B0604020202020204" pitchFamily="34" charset="0"/>
              <a:buChar char="•"/>
            </a:pPr>
            <a:endParaRPr lang="en-US" sz="3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113484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language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63271" y="2712920"/>
            <a:ext cx="8265457" cy="2156370"/>
          </a:xfrm>
        </p:spPr>
        <p:txBody>
          <a:bodyPr rtlCol="0">
            <a:noAutofit/>
          </a:bodyPr>
          <a:lstStyle/>
          <a:p>
            <a:pPr marL="457200" indent="-457200" algn="just" rtl="0">
              <a:lnSpc>
                <a:spcPct val="100000"/>
              </a:lnSpc>
              <a:buClr>
                <a:srgbClr val="663300"/>
              </a:buClr>
              <a:buFont typeface="Arial" panose="020B0604020202020204" pitchFamily="34" charset="0"/>
              <a:buChar char="•"/>
            </a:pPr>
            <a:r>
              <a:rPr lang="pl-PL" sz="2700" b="1" dirty="0" err="1">
                <a:solidFill>
                  <a:srgbClr val="663300"/>
                </a:solidFill>
                <a:latin typeface="Tenorite" panose="00000500000000000000" pitchFamily="2" charset="0"/>
              </a:rPr>
              <a:t>Facemail</a:t>
            </a:r>
            <a:endParaRPr lang="pl-PL" sz="2700" b="1" dirty="0">
              <a:solidFill>
                <a:srgbClr val="663300"/>
              </a:solidFill>
              <a:latin typeface="Tenorite" panose="00000500000000000000" pitchFamily="2" charset="0"/>
            </a:endParaRP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Facemail is a face-to-face talk</a:t>
            </a:r>
          </a:p>
          <a:p>
            <a:pPr marL="457200" indent="-457200" algn="just" rtl="0">
              <a:lnSpc>
                <a:spcPct val="100000"/>
              </a:lnSpc>
              <a:buClr>
                <a:srgbClr val="663300"/>
              </a:buClr>
              <a:buFont typeface="Arial" panose="020B0604020202020204" pitchFamily="34" charset="0"/>
              <a:buChar char="•"/>
            </a:pPr>
            <a:r>
              <a:rPr lang="pl-PL" sz="2700" b="1" dirty="0" err="1">
                <a:solidFill>
                  <a:srgbClr val="663300"/>
                </a:solidFill>
                <a:latin typeface="Tenorite" panose="00000500000000000000" pitchFamily="2" charset="0"/>
              </a:rPr>
              <a:t>Death</a:t>
            </a:r>
            <a:r>
              <a:rPr lang="pl-PL" sz="2700" b="1" dirty="0">
                <a:solidFill>
                  <a:srgbClr val="663300"/>
                </a:solidFill>
                <a:latin typeface="Tenorite" panose="00000500000000000000" pitchFamily="2" charset="0"/>
              </a:rPr>
              <a:t> march</a:t>
            </a:r>
          </a:p>
          <a:p>
            <a:pPr marL="1177200" lvl="2" indent="-4572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Death march is a dysphemism or description for the end phase of </a:t>
            </a:r>
            <a:br>
              <a:rPr lang="en-US" sz="1800" dirty="0">
                <a:solidFill>
                  <a:srgbClr val="663300"/>
                </a:solidFill>
                <a:latin typeface="Tenorite" panose="00000500000000000000" pitchFamily="2" charset="0"/>
              </a:rPr>
            </a:br>
            <a:r>
              <a:rPr lang="en-US" sz="1800" dirty="0">
                <a:solidFill>
                  <a:srgbClr val="663300"/>
                </a:solidFill>
                <a:latin typeface="Tenorite" panose="00000500000000000000" pitchFamily="2" charset="0"/>
              </a:rPr>
              <a:t>a project when a hard deadline has to be met</a:t>
            </a:r>
          </a:p>
          <a:p>
            <a:pPr marL="457200" indent="-457200" algn="just" rtl="0">
              <a:lnSpc>
                <a:spcPct val="100000"/>
              </a:lnSpc>
              <a:buClr>
                <a:srgbClr val="663300"/>
              </a:buClr>
              <a:buFont typeface="Arial" panose="020B0604020202020204" pitchFamily="34" charset="0"/>
              <a:buChar char="•"/>
            </a:pPr>
            <a:endParaRPr lang="en-US" sz="3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pic>
        <p:nvPicPr>
          <p:cNvPr id="7" name="Picture 2" descr="Znalezione obrazy dla zapytania Microsoft slogans">
            <a:extLst>
              <a:ext uri="{FF2B5EF4-FFF2-40B4-BE49-F238E27FC236}">
                <a16:creationId xmlns:a16="http://schemas.microsoft.com/office/drawing/2014/main" id="{972B99D1-79A4-53B3-B9E8-1FA42171D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1403" y="4617979"/>
            <a:ext cx="5551487"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005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rituals</a:t>
            </a:r>
            <a:r>
              <a:rPr lang="pl-PL" sz="5000" dirty="0">
                <a:latin typeface="Tenorite" panose="00000500000000000000" pitchFamily="2" charset="0"/>
              </a:rPr>
              <a:t> and </a:t>
            </a:r>
            <a:r>
              <a:rPr lang="pl-PL" sz="5000" dirty="0" err="1">
                <a:latin typeface="Tenorite" panose="00000500000000000000" pitchFamily="2" charset="0"/>
              </a:rPr>
              <a:t>ceremonies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sp>
        <p:nvSpPr>
          <p:cNvPr id="10" name="TextBox 1">
            <a:extLst>
              <a:ext uri="{FF2B5EF4-FFF2-40B4-BE49-F238E27FC236}">
                <a16:creationId xmlns:a16="http://schemas.microsoft.com/office/drawing/2014/main" id="{5187F00E-48D6-7CE1-56E0-2070B3F6474B}"/>
              </a:ext>
            </a:extLst>
          </p:cNvPr>
          <p:cNvSpPr txBox="1">
            <a:spLocks noChangeArrowheads="1"/>
          </p:cNvSpPr>
          <p:nvPr/>
        </p:nvSpPr>
        <p:spPr bwMode="auto">
          <a:xfrm>
            <a:off x="5418059" y="3652313"/>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latin typeface="Tenorite" panose="00000500000000000000" pitchFamily="2" charset="0"/>
                <a:cs typeface="Tahoma" panose="020B0604030504040204" pitchFamily="34" charset="0"/>
              </a:rPr>
              <a:t>A.</a:t>
            </a:r>
          </a:p>
        </p:txBody>
      </p:sp>
      <p:sp>
        <p:nvSpPr>
          <p:cNvPr id="11" name="TextBox 13">
            <a:extLst>
              <a:ext uri="{FF2B5EF4-FFF2-40B4-BE49-F238E27FC236}">
                <a16:creationId xmlns:a16="http://schemas.microsoft.com/office/drawing/2014/main" id="{3E63E126-47B3-528A-6DEE-9F317B73B347}"/>
              </a:ext>
            </a:extLst>
          </p:cNvPr>
          <p:cNvSpPr txBox="1">
            <a:spLocks noChangeArrowheads="1"/>
          </p:cNvSpPr>
          <p:nvPr/>
        </p:nvSpPr>
        <p:spPr bwMode="auto">
          <a:xfrm>
            <a:off x="9565436" y="5678128"/>
            <a:ext cx="1597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latin typeface="Tenorite" panose="00000500000000000000" pitchFamily="2" charset="0"/>
                <a:cs typeface="Tahoma" panose="020B0604030504040204" pitchFamily="34" charset="0"/>
              </a:rPr>
              <a:t>D.</a:t>
            </a:r>
          </a:p>
        </p:txBody>
      </p:sp>
      <p:sp>
        <p:nvSpPr>
          <p:cNvPr id="12" name="TextBox 14">
            <a:extLst>
              <a:ext uri="{FF2B5EF4-FFF2-40B4-BE49-F238E27FC236}">
                <a16:creationId xmlns:a16="http://schemas.microsoft.com/office/drawing/2014/main" id="{9C115DA3-F83E-BEC4-BA82-D9E4E6FF0E76}"/>
              </a:ext>
            </a:extLst>
          </p:cNvPr>
          <p:cNvSpPr txBox="1">
            <a:spLocks noChangeArrowheads="1"/>
          </p:cNvSpPr>
          <p:nvPr/>
        </p:nvSpPr>
        <p:spPr bwMode="auto">
          <a:xfrm>
            <a:off x="9565436" y="3689570"/>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latin typeface="Tenorite" panose="00000500000000000000" pitchFamily="2" charset="0"/>
                <a:cs typeface="Tahoma" panose="020B0604030504040204" pitchFamily="34" charset="0"/>
              </a:rPr>
              <a:t>B.</a:t>
            </a:r>
          </a:p>
        </p:txBody>
      </p:sp>
      <p:sp>
        <p:nvSpPr>
          <p:cNvPr id="13" name="TextBox 15">
            <a:extLst>
              <a:ext uri="{FF2B5EF4-FFF2-40B4-BE49-F238E27FC236}">
                <a16:creationId xmlns:a16="http://schemas.microsoft.com/office/drawing/2014/main" id="{355AA79C-F0A4-783A-2FDB-AC06D06BDFB7}"/>
              </a:ext>
            </a:extLst>
          </p:cNvPr>
          <p:cNvSpPr txBox="1">
            <a:spLocks noChangeArrowheads="1"/>
          </p:cNvSpPr>
          <p:nvPr/>
        </p:nvSpPr>
        <p:spPr bwMode="auto">
          <a:xfrm>
            <a:off x="5470017" y="5667273"/>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latin typeface="Tenorite" panose="00000500000000000000" pitchFamily="2" charset="0"/>
                <a:cs typeface="Tahoma" panose="020B0604030504040204" pitchFamily="34" charset="0"/>
              </a:rPr>
              <a:t>C.</a:t>
            </a:r>
          </a:p>
        </p:txBody>
      </p:sp>
      <p:pic>
        <p:nvPicPr>
          <p:cNvPr id="14" name="Picture 2" descr="Znalezione obrazy dla zapytania handshake">
            <a:extLst>
              <a:ext uri="{FF2B5EF4-FFF2-40B4-BE49-F238E27FC236}">
                <a16:creationId xmlns:a16="http://schemas.microsoft.com/office/drawing/2014/main" id="{D2104C23-B5E1-FA63-241F-B24169141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820" y="2252612"/>
            <a:ext cx="2875197" cy="182967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5" name="Picture 4" descr="Znalezione obrazy dla zapytania christmas corporate party">
            <a:extLst>
              <a:ext uri="{FF2B5EF4-FFF2-40B4-BE49-F238E27FC236}">
                <a16:creationId xmlns:a16="http://schemas.microsoft.com/office/drawing/2014/main" id="{5280AE07-2188-42DF-6323-0F2B140921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1983" y="2270918"/>
            <a:ext cx="2875197" cy="182967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6" name="Picture 6" descr="Znalezione obrazy dla zapytania pizza day at work">
            <a:extLst>
              <a:ext uri="{FF2B5EF4-FFF2-40B4-BE49-F238E27FC236}">
                <a16:creationId xmlns:a16="http://schemas.microsoft.com/office/drawing/2014/main" id="{649F31C7-773E-D803-92AA-2CDA131532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94820" y="4322017"/>
            <a:ext cx="2875198" cy="182967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7" name="Picture 8" descr="Znalezione obrazy dla zapytania meeting at work">
            <a:extLst>
              <a:ext uri="{FF2B5EF4-FFF2-40B4-BE49-F238E27FC236}">
                <a16:creationId xmlns:a16="http://schemas.microsoft.com/office/drawing/2014/main" id="{65EFBDE9-055C-B579-117B-87522B07E1B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21983" y="4278645"/>
            <a:ext cx="2875198" cy="182967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643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1 - </a:t>
            </a:r>
            <a:r>
              <a:rPr lang="pl-PL" sz="5000" dirty="0" err="1">
                <a:latin typeface="Tenorite" panose="00000500000000000000" pitchFamily="2" charset="0"/>
              </a:rPr>
              <a:t>symbols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pic>
        <p:nvPicPr>
          <p:cNvPr id="3" name="Picture 6" descr="Znalezione obrazy dla zapytania starbucks logo">
            <a:extLst>
              <a:ext uri="{FF2B5EF4-FFF2-40B4-BE49-F238E27FC236}">
                <a16:creationId xmlns:a16="http://schemas.microsoft.com/office/drawing/2014/main" id="{0AB78C53-C736-4277-FC86-A9982334A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380" y="2237039"/>
            <a:ext cx="1573213"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Znalezione obrazy dla zapytania chanel  brands">
            <a:extLst>
              <a:ext uri="{FF2B5EF4-FFF2-40B4-BE49-F238E27FC236}">
                <a16:creationId xmlns:a16="http://schemas.microsoft.com/office/drawing/2014/main" id="{B223BF68-FAF2-BC37-5761-FBC335CED1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9955" y="2318795"/>
            <a:ext cx="17589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Znalezione obrazy dla zapytania nestle logo">
            <a:extLst>
              <a:ext uri="{FF2B5EF4-FFF2-40B4-BE49-F238E27FC236}">
                <a16:creationId xmlns:a16="http://schemas.microsoft.com/office/drawing/2014/main" id="{1D779E37-0E10-84FC-EB8E-FAA3FA0806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2043" y="4181727"/>
            <a:ext cx="2087562"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
            <a:extLst>
              <a:ext uri="{FF2B5EF4-FFF2-40B4-BE49-F238E27FC236}">
                <a16:creationId xmlns:a16="http://schemas.microsoft.com/office/drawing/2014/main" id="{CF054AA8-0EFC-FF4E-4134-DCC4FDC3E0C4}"/>
              </a:ext>
            </a:extLst>
          </p:cNvPr>
          <p:cNvSpPr txBox="1">
            <a:spLocks noChangeArrowheads="1"/>
          </p:cNvSpPr>
          <p:nvPr/>
        </p:nvSpPr>
        <p:spPr bwMode="auto">
          <a:xfrm>
            <a:off x="1742637" y="3862639"/>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A. </a:t>
            </a:r>
          </a:p>
        </p:txBody>
      </p:sp>
      <p:sp>
        <p:nvSpPr>
          <p:cNvPr id="18" name="TextBox 12">
            <a:extLst>
              <a:ext uri="{FF2B5EF4-FFF2-40B4-BE49-F238E27FC236}">
                <a16:creationId xmlns:a16="http://schemas.microsoft.com/office/drawing/2014/main" id="{AA954D65-1900-A212-5243-15439179AB14}"/>
              </a:ext>
            </a:extLst>
          </p:cNvPr>
          <p:cNvSpPr txBox="1">
            <a:spLocks noChangeArrowheads="1"/>
          </p:cNvSpPr>
          <p:nvPr/>
        </p:nvSpPr>
        <p:spPr bwMode="auto">
          <a:xfrm>
            <a:off x="4399380" y="3862639"/>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B. </a:t>
            </a:r>
          </a:p>
        </p:txBody>
      </p:sp>
      <p:sp>
        <p:nvSpPr>
          <p:cNvPr id="19" name="TextBox 13">
            <a:extLst>
              <a:ext uri="{FF2B5EF4-FFF2-40B4-BE49-F238E27FC236}">
                <a16:creationId xmlns:a16="http://schemas.microsoft.com/office/drawing/2014/main" id="{E2BB2CEC-258A-061B-A40F-4A312EB510CE}"/>
              </a:ext>
            </a:extLst>
          </p:cNvPr>
          <p:cNvSpPr txBox="1">
            <a:spLocks noChangeArrowheads="1"/>
          </p:cNvSpPr>
          <p:nvPr/>
        </p:nvSpPr>
        <p:spPr bwMode="auto">
          <a:xfrm>
            <a:off x="6486943" y="3872164"/>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C. </a:t>
            </a:r>
          </a:p>
        </p:txBody>
      </p:sp>
      <p:sp>
        <p:nvSpPr>
          <p:cNvPr id="20" name="TextBox 14">
            <a:extLst>
              <a:ext uri="{FF2B5EF4-FFF2-40B4-BE49-F238E27FC236}">
                <a16:creationId xmlns:a16="http://schemas.microsoft.com/office/drawing/2014/main" id="{20DFB694-C597-FDEA-0063-521C96256C9D}"/>
              </a:ext>
            </a:extLst>
          </p:cNvPr>
          <p:cNvSpPr txBox="1">
            <a:spLocks noChangeArrowheads="1"/>
          </p:cNvSpPr>
          <p:nvPr/>
        </p:nvSpPr>
        <p:spPr bwMode="auto">
          <a:xfrm>
            <a:off x="8667312" y="3857711"/>
            <a:ext cx="2305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D. </a:t>
            </a:r>
          </a:p>
        </p:txBody>
      </p:sp>
      <p:sp>
        <p:nvSpPr>
          <p:cNvPr id="21" name="TextBox 15">
            <a:extLst>
              <a:ext uri="{FF2B5EF4-FFF2-40B4-BE49-F238E27FC236}">
                <a16:creationId xmlns:a16="http://schemas.microsoft.com/office/drawing/2014/main" id="{43FB6EBE-A9DC-B3D5-289C-0503D0ECBFE2}"/>
              </a:ext>
            </a:extLst>
          </p:cNvPr>
          <p:cNvSpPr txBox="1">
            <a:spLocks noChangeArrowheads="1"/>
          </p:cNvSpPr>
          <p:nvPr/>
        </p:nvSpPr>
        <p:spPr bwMode="auto">
          <a:xfrm>
            <a:off x="1913355" y="6110539"/>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E. </a:t>
            </a:r>
          </a:p>
        </p:txBody>
      </p:sp>
      <p:sp>
        <p:nvSpPr>
          <p:cNvPr id="22" name="TextBox 16">
            <a:extLst>
              <a:ext uri="{FF2B5EF4-FFF2-40B4-BE49-F238E27FC236}">
                <a16:creationId xmlns:a16="http://schemas.microsoft.com/office/drawing/2014/main" id="{CD631511-21C9-1004-F583-88E2FF86B457}"/>
              </a:ext>
            </a:extLst>
          </p:cNvPr>
          <p:cNvSpPr txBox="1">
            <a:spLocks noChangeArrowheads="1"/>
          </p:cNvSpPr>
          <p:nvPr/>
        </p:nvSpPr>
        <p:spPr bwMode="auto">
          <a:xfrm>
            <a:off x="4362868" y="6121652"/>
            <a:ext cx="2305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F. </a:t>
            </a:r>
          </a:p>
        </p:txBody>
      </p:sp>
      <p:sp>
        <p:nvSpPr>
          <p:cNvPr id="23" name="TextBox 17">
            <a:extLst>
              <a:ext uri="{FF2B5EF4-FFF2-40B4-BE49-F238E27FC236}">
                <a16:creationId xmlns:a16="http://schemas.microsoft.com/office/drawing/2014/main" id="{0EFEB367-35A7-0EFF-2B09-2BD709C0EE51}"/>
              </a:ext>
            </a:extLst>
          </p:cNvPr>
          <p:cNvSpPr txBox="1">
            <a:spLocks noChangeArrowheads="1"/>
          </p:cNvSpPr>
          <p:nvPr/>
        </p:nvSpPr>
        <p:spPr bwMode="auto">
          <a:xfrm>
            <a:off x="6486943" y="6096252"/>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G. </a:t>
            </a:r>
          </a:p>
        </p:txBody>
      </p:sp>
      <p:sp>
        <p:nvSpPr>
          <p:cNvPr id="24" name="TextBox 18">
            <a:extLst>
              <a:ext uri="{FF2B5EF4-FFF2-40B4-BE49-F238E27FC236}">
                <a16:creationId xmlns:a16="http://schemas.microsoft.com/office/drawing/2014/main" id="{3B73B53F-4567-EAB6-546D-98409ABB6345}"/>
              </a:ext>
            </a:extLst>
          </p:cNvPr>
          <p:cNvSpPr txBox="1">
            <a:spLocks noChangeArrowheads="1"/>
          </p:cNvSpPr>
          <p:nvPr/>
        </p:nvSpPr>
        <p:spPr bwMode="auto">
          <a:xfrm>
            <a:off x="8334793" y="6070852"/>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H. </a:t>
            </a:r>
          </a:p>
        </p:txBody>
      </p:sp>
      <p:pic>
        <p:nvPicPr>
          <p:cNvPr id="25" name="Picture 2" descr="Znalezione obrazy dla zapytania dreamworks logo">
            <a:extLst>
              <a:ext uri="{FF2B5EF4-FFF2-40B4-BE49-F238E27FC236}">
                <a16:creationId xmlns:a16="http://schemas.microsoft.com/office/drawing/2014/main" id="{993F6431-296F-D480-4702-B7BDCF5333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06267" y="2288749"/>
            <a:ext cx="222714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4" descr="Znalezione obrazy dla zapytania michelin logo png">
            <a:extLst>
              <a:ext uri="{FF2B5EF4-FFF2-40B4-BE49-F238E27FC236}">
                <a16:creationId xmlns:a16="http://schemas.microsoft.com/office/drawing/2014/main" id="{7DC72099-606B-A896-CEFC-DA616EA6B0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0730" y="4173789"/>
            <a:ext cx="3743325" cy="191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6" descr="Znalezione obrazy dla zapytania NBC logo">
            <a:extLst>
              <a:ext uri="{FF2B5EF4-FFF2-40B4-BE49-F238E27FC236}">
                <a16:creationId xmlns:a16="http://schemas.microsoft.com/office/drawing/2014/main" id="{F78390FA-080D-0D60-ADEF-3EB0093B90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793" y="4523039"/>
            <a:ext cx="19050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0" descr="Znalezione obrazy dla zapytania twitter logo">
            <a:extLst>
              <a:ext uri="{FF2B5EF4-FFF2-40B4-BE49-F238E27FC236}">
                <a16:creationId xmlns:a16="http://schemas.microsoft.com/office/drawing/2014/main" id="{98112F0D-AEA9-FD67-62EA-66BFB418D1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7355" y="4515102"/>
            <a:ext cx="13684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Znalezione obrazy dla zapytania lacoste logo">
            <a:extLst>
              <a:ext uri="{FF2B5EF4-FFF2-40B4-BE49-F238E27FC236}">
                <a16:creationId xmlns:a16="http://schemas.microsoft.com/office/drawing/2014/main" id="{13713D3D-5457-BB4D-1912-13B11BFB1B2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1826" b="27837"/>
          <a:stretch/>
        </p:blipFill>
        <p:spPr bwMode="auto">
          <a:xfrm>
            <a:off x="1913355" y="2077023"/>
            <a:ext cx="2486024" cy="177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721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1 - </a:t>
            </a:r>
            <a:r>
              <a:rPr lang="pl-PL" sz="5000" dirty="0" err="1">
                <a:latin typeface="Tenorite" panose="00000500000000000000" pitchFamily="2" charset="0"/>
              </a:rPr>
              <a:t>symbols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pic>
        <p:nvPicPr>
          <p:cNvPr id="3" name="Picture 6" descr="Znalezione obrazy dla zapytania starbucks logo">
            <a:extLst>
              <a:ext uri="{FF2B5EF4-FFF2-40B4-BE49-F238E27FC236}">
                <a16:creationId xmlns:a16="http://schemas.microsoft.com/office/drawing/2014/main" id="{0AB78C53-C736-4277-FC86-A9982334A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380" y="2237039"/>
            <a:ext cx="1573213"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Znalezione obrazy dla zapytania chanel  brands">
            <a:extLst>
              <a:ext uri="{FF2B5EF4-FFF2-40B4-BE49-F238E27FC236}">
                <a16:creationId xmlns:a16="http://schemas.microsoft.com/office/drawing/2014/main" id="{B223BF68-FAF2-BC37-5761-FBC335CED1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9955" y="2318795"/>
            <a:ext cx="17589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Znalezione obrazy dla zapytania nestle logo">
            <a:extLst>
              <a:ext uri="{FF2B5EF4-FFF2-40B4-BE49-F238E27FC236}">
                <a16:creationId xmlns:a16="http://schemas.microsoft.com/office/drawing/2014/main" id="{1D779E37-0E10-84FC-EB8E-FAA3FA0806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2043" y="4181727"/>
            <a:ext cx="2087562"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
            <a:extLst>
              <a:ext uri="{FF2B5EF4-FFF2-40B4-BE49-F238E27FC236}">
                <a16:creationId xmlns:a16="http://schemas.microsoft.com/office/drawing/2014/main" id="{CF054AA8-0EFC-FF4E-4134-DCC4FDC3E0C4}"/>
              </a:ext>
            </a:extLst>
          </p:cNvPr>
          <p:cNvSpPr txBox="1">
            <a:spLocks noChangeArrowheads="1"/>
          </p:cNvSpPr>
          <p:nvPr/>
        </p:nvSpPr>
        <p:spPr bwMode="auto">
          <a:xfrm>
            <a:off x="1913355" y="3843589"/>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A. </a:t>
            </a:r>
            <a:r>
              <a:rPr lang="pl-PL" altLang="pl-PL" sz="1800" b="1" u="none" dirty="0" err="1">
                <a:solidFill>
                  <a:srgbClr val="000000"/>
                </a:solidFill>
                <a:latin typeface="Tenorite" panose="00000500000000000000" pitchFamily="2" charset="0"/>
                <a:cs typeface="Tahoma" panose="020B0604030504040204" pitchFamily="34" charset="0"/>
              </a:rPr>
              <a:t>Lacoste</a:t>
            </a:r>
            <a:endParaRPr lang="pl-PL" altLang="pl-PL" sz="1800" b="1" u="none" dirty="0">
              <a:solidFill>
                <a:srgbClr val="000000"/>
              </a:solidFill>
              <a:latin typeface="Tenorite" panose="00000500000000000000" pitchFamily="2" charset="0"/>
              <a:cs typeface="Tahoma" panose="020B0604030504040204" pitchFamily="34" charset="0"/>
            </a:endParaRPr>
          </a:p>
        </p:txBody>
      </p:sp>
      <p:sp>
        <p:nvSpPr>
          <p:cNvPr id="18" name="TextBox 12">
            <a:extLst>
              <a:ext uri="{FF2B5EF4-FFF2-40B4-BE49-F238E27FC236}">
                <a16:creationId xmlns:a16="http://schemas.microsoft.com/office/drawing/2014/main" id="{AA954D65-1900-A212-5243-15439179AB14}"/>
              </a:ext>
            </a:extLst>
          </p:cNvPr>
          <p:cNvSpPr txBox="1">
            <a:spLocks noChangeArrowheads="1"/>
          </p:cNvSpPr>
          <p:nvPr/>
        </p:nvSpPr>
        <p:spPr bwMode="auto">
          <a:xfrm>
            <a:off x="4399380" y="3862639"/>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B. </a:t>
            </a:r>
            <a:r>
              <a:rPr lang="pl-PL" altLang="pl-PL" sz="1800" b="1" u="none" dirty="0" err="1">
                <a:solidFill>
                  <a:srgbClr val="000000"/>
                </a:solidFill>
                <a:latin typeface="Tenorite" panose="00000500000000000000" pitchFamily="2" charset="0"/>
                <a:cs typeface="Tahoma" panose="020B0604030504040204" pitchFamily="34" charset="0"/>
              </a:rPr>
              <a:t>Starbucks</a:t>
            </a:r>
            <a:endParaRPr lang="pl-PL" altLang="pl-PL" sz="1800" b="1" u="none" dirty="0">
              <a:solidFill>
                <a:srgbClr val="000000"/>
              </a:solidFill>
              <a:latin typeface="Tenorite" panose="00000500000000000000" pitchFamily="2" charset="0"/>
              <a:cs typeface="Tahoma" panose="020B0604030504040204" pitchFamily="34" charset="0"/>
            </a:endParaRPr>
          </a:p>
        </p:txBody>
      </p:sp>
      <p:sp>
        <p:nvSpPr>
          <p:cNvPr id="19" name="TextBox 13">
            <a:extLst>
              <a:ext uri="{FF2B5EF4-FFF2-40B4-BE49-F238E27FC236}">
                <a16:creationId xmlns:a16="http://schemas.microsoft.com/office/drawing/2014/main" id="{E2BB2CEC-258A-061B-A40F-4A312EB510CE}"/>
              </a:ext>
            </a:extLst>
          </p:cNvPr>
          <p:cNvSpPr txBox="1">
            <a:spLocks noChangeArrowheads="1"/>
          </p:cNvSpPr>
          <p:nvPr/>
        </p:nvSpPr>
        <p:spPr bwMode="auto">
          <a:xfrm>
            <a:off x="6486943" y="3872164"/>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C. Chanel</a:t>
            </a:r>
          </a:p>
        </p:txBody>
      </p:sp>
      <p:sp>
        <p:nvSpPr>
          <p:cNvPr id="20" name="TextBox 14">
            <a:extLst>
              <a:ext uri="{FF2B5EF4-FFF2-40B4-BE49-F238E27FC236}">
                <a16:creationId xmlns:a16="http://schemas.microsoft.com/office/drawing/2014/main" id="{20DFB694-C597-FDEA-0063-521C96256C9D}"/>
              </a:ext>
            </a:extLst>
          </p:cNvPr>
          <p:cNvSpPr txBox="1">
            <a:spLocks noChangeArrowheads="1"/>
          </p:cNvSpPr>
          <p:nvPr/>
        </p:nvSpPr>
        <p:spPr bwMode="auto">
          <a:xfrm>
            <a:off x="8667312" y="3857711"/>
            <a:ext cx="2305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D. DreamWorks</a:t>
            </a:r>
          </a:p>
        </p:txBody>
      </p:sp>
      <p:sp>
        <p:nvSpPr>
          <p:cNvPr id="21" name="TextBox 15">
            <a:extLst>
              <a:ext uri="{FF2B5EF4-FFF2-40B4-BE49-F238E27FC236}">
                <a16:creationId xmlns:a16="http://schemas.microsoft.com/office/drawing/2014/main" id="{43FB6EBE-A9DC-B3D5-289C-0503D0ECBFE2}"/>
              </a:ext>
            </a:extLst>
          </p:cNvPr>
          <p:cNvSpPr txBox="1">
            <a:spLocks noChangeArrowheads="1"/>
          </p:cNvSpPr>
          <p:nvPr/>
        </p:nvSpPr>
        <p:spPr bwMode="auto">
          <a:xfrm>
            <a:off x="1913355" y="6110539"/>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E. Twitter</a:t>
            </a:r>
          </a:p>
        </p:txBody>
      </p:sp>
      <p:sp>
        <p:nvSpPr>
          <p:cNvPr id="22" name="TextBox 16">
            <a:extLst>
              <a:ext uri="{FF2B5EF4-FFF2-40B4-BE49-F238E27FC236}">
                <a16:creationId xmlns:a16="http://schemas.microsoft.com/office/drawing/2014/main" id="{CD631511-21C9-1004-F583-88E2FF86B457}"/>
              </a:ext>
            </a:extLst>
          </p:cNvPr>
          <p:cNvSpPr txBox="1">
            <a:spLocks noChangeArrowheads="1"/>
          </p:cNvSpPr>
          <p:nvPr/>
        </p:nvSpPr>
        <p:spPr bwMode="auto">
          <a:xfrm>
            <a:off x="4362868" y="6121652"/>
            <a:ext cx="2305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F. </a:t>
            </a:r>
            <a:r>
              <a:rPr lang="pl-PL" altLang="pl-PL" sz="1800" b="1" u="none" dirty="0" err="1">
                <a:solidFill>
                  <a:srgbClr val="000000"/>
                </a:solidFill>
                <a:latin typeface="Tenorite" panose="00000500000000000000" pitchFamily="2" charset="0"/>
                <a:cs typeface="Tahoma" panose="020B0604030504040204" pitchFamily="34" charset="0"/>
              </a:rPr>
              <a:t>Nestlé</a:t>
            </a:r>
            <a:endParaRPr lang="pl-PL" altLang="pl-PL" sz="1800" b="1" u="none" dirty="0">
              <a:solidFill>
                <a:srgbClr val="000000"/>
              </a:solidFill>
              <a:latin typeface="Tenorite" panose="00000500000000000000" pitchFamily="2" charset="0"/>
              <a:cs typeface="Tahoma" panose="020B0604030504040204" pitchFamily="34" charset="0"/>
            </a:endParaRPr>
          </a:p>
        </p:txBody>
      </p:sp>
      <p:sp>
        <p:nvSpPr>
          <p:cNvPr id="23" name="TextBox 17">
            <a:extLst>
              <a:ext uri="{FF2B5EF4-FFF2-40B4-BE49-F238E27FC236}">
                <a16:creationId xmlns:a16="http://schemas.microsoft.com/office/drawing/2014/main" id="{0EFEB367-35A7-0EFF-2B09-2BD709C0EE51}"/>
              </a:ext>
            </a:extLst>
          </p:cNvPr>
          <p:cNvSpPr txBox="1">
            <a:spLocks noChangeArrowheads="1"/>
          </p:cNvSpPr>
          <p:nvPr/>
        </p:nvSpPr>
        <p:spPr bwMode="auto">
          <a:xfrm>
            <a:off x="6486943" y="6096252"/>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G. NBC</a:t>
            </a:r>
          </a:p>
        </p:txBody>
      </p:sp>
      <p:sp>
        <p:nvSpPr>
          <p:cNvPr id="24" name="TextBox 18">
            <a:extLst>
              <a:ext uri="{FF2B5EF4-FFF2-40B4-BE49-F238E27FC236}">
                <a16:creationId xmlns:a16="http://schemas.microsoft.com/office/drawing/2014/main" id="{3B73B53F-4567-EAB6-546D-98409ABB6345}"/>
              </a:ext>
            </a:extLst>
          </p:cNvPr>
          <p:cNvSpPr txBox="1">
            <a:spLocks noChangeArrowheads="1"/>
          </p:cNvSpPr>
          <p:nvPr/>
        </p:nvSpPr>
        <p:spPr bwMode="auto">
          <a:xfrm>
            <a:off x="8334793" y="6070852"/>
            <a:ext cx="230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pl-PL" altLang="pl-PL" sz="1800" b="1" u="none" dirty="0">
                <a:solidFill>
                  <a:srgbClr val="000000"/>
                </a:solidFill>
                <a:latin typeface="Tenorite" panose="00000500000000000000" pitchFamily="2" charset="0"/>
                <a:cs typeface="Tahoma" panose="020B0604030504040204" pitchFamily="34" charset="0"/>
              </a:rPr>
              <a:t>H. Michelin</a:t>
            </a:r>
          </a:p>
        </p:txBody>
      </p:sp>
      <p:pic>
        <p:nvPicPr>
          <p:cNvPr id="25" name="Picture 2" descr="Znalezione obrazy dla zapytania dreamworks logo">
            <a:extLst>
              <a:ext uri="{FF2B5EF4-FFF2-40B4-BE49-F238E27FC236}">
                <a16:creationId xmlns:a16="http://schemas.microsoft.com/office/drawing/2014/main" id="{993F6431-296F-D480-4702-B7BDCF5333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06267" y="2288749"/>
            <a:ext cx="222714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4" descr="Znalezione obrazy dla zapytania michelin logo png">
            <a:extLst>
              <a:ext uri="{FF2B5EF4-FFF2-40B4-BE49-F238E27FC236}">
                <a16:creationId xmlns:a16="http://schemas.microsoft.com/office/drawing/2014/main" id="{7DC72099-606B-A896-CEFC-DA616EA6B0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0730" y="4173789"/>
            <a:ext cx="3743325" cy="191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6" descr="Znalezione obrazy dla zapytania NBC logo">
            <a:extLst>
              <a:ext uri="{FF2B5EF4-FFF2-40B4-BE49-F238E27FC236}">
                <a16:creationId xmlns:a16="http://schemas.microsoft.com/office/drawing/2014/main" id="{F78390FA-080D-0D60-ADEF-3EB0093B90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793" y="4523039"/>
            <a:ext cx="19050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0" descr="Znalezione obrazy dla zapytania twitter logo">
            <a:extLst>
              <a:ext uri="{FF2B5EF4-FFF2-40B4-BE49-F238E27FC236}">
                <a16:creationId xmlns:a16="http://schemas.microsoft.com/office/drawing/2014/main" id="{98112F0D-AEA9-FD67-62EA-66BFB418D1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7355" y="4515102"/>
            <a:ext cx="13684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Znalezione obrazy dla zapytania lacoste logo">
            <a:extLst>
              <a:ext uri="{FF2B5EF4-FFF2-40B4-BE49-F238E27FC236}">
                <a16:creationId xmlns:a16="http://schemas.microsoft.com/office/drawing/2014/main" id="{13713D3D-5457-BB4D-1912-13B11BFB1B2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1826" b="27837"/>
          <a:stretch/>
        </p:blipFill>
        <p:spPr bwMode="auto">
          <a:xfrm>
            <a:off x="1913355" y="2077023"/>
            <a:ext cx="2486024" cy="177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9621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pic>
        <p:nvPicPr>
          <p:cNvPr id="2" name="Picture 2" descr="Podobny obraz">
            <a:extLst>
              <a:ext uri="{FF2B5EF4-FFF2-40B4-BE49-F238E27FC236}">
                <a16:creationId xmlns:a16="http://schemas.microsoft.com/office/drawing/2014/main" id="{3EB6EB13-9CBA-FD74-CC88-9E1E396E4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150" y="388352"/>
            <a:ext cx="7716253" cy="579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pole tekstowe 6">
            <a:extLst>
              <a:ext uri="{FF2B5EF4-FFF2-40B4-BE49-F238E27FC236}">
                <a16:creationId xmlns:a16="http://schemas.microsoft.com/office/drawing/2014/main" id="{D27ED001-69A7-6F75-B7D6-AB5C104EB8AE}"/>
              </a:ext>
            </a:extLst>
          </p:cNvPr>
          <p:cNvSpPr txBox="1"/>
          <p:nvPr/>
        </p:nvSpPr>
        <p:spPr>
          <a:xfrm>
            <a:off x="450000" y="2410142"/>
            <a:ext cx="1600200" cy="1754326"/>
          </a:xfrm>
          <a:prstGeom prst="rect">
            <a:avLst/>
          </a:prstGeom>
          <a:noFill/>
        </p:spPr>
        <p:txBody>
          <a:bodyPr wrap="square">
            <a:spAutoFit/>
          </a:bodyPr>
          <a:lstStyle/>
          <a:p>
            <a:r>
              <a:rPr lang="pl-PL" dirty="0">
                <a:latin typeface="Tenorite" panose="00000500000000000000" pitchFamily="2" charset="0"/>
              </a:rPr>
              <a:t>https://www.youtube.com/watch?v=FzcfZyEhOoI&amp;ab_channel=TechVision</a:t>
            </a:r>
          </a:p>
        </p:txBody>
      </p:sp>
    </p:spTree>
    <p:extLst>
      <p:ext uri="{BB962C8B-B14F-4D97-AF65-F5344CB8AC3E}">
        <p14:creationId xmlns:p14="http://schemas.microsoft.com/office/powerpoint/2010/main" val="4054391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err="1">
                <a:latin typeface="Tenorite" panose="00000500000000000000" pitchFamily="2" charset="0"/>
              </a:rPr>
              <a:t>Values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775720" y="2616668"/>
            <a:ext cx="8640560" cy="937219"/>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Espoused values could be represented by the philosophies, strategies and goals realized by e.g. Leaders.</a:t>
            </a:r>
          </a:p>
          <a:p>
            <a:pPr marL="457200" indent="-457200" algn="just" rtl="0">
              <a:lnSpc>
                <a:spcPct val="100000"/>
              </a:lnSpc>
              <a:buClr>
                <a:srgbClr val="663300"/>
              </a:buClr>
              <a:buFont typeface="Arial" panose="020B0604020202020204" pitchFamily="34" charset="0"/>
              <a:buChar char="•"/>
            </a:pPr>
            <a:endParaRPr lang="en-US" sz="23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300" dirty="0">
              <a:solidFill>
                <a:srgbClr val="663300"/>
              </a:solidFill>
              <a:latin typeface="Tenorite" panose="00000500000000000000" pitchFamily="2" charset="0"/>
            </a:endParaRPr>
          </a:p>
        </p:txBody>
      </p:sp>
      <p:pic>
        <p:nvPicPr>
          <p:cNvPr id="13" name="Picture 4" descr="Znalezione obrazy dla zapytania values">
            <a:extLst>
              <a:ext uri="{FF2B5EF4-FFF2-40B4-BE49-F238E27FC236}">
                <a16:creationId xmlns:a16="http://schemas.microsoft.com/office/drawing/2014/main" id="{C0937044-174C-26FD-C6A7-3D448C219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7262" y="5338662"/>
            <a:ext cx="3839015" cy="110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Zawartość — symbol zastępczy 2">
            <a:extLst>
              <a:ext uri="{FF2B5EF4-FFF2-40B4-BE49-F238E27FC236}">
                <a16:creationId xmlns:a16="http://schemas.microsoft.com/office/drawing/2014/main" id="{04C56286-9BA8-062B-C4D2-596F9CE6DAFF}"/>
              </a:ext>
            </a:extLst>
          </p:cNvPr>
          <p:cNvSpPr txBox="1">
            <a:spLocks/>
          </p:cNvSpPr>
          <p:nvPr/>
        </p:nvSpPr>
        <p:spPr>
          <a:xfrm>
            <a:off x="1775719" y="3365342"/>
            <a:ext cx="8640559" cy="2185226"/>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However, the value sought by leaders should be supported by some general and shared assumptions about e.g. how a company should be run, or how employees should be managed. If espoused values by leaders are not in line with the general </a:t>
            </a:r>
            <a:r>
              <a:rPr lang="en-US" sz="2300" dirty="0" err="1">
                <a:solidFill>
                  <a:srgbClr val="663300"/>
                </a:solidFill>
                <a:latin typeface="Tenorite" panose="00000500000000000000" pitchFamily="2" charset="0"/>
              </a:rPr>
              <a:t>assum</a:t>
            </a:r>
            <a:r>
              <a:rPr lang="pl-PL" sz="2300" dirty="0">
                <a:solidFill>
                  <a:srgbClr val="663300"/>
                </a:solidFill>
                <a:latin typeface="Tenorite" panose="00000500000000000000" pitchFamily="2" charset="0"/>
              </a:rPr>
              <a:t>p</a:t>
            </a:r>
            <a:r>
              <a:rPr lang="en-US" sz="2300" dirty="0" err="1">
                <a:solidFill>
                  <a:srgbClr val="663300"/>
                </a:solidFill>
                <a:latin typeface="Tenorite" panose="00000500000000000000" pitchFamily="2" charset="0"/>
              </a:rPr>
              <a:t>tions</a:t>
            </a:r>
            <a:r>
              <a:rPr lang="en-US" sz="2300" dirty="0">
                <a:solidFill>
                  <a:srgbClr val="663300"/>
                </a:solidFill>
                <a:latin typeface="Tenorite" panose="00000500000000000000" pitchFamily="2" charset="0"/>
              </a:rPr>
              <a:t> of the culture, this might signal trouble.</a:t>
            </a:r>
          </a:p>
        </p:txBody>
      </p:sp>
    </p:spTree>
    <p:extLst>
      <p:ext uri="{BB962C8B-B14F-4D97-AF65-F5344CB8AC3E}">
        <p14:creationId xmlns:p14="http://schemas.microsoft.com/office/powerpoint/2010/main" val="1952088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sp>
        <p:nvSpPr>
          <p:cNvPr id="11" name="Prostokąt zaokrąglony 1">
            <a:extLst>
              <a:ext uri="{FF2B5EF4-FFF2-40B4-BE49-F238E27FC236}">
                <a16:creationId xmlns:a16="http://schemas.microsoft.com/office/drawing/2014/main" id="{6AA0A10E-AEC6-6728-07ED-CE1BD9456F9B}"/>
              </a:ext>
            </a:extLst>
          </p:cNvPr>
          <p:cNvSpPr>
            <a:spLocks noChangeArrowheads="1"/>
          </p:cNvSpPr>
          <p:nvPr/>
        </p:nvSpPr>
        <p:spPr bwMode="auto">
          <a:xfrm>
            <a:off x="1694656" y="269207"/>
            <a:ext cx="8802688" cy="2303463"/>
          </a:xfrm>
          <a:prstGeom prst="roundRect">
            <a:avLst>
              <a:gd name="adj" fmla="val 16667"/>
            </a:avLst>
          </a:prstGeom>
          <a:solidFill>
            <a:srgbClr val="FFC000"/>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7200" b="1" u="none" dirty="0">
                <a:latin typeface="Tenorite" panose="00000500000000000000" pitchFamily="2" charset="0"/>
              </a:rPr>
              <a:t>BIG VALUES LIST</a:t>
            </a:r>
          </a:p>
        </p:txBody>
      </p:sp>
      <p:sp>
        <p:nvSpPr>
          <p:cNvPr id="12" name="pole tekstowe 2">
            <a:extLst>
              <a:ext uri="{FF2B5EF4-FFF2-40B4-BE49-F238E27FC236}">
                <a16:creationId xmlns:a16="http://schemas.microsoft.com/office/drawing/2014/main" id="{F0CB226E-B375-057D-2C12-216D4E83DA9D}"/>
              </a:ext>
            </a:extLst>
          </p:cNvPr>
          <p:cNvSpPr txBox="1">
            <a:spLocks noChangeArrowheads="1"/>
          </p:cNvSpPr>
          <p:nvPr/>
        </p:nvSpPr>
        <p:spPr bwMode="auto">
          <a:xfrm>
            <a:off x="1694656" y="2786960"/>
            <a:ext cx="1854200"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spcAft>
                <a:spcPts val="600"/>
              </a:spcAft>
              <a:buClrTx/>
              <a:buSzTx/>
              <a:buFontTx/>
              <a:buNone/>
            </a:pPr>
            <a:r>
              <a:rPr lang="pl-PL" altLang="pl-PL" sz="1600" b="1" u="none" dirty="0" err="1">
                <a:latin typeface="Tenorite" panose="00000500000000000000" pitchFamily="2" charset="0"/>
              </a:rPr>
              <a:t>Acceptance</a:t>
            </a:r>
            <a:r>
              <a:rPr lang="pl-PL" altLang="pl-PL" sz="1600" b="1" u="none" dirty="0">
                <a:latin typeface="Tenorite" panose="00000500000000000000" pitchFamily="2" charset="0"/>
              </a:rPr>
              <a:t>  </a:t>
            </a:r>
          </a:p>
          <a:p>
            <a:pPr>
              <a:spcBef>
                <a:spcPct val="0"/>
              </a:spcBef>
              <a:spcAft>
                <a:spcPts val="600"/>
              </a:spcAft>
              <a:buClrTx/>
              <a:buSzTx/>
              <a:buFontTx/>
              <a:buNone/>
            </a:pPr>
            <a:r>
              <a:rPr lang="pl-PL" altLang="pl-PL" sz="1600" b="1" u="none" dirty="0" err="1">
                <a:latin typeface="Tenorite" panose="00000500000000000000" pitchFamily="2" charset="0"/>
              </a:rPr>
              <a:t>Accessibilty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Accomplishment</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Accountability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Accuracy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Achievement</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Activeness</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Adaptability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a:latin typeface="Tenorite" panose="00000500000000000000" pitchFamily="2" charset="0"/>
              </a:rPr>
              <a:t>Adventure</a:t>
            </a:r>
          </a:p>
          <a:p>
            <a:pPr>
              <a:spcBef>
                <a:spcPct val="0"/>
              </a:spcBef>
              <a:spcAft>
                <a:spcPts val="600"/>
              </a:spcAft>
              <a:buClrTx/>
              <a:buSzTx/>
              <a:buFontTx/>
              <a:buNone/>
            </a:pPr>
            <a:r>
              <a:rPr lang="pl-PL" altLang="pl-PL" sz="1600" b="1" u="none" dirty="0" err="1">
                <a:latin typeface="Tenorite" panose="00000500000000000000" pitchFamily="2" charset="0"/>
              </a:rPr>
              <a:t>Aesthetics</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Agility</a:t>
            </a:r>
            <a:endParaRPr lang="pl-PL" altLang="pl-PL" sz="1600" b="1" u="none" dirty="0">
              <a:latin typeface="Tenorite" panose="00000500000000000000" pitchFamily="2" charset="0"/>
            </a:endParaRPr>
          </a:p>
        </p:txBody>
      </p:sp>
      <p:sp>
        <p:nvSpPr>
          <p:cNvPr id="15" name="pole tekstowe 4">
            <a:extLst>
              <a:ext uri="{FF2B5EF4-FFF2-40B4-BE49-F238E27FC236}">
                <a16:creationId xmlns:a16="http://schemas.microsoft.com/office/drawing/2014/main" id="{B97C3C70-9577-5DF1-4B35-30599E64C5C2}"/>
              </a:ext>
            </a:extLst>
          </p:cNvPr>
          <p:cNvSpPr txBox="1">
            <a:spLocks noChangeArrowheads="1"/>
          </p:cNvSpPr>
          <p:nvPr/>
        </p:nvSpPr>
        <p:spPr bwMode="auto">
          <a:xfrm>
            <a:off x="3583781" y="2786960"/>
            <a:ext cx="1854200"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spcAft>
                <a:spcPts val="600"/>
              </a:spcAft>
              <a:buClrTx/>
              <a:buSzTx/>
              <a:buFontTx/>
              <a:buNone/>
            </a:pPr>
            <a:r>
              <a:rPr lang="pl-PL" altLang="pl-PL" sz="1600" b="1" u="none" dirty="0" err="1">
                <a:latin typeface="Tenorite" panose="00000500000000000000" pitchFamily="2" charset="0"/>
              </a:rPr>
              <a:t>Creativity</a:t>
            </a:r>
            <a:r>
              <a:rPr lang="pl-PL" altLang="pl-PL" sz="1600" b="1" u="none" dirty="0">
                <a:latin typeface="Tenorite" panose="00000500000000000000" pitchFamily="2" charset="0"/>
              </a:rPr>
              <a:t>  </a:t>
            </a:r>
          </a:p>
          <a:p>
            <a:pPr>
              <a:spcBef>
                <a:spcPct val="0"/>
              </a:spcBef>
              <a:spcAft>
                <a:spcPts val="600"/>
              </a:spcAft>
              <a:buClrTx/>
              <a:buSzTx/>
              <a:buFontTx/>
              <a:buNone/>
            </a:pPr>
            <a:r>
              <a:rPr lang="pl-PL" altLang="pl-PL" sz="1600" b="1" u="none" dirty="0" err="1">
                <a:latin typeface="Tenorite" panose="00000500000000000000" pitchFamily="2" charset="0"/>
              </a:rPr>
              <a:t>Credibility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Cunning</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Curiosity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Daring</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Decisiveness</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Dedication</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Dependability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Determination</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Devotion</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Dignity</a:t>
            </a:r>
            <a:endParaRPr lang="pl-PL" altLang="pl-PL" sz="1600" b="1" u="none" dirty="0">
              <a:latin typeface="Tenorite" panose="00000500000000000000" pitchFamily="2" charset="0"/>
            </a:endParaRPr>
          </a:p>
        </p:txBody>
      </p:sp>
      <p:sp>
        <p:nvSpPr>
          <p:cNvPr id="16" name="pole tekstowe 5">
            <a:extLst>
              <a:ext uri="{FF2B5EF4-FFF2-40B4-BE49-F238E27FC236}">
                <a16:creationId xmlns:a16="http://schemas.microsoft.com/office/drawing/2014/main" id="{29BDA3D7-EF43-8110-E78C-E350F9E04797}"/>
              </a:ext>
            </a:extLst>
          </p:cNvPr>
          <p:cNvSpPr txBox="1">
            <a:spLocks noChangeArrowheads="1"/>
          </p:cNvSpPr>
          <p:nvPr/>
        </p:nvSpPr>
        <p:spPr bwMode="auto">
          <a:xfrm>
            <a:off x="5450681" y="2786960"/>
            <a:ext cx="1854200"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spcAft>
                <a:spcPts val="600"/>
              </a:spcAft>
              <a:buClrTx/>
              <a:buSzTx/>
              <a:buFontTx/>
              <a:buNone/>
            </a:pPr>
            <a:r>
              <a:rPr lang="pl-PL" altLang="pl-PL" sz="1600" b="1" u="none" dirty="0" err="1">
                <a:latin typeface="Tenorite" panose="00000500000000000000" pitchFamily="2" charset="0"/>
              </a:rPr>
              <a:t>Flexibility</a:t>
            </a:r>
            <a:r>
              <a:rPr lang="pl-PL" altLang="pl-PL" sz="1600" b="1" u="none" dirty="0">
                <a:latin typeface="Tenorite" panose="00000500000000000000" pitchFamily="2" charset="0"/>
              </a:rPr>
              <a:t>  </a:t>
            </a:r>
          </a:p>
          <a:p>
            <a:pPr>
              <a:spcBef>
                <a:spcPct val="0"/>
              </a:spcBef>
              <a:spcAft>
                <a:spcPts val="600"/>
              </a:spcAft>
              <a:buClrTx/>
              <a:buSzTx/>
              <a:buFontTx/>
              <a:buNone/>
            </a:pPr>
            <a:r>
              <a:rPr lang="pl-PL" altLang="pl-PL" sz="1600" b="1" u="none" dirty="0" err="1">
                <a:latin typeface="Tenorite" panose="00000500000000000000" pitchFamily="2" charset="0"/>
              </a:rPr>
              <a:t>Fluency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a:latin typeface="Tenorite" panose="00000500000000000000" pitchFamily="2" charset="0"/>
              </a:rPr>
              <a:t>Focus</a:t>
            </a:r>
          </a:p>
          <a:p>
            <a:pPr>
              <a:spcBef>
                <a:spcPct val="0"/>
              </a:spcBef>
              <a:spcAft>
                <a:spcPts val="600"/>
              </a:spcAft>
              <a:buClrTx/>
              <a:buSzTx/>
              <a:buFontTx/>
              <a:buNone/>
            </a:pPr>
            <a:r>
              <a:rPr lang="pl-PL" altLang="pl-PL" sz="1600" b="1" u="none" dirty="0" err="1">
                <a:latin typeface="Tenorite" panose="00000500000000000000" pitchFamily="2" charset="0"/>
              </a:rPr>
              <a:t>Frankness</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Freedom</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Friendliness</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Friendship</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a:latin typeface="Tenorite" panose="00000500000000000000" pitchFamily="2" charset="0"/>
              </a:rPr>
              <a:t>Fun</a:t>
            </a:r>
          </a:p>
          <a:p>
            <a:pPr>
              <a:spcBef>
                <a:spcPct val="0"/>
              </a:spcBef>
              <a:spcAft>
                <a:spcPts val="600"/>
              </a:spcAft>
              <a:buClrTx/>
              <a:buSzTx/>
              <a:buFontTx/>
              <a:buNone/>
            </a:pPr>
            <a:r>
              <a:rPr lang="pl-PL" altLang="pl-PL" sz="1600" b="1" u="none" dirty="0" err="1">
                <a:latin typeface="Tenorite" panose="00000500000000000000" pitchFamily="2" charset="0"/>
              </a:rPr>
              <a:t>Generosity</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Gratitude</a:t>
            </a:r>
            <a:endParaRPr lang="pl-PL" altLang="pl-PL" sz="1600" b="1" u="none" dirty="0">
              <a:latin typeface="Tenorite" panose="00000500000000000000" pitchFamily="2" charset="0"/>
            </a:endParaRPr>
          </a:p>
          <a:p>
            <a:pPr>
              <a:spcBef>
                <a:spcPct val="0"/>
              </a:spcBef>
              <a:spcAft>
                <a:spcPts val="600"/>
              </a:spcAft>
              <a:buClrTx/>
              <a:buSzTx/>
              <a:buFontTx/>
              <a:buNone/>
            </a:pPr>
            <a:r>
              <a:rPr lang="pl-PL" altLang="pl-PL" sz="1600" b="1" u="none" dirty="0" err="1">
                <a:latin typeface="Tenorite" panose="00000500000000000000" pitchFamily="2" charset="0"/>
              </a:rPr>
              <a:t>Growth</a:t>
            </a:r>
            <a:endParaRPr lang="pl-PL" altLang="pl-PL" sz="1600" b="1" u="none" dirty="0">
              <a:latin typeface="Tenorite" panose="00000500000000000000" pitchFamily="2" charset="0"/>
            </a:endParaRPr>
          </a:p>
        </p:txBody>
      </p:sp>
      <p:sp>
        <p:nvSpPr>
          <p:cNvPr id="17" name="pole tekstowe 6">
            <a:extLst>
              <a:ext uri="{FF2B5EF4-FFF2-40B4-BE49-F238E27FC236}">
                <a16:creationId xmlns:a16="http://schemas.microsoft.com/office/drawing/2014/main" id="{C50214FF-2F42-3F6F-87CA-D39A5FB02CC7}"/>
              </a:ext>
            </a:extLst>
          </p:cNvPr>
          <p:cNvSpPr txBox="1">
            <a:spLocks noChangeArrowheads="1"/>
          </p:cNvSpPr>
          <p:nvPr/>
        </p:nvSpPr>
        <p:spPr bwMode="auto">
          <a:xfrm>
            <a:off x="7196931" y="2786960"/>
            <a:ext cx="1854200"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spcAft>
                <a:spcPts val="600"/>
              </a:spcAft>
              <a:buClrTx/>
              <a:buSzTx/>
              <a:buFontTx/>
              <a:buNone/>
            </a:pPr>
            <a:r>
              <a:rPr lang="pl-PL" altLang="pl-PL" sz="1600" b="1" u="none">
                <a:latin typeface="Tenorite" panose="00000500000000000000" pitchFamily="2" charset="0"/>
              </a:rPr>
              <a:t>Modesty  </a:t>
            </a:r>
          </a:p>
          <a:p>
            <a:pPr>
              <a:spcBef>
                <a:spcPct val="0"/>
              </a:spcBef>
              <a:spcAft>
                <a:spcPts val="600"/>
              </a:spcAft>
              <a:buClrTx/>
              <a:buSzTx/>
              <a:buFontTx/>
              <a:buNone/>
            </a:pPr>
            <a:r>
              <a:rPr lang="pl-PL" altLang="pl-PL" sz="1600" b="1" u="none">
                <a:latin typeface="Tenorite" panose="00000500000000000000" pitchFamily="2" charset="0"/>
              </a:rPr>
              <a:t>Motivation</a:t>
            </a:r>
          </a:p>
          <a:p>
            <a:pPr>
              <a:spcBef>
                <a:spcPct val="0"/>
              </a:spcBef>
              <a:spcAft>
                <a:spcPts val="600"/>
              </a:spcAft>
              <a:buClrTx/>
              <a:buSzTx/>
              <a:buFontTx/>
              <a:buNone/>
            </a:pPr>
            <a:r>
              <a:rPr lang="pl-PL" altLang="pl-PL" sz="1600" b="1" u="none">
                <a:latin typeface="Tenorite" panose="00000500000000000000" pitchFamily="2" charset="0"/>
              </a:rPr>
              <a:t>Neatness</a:t>
            </a:r>
          </a:p>
          <a:p>
            <a:pPr>
              <a:spcBef>
                <a:spcPct val="0"/>
              </a:spcBef>
              <a:spcAft>
                <a:spcPts val="600"/>
              </a:spcAft>
              <a:buClrTx/>
              <a:buSzTx/>
              <a:buFontTx/>
              <a:buNone/>
            </a:pPr>
            <a:r>
              <a:rPr lang="pl-PL" altLang="pl-PL" sz="1600" b="1" u="none">
                <a:latin typeface="Tenorite" panose="00000500000000000000" pitchFamily="2" charset="0"/>
              </a:rPr>
              <a:t>Open-mindedness</a:t>
            </a:r>
          </a:p>
          <a:p>
            <a:pPr>
              <a:spcBef>
                <a:spcPct val="0"/>
              </a:spcBef>
              <a:spcAft>
                <a:spcPts val="600"/>
              </a:spcAft>
              <a:buClrTx/>
              <a:buSzTx/>
              <a:buFontTx/>
              <a:buNone/>
            </a:pPr>
            <a:r>
              <a:rPr lang="pl-PL" altLang="pl-PL" sz="1600" b="1" u="none">
                <a:latin typeface="Tenorite" panose="00000500000000000000" pitchFamily="2" charset="0"/>
              </a:rPr>
              <a:t>Openness</a:t>
            </a:r>
          </a:p>
          <a:p>
            <a:pPr>
              <a:spcBef>
                <a:spcPct val="0"/>
              </a:spcBef>
              <a:spcAft>
                <a:spcPts val="600"/>
              </a:spcAft>
              <a:buClrTx/>
              <a:buSzTx/>
              <a:buFontTx/>
              <a:buNone/>
            </a:pPr>
            <a:r>
              <a:rPr lang="pl-PL" altLang="pl-PL" sz="1600" b="1" u="none">
                <a:latin typeface="Tenorite" panose="00000500000000000000" pitchFamily="2" charset="0"/>
              </a:rPr>
              <a:t>Optimism</a:t>
            </a:r>
          </a:p>
          <a:p>
            <a:pPr>
              <a:spcBef>
                <a:spcPct val="0"/>
              </a:spcBef>
              <a:spcAft>
                <a:spcPts val="600"/>
              </a:spcAft>
              <a:buClrTx/>
              <a:buSzTx/>
              <a:buFontTx/>
              <a:buNone/>
            </a:pPr>
            <a:r>
              <a:rPr lang="pl-PL" altLang="pl-PL" sz="1600" b="1" u="none">
                <a:latin typeface="Tenorite" panose="00000500000000000000" pitchFamily="2" charset="0"/>
              </a:rPr>
              <a:t>Order</a:t>
            </a:r>
          </a:p>
          <a:p>
            <a:pPr>
              <a:spcBef>
                <a:spcPct val="0"/>
              </a:spcBef>
              <a:spcAft>
                <a:spcPts val="600"/>
              </a:spcAft>
              <a:buClrTx/>
              <a:buSzTx/>
              <a:buFontTx/>
              <a:buNone/>
            </a:pPr>
            <a:r>
              <a:rPr lang="pl-PL" altLang="pl-PL" sz="1600" b="1" u="none">
                <a:latin typeface="Tenorite" panose="00000500000000000000" pitchFamily="2" charset="0"/>
              </a:rPr>
              <a:t>Orderliness</a:t>
            </a:r>
          </a:p>
          <a:p>
            <a:pPr>
              <a:spcBef>
                <a:spcPct val="0"/>
              </a:spcBef>
              <a:spcAft>
                <a:spcPts val="600"/>
              </a:spcAft>
              <a:buClrTx/>
              <a:buSzTx/>
              <a:buFontTx/>
              <a:buNone/>
            </a:pPr>
            <a:r>
              <a:rPr lang="pl-PL" altLang="pl-PL" sz="1600" b="1" u="none">
                <a:latin typeface="Tenorite" panose="00000500000000000000" pitchFamily="2" charset="0"/>
              </a:rPr>
              <a:t>Organization</a:t>
            </a:r>
          </a:p>
          <a:p>
            <a:pPr>
              <a:spcBef>
                <a:spcPct val="0"/>
              </a:spcBef>
              <a:spcAft>
                <a:spcPts val="600"/>
              </a:spcAft>
              <a:buClrTx/>
              <a:buSzTx/>
              <a:buFontTx/>
              <a:buNone/>
            </a:pPr>
            <a:r>
              <a:rPr lang="pl-PL" altLang="pl-PL" sz="1600" b="1" u="none">
                <a:latin typeface="Tenorite" panose="00000500000000000000" pitchFamily="2" charset="0"/>
              </a:rPr>
              <a:t>Originality</a:t>
            </a:r>
          </a:p>
          <a:p>
            <a:pPr>
              <a:spcBef>
                <a:spcPct val="0"/>
              </a:spcBef>
              <a:spcAft>
                <a:spcPts val="600"/>
              </a:spcAft>
              <a:buClrTx/>
              <a:buSzTx/>
              <a:buFontTx/>
              <a:buNone/>
            </a:pPr>
            <a:r>
              <a:rPr lang="pl-PL" altLang="pl-PL" sz="1600" b="1" u="none">
                <a:latin typeface="Tenorite" panose="00000500000000000000" pitchFamily="2" charset="0"/>
              </a:rPr>
              <a:t>Outlandishness</a:t>
            </a:r>
          </a:p>
        </p:txBody>
      </p:sp>
      <p:sp>
        <p:nvSpPr>
          <p:cNvPr id="18" name="pole tekstowe 7">
            <a:extLst>
              <a:ext uri="{FF2B5EF4-FFF2-40B4-BE49-F238E27FC236}">
                <a16:creationId xmlns:a16="http://schemas.microsoft.com/office/drawing/2014/main" id="{F2D5E6F1-00E2-D2DD-87F1-F7D74107C766}"/>
              </a:ext>
            </a:extLst>
          </p:cNvPr>
          <p:cNvSpPr txBox="1">
            <a:spLocks noChangeArrowheads="1"/>
          </p:cNvSpPr>
          <p:nvPr/>
        </p:nvSpPr>
        <p:spPr bwMode="auto">
          <a:xfrm>
            <a:off x="9051131" y="2786960"/>
            <a:ext cx="1854200"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spcAft>
                <a:spcPts val="600"/>
              </a:spcAft>
              <a:buClrTx/>
              <a:buSzTx/>
              <a:buFontTx/>
              <a:buNone/>
            </a:pPr>
            <a:r>
              <a:rPr lang="pl-PL" altLang="pl-PL" sz="1600" b="1" u="none">
                <a:latin typeface="Tenorite" panose="00000500000000000000" pitchFamily="2" charset="0"/>
              </a:rPr>
              <a:t>Self-control  </a:t>
            </a:r>
          </a:p>
          <a:p>
            <a:pPr>
              <a:spcBef>
                <a:spcPct val="0"/>
              </a:spcBef>
              <a:spcAft>
                <a:spcPts val="600"/>
              </a:spcAft>
              <a:buClrTx/>
              <a:buSzTx/>
              <a:buFontTx/>
              <a:buNone/>
            </a:pPr>
            <a:r>
              <a:rPr lang="pl-PL" altLang="pl-PL" sz="1600" b="1" u="none">
                <a:latin typeface="Tenorite" panose="00000500000000000000" pitchFamily="2" charset="0"/>
              </a:rPr>
              <a:t>Self-descipline</a:t>
            </a:r>
          </a:p>
          <a:p>
            <a:pPr>
              <a:spcBef>
                <a:spcPct val="0"/>
              </a:spcBef>
              <a:spcAft>
                <a:spcPts val="600"/>
              </a:spcAft>
              <a:buClrTx/>
              <a:buSzTx/>
              <a:buFontTx/>
              <a:buNone/>
            </a:pPr>
            <a:r>
              <a:rPr lang="pl-PL" altLang="pl-PL" sz="1600" b="1" u="none">
                <a:latin typeface="Tenorite" panose="00000500000000000000" pitchFamily="2" charset="0"/>
              </a:rPr>
              <a:t>Self-reliance</a:t>
            </a:r>
          </a:p>
          <a:p>
            <a:pPr>
              <a:spcBef>
                <a:spcPct val="0"/>
              </a:spcBef>
              <a:spcAft>
                <a:spcPts val="600"/>
              </a:spcAft>
              <a:buClrTx/>
              <a:buSzTx/>
              <a:buFontTx/>
              <a:buNone/>
            </a:pPr>
            <a:r>
              <a:rPr lang="pl-PL" altLang="pl-PL" sz="1600" b="1" u="none">
                <a:latin typeface="Tenorite" panose="00000500000000000000" pitchFamily="2" charset="0"/>
              </a:rPr>
              <a:t>Sensitivity</a:t>
            </a:r>
          </a:p>
          <a:p>
            <a:pPr>
              <a:spcBef>
                <a:spcPct val="0"/>
              </a:spcBef>
              <a:spcAft>
                <a:spcPts val="600"/>
              </a:spcAft>
              <a:buClrTx/>
              <a:buSzTx/>
              <a:buFontTx/>
              <a:buNone/>
            </a:pPr>
            <a:r>
              <a:rPr lang="pl-PL" altLang="pl-PL" sz="1600" b="1" u="none">
                <a:latin typeface="Tenorite" panose="00000500000000000000" pitchFamily="2" charset="0"/>
              </a:rPr>
              <a:t>Serenity</a:t>
            </a:r>
          </a:p>
          <a:p>
            <a:pPr>
              <a:spcBef>
                <a:spcPct val="0"/>
              </a:spcBef>
              <a:spcAft>
                <a:spcPts val="600"/>
              </a:spcAft>
              <a:buClrTx/>
              <a:buSzTx/>
              <a:buFontTx/>
              <a:buNone/>
            </a:pPr>
            <a:r>
              <a:rPr lang="pl-PL" altLang="pl-PL" sz="1600" b="1" u="none">
                <a:latin typeface="Tenorite" panose="00000500000000000000" pitchFamily="2" charset="0"/>
              </a:rPr>
              <a:t>Service</a:t>
            </a:r>
          </a:p>
          <a:p>
            <a:pPr>
              <a:spcBef>
                <a:spcPct val="0"/>
              </a:spcBef>
              <a:spcAft>
                <a:spcPts val="600"/>
              </a:spcAft>
              <a:buClrTx/>
              <a:buSzTx/>
              <a:buFontTx/>
              <a:buNone/>
            </a:pPr>
            <a:r>
              <a:rPr lang="pl-PL" altLang="pl-PL" sz="1600" b="1" u="none">
                <a:latin typeface="Tenorite" panose="00000500000000000000" pitchFamily="2" charset="0"/>
              </a:rPr>
              <a:t>Sharing</a:t>
            </a:r>
          </a:p>
          <a:p>
            <a:pPr>
              <a:spcBef>
                <a:spcPct val="0"/>
              </a:spcBef>
              <a:spcAft>
                <a:spcPts val="600"/>
              </a:spcAft>
              <a:buClrTx/>
              <a:buSzTx/>
              <a:buFontTx/>
              <a:buNone/>
            </a:pPr>
            <a:r>
              <a:rPr lang="pl-PL" altLang="pl-PL" sz="1600" b="1" u="none">
                <a:latin typeface="Tenorite" panose="00000500000000000000" pitchFamily="2" charset="0"/>
              </a:rPr>
              <a:t>Silliness</a:t>
            </a:r>
          </a:p>
          <a:p>
            <a:pPr>
              <a:spcBef>
                <a:spcPct val="0"/>
              </a:spcBef>
              <a:spcAft>
                <a:spcPts val="600"/>
              </a:spcAft>
              <a:buClrTx/>
              <a:buSzTx/>
              <a:buFontTx/>
              <a:buNone/>
            </a:pPr>
            <a:r>
              <a:rPr lang="pl-PL" altLang="pl-PL" sz="1600" b="1" u="none">
                <a:latin typeface="Tenorite" panose="00000500000000000000" pitchFamily="2" charset="0"/>
              </a:rPr>
              <a:t>Simplicity</a:t>
            </a:r>
          </a:p>
          <a:p>
            <a:pPr>
              <a:spcBef>
                <a:spcPct val="0"/>
              </a:spcBef>
              <a:spcAft>
                <a:spcPts val="600"/>
              </a:spcAft>
              <a:buClrTx/>
              <a:buSzTx/>
              <a:buFontTx/>
              <a:buNone/>
            </a:pPr>
            <a:r>
              <a:rPr lang="pl-PL" altLang="pl-PL" sz="1600" b="1" u="none">
                <a:latin typeface="Tenorite" panose="00000500000000000000" pitchFamily="2" charset="0"/>
              </a:rPr>
              <a:t>Sincerity</a:t>
            </a:r>
          </a:p>
          <a:p>
            <a:pPr>
              <a:spcBef>
                <a:spcPct val="0"/>
              </a:spcBef>
              <a:spcAft>
                <a:spcPts val="600"/>
              </a:spcAft>
              <a:buClrTx/>
              <a:buSzTx/>
              <a:buFontTx/>
              <a:buNone/>
            </a:pPr>
            <a:r>
              <a:rPr lang="pl-PL" altLang="pl-PL" sz="1600" b="1" u="none">
                <a:latin typeface="Tenorite" panose="00000500000000000000" pitchFamily="2" charset="0"/>
              </a:rPr>
              <a:t>Skill</a:t>
            </a:r>
          </a:p>
        </p:txBody>
      </p:sp>
    </p:spTree>
    <p:extLst>
      <p:ext uri="{BB962C8B-B14F-4D97-AF65-F5344CB8AC3E}">
        <p14:creationId xmlns:p14="http://schemas.microsoft.com/office/powerpoint/2010/main" val="3194787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pPr rtl="0"/>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language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971024" y="2371514"/>
            <a:ext cx="9231756" cy="395077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700" dirty="0">
                <a:solidFill>
                  <a:srgbClr val="663300"/>
                </a:solidFill>
                <a:latin typeface="Tenorite" panose="00000500000000000000" pitchFamily="2" charset="0"/>
              </a:rPr>
              <a:t>The University's core values are as follows:</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Freedom of thought and expression,</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Freedom from discrimination.</a:t>
            </a:r>
          </a:p>
          <a:p>
            <a:pPr marL="457200" indent="-457200" algn="just" rtl="0">
              <a:lnSpc>
                <a:spcPct val="100000"/>
              </a:lnSpc>
              <a:buClr>
                <a:srgbClr val="663300"/>
              </a:buClr>
              <a:buFont typeface="Arial" panose="020B0604020202020204" pitchFamily="34" charset="0"/>
              <a:buChar char="•"/>
            </a:pPr>
            <a:r>
              <a:rPr lang="en-US" sz="2700" dirty="0">
                <a:solidFill>
                  <a:srgbClr val="663300"/>
                </a:solidFill>
                <a:latin typeface="Tenorite" panose="00000500000000000000" pitchFamily="2" charset="0"/>
              </a:rPr>
              <a:t>With our partners, our coffee and our customers at our core, we live these values:</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Creating a culture of warmth and belonging, where everyone is welcome,</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Acting with courage, challenging the status quo and finding new ways to grow our company and each other,</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Being present, connecting with transparency, dignity and respect,</a:t>
            </a:r>
          </a:p>
          <a:p>
            <a:pPr marL="1177200" lvl="2" indent="-457200" algn="just">
              <a:lnSpc>
                <a:spcPct val="100000"/>
              </a:lnSpc>
              <a:buClr>
                <a:srgbClr val="663300"/>
              </a:buClr>
              <a:buFont typeface="Wingdings" panose="05000000000000000000" pitchFamily="2" charset="2"/>
              <a:buChar char="§"/>
            </a:pPr>
            <a:r>
              <a:rPr lang="en-US" sz="1800" b="1" dirty="0">
                <a:solidFill>
                  <a:srgbClr val="663300"/>
                </a:solidFill>
                <a:latin typeface="Tenorite" panose="00000500000000000000" pitchFamily="2" charset="0"/>
              </a:rPr>
              <a:t>Delivering our very best in all we do, holding ourselves accountable for results.</a:t>
            </a:r>
          </a:p>
        </p:txBody>
      </p:sp>
      <p:pic>
        <p:nvPicPr>
          <p:cNvPr id="7" name="Picture 4" descr="Znalezione obrazy dla zapytania university of cambridge">
            <a:extLst>
              <a:ext uri="{FF2B5EF4-FFF2-40B4-BE49-F238E27FC236}">
                <a16:creationId xmlns:a16="http://schemas.microsoft.com/office/drawing/2014/main" id="{17E8570D-E0C1-E12C-00E0-2D0E63BB67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0014" y="2708275"/>
            <a:ext cx="31829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Znalezione obrazy dla zapytania starbucks">
            <a:extLst>
              <a:ext uri="{FF2B5EF4-FFF2-40B4-BE49-F238E27FC236}">
                <a16:creationId xmlns:a16="http://schemas.microsoft.com/office/drawing/2014/main" id="{E7389AAF-A4F8-3EBF-8924-9DA7494756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9156" y="4571492"/>
            <a:ext cx="1493794" cy="1476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9964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err="1">
                <a:latin typeface="Tenorite" panose="00000500000000000000" pitchFamily="2" charset="0"/>
              </a:rPr>
              <a:t>Assumptions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210150" y="2718847"/>
            <a:ext cx="5443227" cy="3110364"/>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The essence of culture is located at the level of basic assumptions which reflect how members of a culture </a:t>
            </a:r>
            <a:r>
              <a:rPr lang="en-US" sz="2300" b="1" dirty="0">
                <a:solidFill>
                  <a:srgbClr val="663300"/>
                </a:solidFill>
                <a:latin typeface="Tenorite" panose="00000500000000000000" pitchFamily="2" charset="0"/>
              </a:rPr>
              <a:t>experience reality</a:t>
            </a:r>
            <a:r>
              <a:rPr lang="en-US" sz="2300" dirty="0">
                <a:solidFill>
                  <a:srgbClr val="663300"/>
                </a:solidFill>
                <a:latin typeface="Tenorite" panose="00000500000000000000" pitchFamily="2" charset="0"/>
              </a:rPr>
              <a:t>, how they </a:t>
            </a:r>
            <a:r>
              <a:rPr lang="en-US" sz="2300" b="1" dirty="0">
                <a:solidFill>
                  <a:srgbClr val="663300"/>
                </a:solidFill>
                <a:latin typeface="Tenorite" panose="00000500000000000000" pitchFamily="2" charset="0"/>
              </a:rPr>
              <a:t>perceive the physical and social world</a:t>
            </a:r>
            <a:r>
              <a:rPr lang="en-US" sz="2300" dirty="0">
                <a:solidFill>
                  <a:srgbClr val="663300"/>
                </a:solidFill>
                <a:latin typeface="Tenorite" panose="00000500000000000000" pitchFamily="2" charset="0"/>
              </a:rPr>
              <a:t>, and how they </a:t>
            </a:r>
            <a:r>
              <a:rPr lang="en-US" sz="2300" b="1" dirty="0">
                <a:solidFill>
                  <a:srgbClr val="663300"/>
                </a:solidFill>
                <a:latin typeface="Tenorite" panose="00000500000000000000" pitchFamily="2" charset="0"/>
              </a:rPr>
              <a:t>think and feel</a:t>
            </a:r>
            <a:r>
              <a:rPr lang="en-US" sz="2300" dirty="0">
                <a:solidFill>
                  <a:srgbClr val="663300"/>
                </a:solidFill>
                <a:latin typeface="Tenorite" panose="00000500000000000000" pitchFamily="2" charset="0"/>
              </a:rPr>
              <a:t>.</a:t>
            </a:r>
          </a:p>
          <a:p>
            <a:pPr marL="457200" indent="-457200" algn="just">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These assumptions are taken for granted, and are rarely questioned.</a:t>
            </a:r>
          </a:p>
          <a:p>
            <a:pPr marL="457200" indent="-457200" algn="just" rtl="0">
              <a:lnSpc>
                <a:spcPct val="100000"/>
              </a:lnSpc>
              <a:buClr>
                <a:srgbClr val="663300"/>
              </a:buClr>
              <a:buFont typeface="Arial" panose="020B0604020202020204" pitchFamily="34" charset="0"/>
              <a:buChar char="•"/>
            </a:pPr>
            <a:endParaRPr lang="en-US" sz="23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300" dirty="0">
              <a:solidFill>
                <a:srgbClr val="663300"/>
              </a:solidFill>
              <a:latin typeface="Tenorite" panose="00000500000000000000" pitchFamily="2" charset="0"/>
            </a:endParaRPr>
          </a:p>
        </p:txBody>
      </p:sp>
      <p:pic>
        <p:nvPicPr>
          <p:cNvPr id="7" name="Picture 2" descr="Znalezione obrazy dla zapytania assumptions">
            <a:extLst>
              <a:ext uri="{FF2B5EF4-FFF2-40B4-BE49-F238E27FC236}">
                <a16:creationId xmlns:a16="http://schemas.microsoft.com/office/drawing/2014/main" id="{BF0AAD9E-DC8D-7B56-90F1-44CE4B77B64C}"/>
              </a:ext>
            </a:extLst>
          </p:cNvPr>
          <p:cNvPicPr>
            <a:picLocks noChangeAspect="1" noChangeArrowheads="1"/>
          </p:cNvPicPr>
          <p:nvPr/>
        </p:nvPicPr>
        <p:blipFill>
          <a:blip r:embed="rId3"/>
          <a:srcRect/>
          <a:stretch>
            <a:fillRect/>
          </a:stretch>
        </p:blipFill>
        <p:spPr bwMode="auto">
          <a:xfrm>
            <a:off x="7697520" y="3072642"/>
            <a:ext cx="3165355" cy="240277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665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a:t>
            </a:r>
            <a:r>
              <a:rPr lang="en-US" sz="5000" dirty="0">
                <a:latin typeface="Tenorite" panose="00000500000000000000" pitchFamily="2" charset="0"/>
              </a:rPr>
              <a:t>2</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
        <p:nvSpPr>
          <p:cNvPr id="21" name="Prostokąt 20">
            <a:extLst>
              <a:ext uri="{FF2B5EF4-FFF2-40B4-BE49-F238E27FC236}">
                <a16:creationId xmlns:a16="http://schemas.microsoft.com/office/drawing/2014/main" id="{93426C12-1D25-3197-68B7-488BD7E349DC}"/>
              </a:ext>
            </a:extLst>
          </p:cNvPr>
          <p:cNvSpPr/>
          <p:nvPr/>
        </p:nvSpPr>
        <p:spPr>
          <a:xfrm>
            <a:off x="3020445" y="2701765"/>
            <a:ext cx="6151102" cy="400110"/>
          </a:xfrm>
          <a:prstGeom prst="rect">
            <a:avLst/>
          </a:prstGeom>
          <a:solidFill>
            <a:srgbClr val="663300"/>
          </a:solidFill>
        </p:spPr>
        <p:txBody>
          <a:bodyPr wrap="square">
            <a:spAutoFit/>
          </a:bodyPr>
          <a:lstStyle/>
          <a:p>
            <a:pPr algn="ctr">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Organizational culture at Google</a:t>
            </a:r>
          </a:p>
        </p:txBody>
      </p:sp>
      <p:pic>
        <p:nvPicPr>
          <p:cNvPr id="3" name="Picture 2" descr="Znalezione obrazy dla zapytania google organizational culture">
            <a:extLst>
              <a:ext uri="{FF2B5EF4-FFF2-40B4-BE49-F238E27FC236}">
                <a16:creationId xmlns:a16="http://schemas.microsoft.com/office/drawing/2014/main" id="{048D1221-3992-DFDF-FA3C-A7C2E722F533}"/>
              </a:ext>
            </a:extLst>
          </p:cNvPr>
          <p:cNvPicPr>
            <a:picLocks noChangeAspect="1" noChangeArrowheads="1"/>
          </p:cNvPicPr>
          <p:nvPr/>
        </p:nvPicPr>
        <p:blipFill>
          <a:blip r:embed="rId3"/>
          <a:srcRect/>
          <a:stretch>
            <a:fillRect/>
          </a:stretch>
        </p:blipFill>
        <p:spPr bwMode="auto">
          <a:xfrm>
            <a:off x="3713953" y="3306466"/>
            <a:ext cx="4764087" cy="27575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Prostokąt 3">
            <a:extLst>
              <a:ext uri="{FF2B5EF4-FFF2-40B4-BE49-F238E27FC236}">
                <a16:creationId xmlns:a16="http://schemas.microsoft.com/office/drawing/2014/main" id="{91375F5E-8149-8344-0F03-AFE42E7A9BE5}"/>
              </a:ext>
            </a:extLst>
          </p:cNvPr>
          <p:cNvSpPr>
            <a:spLocks noChangeArrowheads="1"/>
          </p:cNvSpPr>
          <p:nvPr/>
        </p:nvSpPr>
        <p:spPr bwMode="auto">
          <a:xfrm>
            <a:off x="3001643" y="6073059"/>
            <a:ext cx="6189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400" dirty="0">
                <a:latin typeface="Tenorite" panose="00000500000000000000" pitchFamily="2" charset="0"/>
              </a:rPr>
              <a:t>https://www.youtube.com/watch?v=Z-pT0XDYvDM</a:t>
            </a:r>
            <a:endParaRPr lang="pl-PL" altLang="pl-PL" sz="1400" u="none" dirty="0">
              <a:latin typeface="Tenorite" panose="00000500000000000000" pitchFamily="2" charset="0"/>
            </a:endParaRPr>
          </a:p>
        </p:txBody>
      </p:sp>
    </p:spTree>
    <p:extLst>
      <p:ext uri="{BB962C8B-B14F-4D97-AF65-F5344CB8AC3E}">
        <p14:creationId xmlns:p14="http://schemas.microsoft.com/office/powerpoint/2010/main" val="2113092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1928548" y="118513"/>
            <a:ext cx="8334904" cy="1477256"/>
          </a:xfrm>
        </p:spPr>
        <p:txBody>
          <a:bodyPr wrap="square" rtlCol="0" anchor="b">
            <a:normAutofit fontScale="90000"/>
          </a:bodyPr>
          <a:lstStyle/>
          <a:p>
            <a:pPr rtl="0"/>
            <a:r>
              <a:rPr lang="en-US" sz="5000" dirty="0">
                <a:latin typeface="Tenorite" panose="00000500000000000000" pitchFamily="2" charset="0"/>
              </a:rPr>
              <a:t>Cultural profiles based on Competing Values Framework</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pic>
        <p:nvPicPr>
          <p:cNvPr id="8" name="Picture 2">
            <a:extLst>
              <a:ext uri="{FF2B5EF4-FFF2-40B4-BE49-F238E27FC236}">
                <a16:creationId xmlns:a16="http://schemas.microsoft.com/office/drawing/2014/main" id="{253F3F1A-1D75-435A-3A7A-174ADCA4D5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95953" y="1747297"/>
            <a:ext cx="8200094" cy="4457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839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a:latin typeface="Tenorite" panose="00000500000000000000" pitchFamily="2" charset="0"/>
              </a:rPr>
              <a:t>Clan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775720" y="2616669"/>
            <a:ext cx="8640560" cy="3431206"/>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Clan culture identic with family type organization. </a:t>
            </a:r>
          </a:p>
          <a:p>
            <a:pPr marL="457200" indent="-457200" algn="just">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basic assumption of Clan culture is that the best environment can be managed through team cooperation and employee empowerment, and customers is considered as partner. </a:t>
            </a:r>
          </a:p>
          <a:p>
            <a:pPr marL="457200" indent="-457200" algn="just">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Organization that intend to have Clan Culture tries to develop working environment that is humane with the main duty of management is to empower employee and facilitate their participation, commitment, and loyalty. Leader is considered as mentor and can be treated as parent figures. This organization is operating with </a:t>
            </a:r>
            <a:r>
              <a:rPr lang="en-US" sz="2000" b="1" dirty="0">
                <a:solidFill>
                  <a:srgbClr val="663300"/>
                </a:solidFill>
                <a:latin typeface="Tenorite" panose="00000500000000000000" pitchFamily="2" charset="0"/>
              </a:rPr>
              <a:t>loyalty</a:t>
            </a:r>
            <a:r>
              <a:rPr lang="en-US" sz="2000" dirty="0">
                <a:solidFill>
                  <a:srgbClr val="663300"/>
                </a:solidFill>
                <a:latin typeface="Tenorite" panose="00000500000000000000" pitchFamily="2" charset="0"/>
              </a:rPr>
              <a:t> and </a:t>
            </a:r>
            <a:r>
              <a:rPr lang="en-US" sz="2000" b="1" dirty="0">
                <a:solidFill>
                  <a:srgbClr val="663300"/>
                </a:solidFill>
                <a:latin typeface="Tenorite" panose="00000500000000000000" pitchFamily="2" charset="0"/>
              </a:rPr>
              <a:t>tradition</a:t>
            </a:r>
            <a:r>
              <a:rPr lang="en-US" sz="2000" dirty="0">
                <a:solidFill>
                  <a:srgbClr val="663300"/>
                </a:solidFill>
                <a:latin typeface="Tenorite" panose="00000500000000000000" pitchFamily="2" charset="0"/>
              </a:rPr>
              <a:t> as its base. </a:t>
            </a:r>
          </a:p>
        </p:txBody>
      </p:sp>
    </p:spTree>
    <p:extLst>
      <p:ext uri="{BB962C8B-B14F-4D97-AF65-F5344CB8AC3E}">
        <p14:creationId xmlns:p14="http://schemas.microsoft.com/office/powerpoint/2010/main" val="864358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err="1">
                <a:latin typeface="Tenorite" panose="00000500000000000000" pitchFamily="2" charset="0"/>
              </a:rPr>
              <a:t>Adhocracy</a:t>
            </a:r>
            <a:r>
              <a:rPr lang="pl-PL" sz="5000" dirty="0">
                <a:latin typeface="Tenorite" panose="00000500000000000000" pitchFamily="2" charset="0"/>
              </a:rPr>
              <a:t>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39549" y="2653246"/>
            <a:ext cx="7912902" cy="3511416"/>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Adhocracy Culture has assumption that innovation and initiative lead to success, so developing new products and services, encourage entrepreneurships, and creativity is the main priorities of company. Th</a:t>
            </a:r>
            <a:r>
              <a:rPr lang="pl-PL" sz="2200" dirty="0">
                <a:solidFill>
                  <a:srgbClr val="663300"/>
                </a:solidFill>
                <a:latin typeface="Tenorite" panose="00000500000000000000" pitchFamily="2" charset="0"/>
              </a:rPr>
              <a:t>i</a:t>
            </a:r>
            <a:r>
              <a:rPr lang="en-US" sz="2200" dirty="0">
                <a:solidFill>
                  <a:srgbClr val="663300"/>
                </a:solidFill>
                <a:latin typeface="Tenorite" panose="00000500000000000000" pitchFamily="2" charset="0"/>
              </a:rPr>
              <a:t>s culture doesn’t have centralized power or authority relationships.</a:t>
            </a:r>
          </a:p>
          <a:p>
            <a:pPr marL="457200" indent="-457200" algn="just">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An effective leader in this culture is a visionary, innovative and dare to take risk leader. The glue of organization is commitment to market </a:t>
            </a:r>
            <a:r>
              <a:rPr lang="en-US" sz="2200" b="1" dirty="0">
                <a:solidFill>
                  <a:srgbClr val="663300"/>
                </a:solidFill>
                <a:latin typeface="Tenorite" panose="00000500000000000000" pitchFamily="2" charset="0"/>
              </a:rPr>
              <a:t>experiments</a:t>
            </a:r>
            <a:r>
              <a:rPr lang="en-US" sz="2200" dirty="0">
                <a:solidFill>
                  <a:srgbClr val="663300"/>
                </a:solidFill>
                <a:latin typeface="Tenorite" panose="00000500000000000000" pitchFamily="2" charset="0"/>
              </a:rPr>
              <a:t> and </a:t>
            </a:r>
            <a:r>
              <a:rPr lang="en-US" sz="2200" b="1" dirty="0">
                <a:solidFill>
                  <a:srgbClr val="663300"/>
                </a:solidFill>
                <a:latin typeface="Tenorite" panose="00000500000000000000" pitchFamily="2" charset="0"/>
              </a:rPr>
              <a:t>innovation</a:t>
            </a:r>
            <a:r>
              <a:rPr lang="en-US" sz="2200" dirty="0">
                <a:solidFill>
                  <a:srgbClr val="663300"/>
                </a:solidFill>
                <a:latin typeface="Tenorite" panose="00000500000000000000" pitchFamily="2" charset="0"/>
              </a:rPr>
              <a:t>. </a:t>
            </a:r>
          </a:p>
        </p:txBody>
      </p:sp>
    </p:spTree>
    <p:extLst>
      <p:ext uri="{BB962C8B-B14F-4D97-AF65-F5344CB8AC3E}">
        <p14:creationId xmlns:p14="http://schemas.microsoft.com/office/powerpoint/2010/main" val="3211091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a:latin typeface="Tenorite" panose="00000500000000000000" pitchFamily="2" charset="0"/>
              </a:rPr>
              <a:t>Hierarchy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85753" y="2909919"/>
            <a:ext cx="7020493" cy="2768986"/>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Hierarchy culture is based on formal rules, procedures and stability. Its Value Drivers are: efficiency, punctuality, consistency and uniformity while Quality Strategies are focused on: </a:t>
            </a:r>
            <a:r>
              <a:rPr lang="en-US" sz="2400" b="1" dirty="0">
                <a:solidFill>
                  <a:srgbClr val="663300"/>
                </a:solidFill>
                <a:latin typeface="Tenorite" panose="00000500000000000000" pitchFamily="2" charset="0"/>
              </a:rPr>
              <a:t>error detection, measurement, process control, systematic problem solving and quality tools</a:t>
            </a:r>
            <a:r>
              <a:rPr lang="en-US" sz="2400" dirty="0">
                <a:solidFill>
                  <a:srgbClr val="663300"/>
                </a:solidFill>
                <a:latin typeface="Tenorite" panose="00000500000000000000" pitchFamily="2" charset="0"/>
              </a:rPr>
              <a:t>.</a:t>
            </a:r>
          </a:p>
        </p:txBody>
      </p:sp>
    </p:spTree>
    <p:extLst>
      <p:ext uri="{BB962C8B-B14F-4D97-AF65-F5344CB8AC3E}">
        <p14:creationId xmlns:p14="http://schemas.microsoft.com/office/powerpoint/2010/main" val="413004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a:bodyPr>
          <a:lstStyle/>
          <a:p>
            <a:r>
              <a:rPr lang="pl-PL" sz="5000" dirty="0">
                <a:latin typeface="Tenorite" panose="00000500000000000000" pitchFamily="2" charset="0"/>
              </a:rPr>
              <a:t>Market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85753" y="2781582"/>
            <a:ext cx="7020493" cy="3412372"/>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Market culture is result-oriented and the glue that holds the organization together is the emphasis on winning. While Value Drivers comprise market share, goal achievement and profitability, Quality Strategies are directed at </a:t>
            </a:r>
            <a:r>
              <a:rPr lang="en-US" sz="2400" b="1" dirty="0">
                <a:solidFill>
                  <a:srgbClr val="663300"/>
                </a:solidFill>
                <a:latin typeface="Tenorite" panose="00000500000000000000" pitchFamily="2" charset="0"/>
              </a:rPr>
              <a:t>measuring customer preferences, improving productivity, creating external partnerships, enhancing competitiveness and involving customers and suppliers</a:t>
            </a:r>
            <a:r>
              <a:rPr lang="en-US" sz="2400" dirty="0">
                <a:solidFill>
                  <a:srgbClr val="663300"/>
                </a:solidFill>
                <a:latin typeface="Tenorite" panose="00000500000000000000" pitchFamily="2" charset="0"/>
              </a:rPr>
              <a:t>.</a:t>
            </a:r>
          </a:p>
        </p:txBody>
      </p:sp>
    </p:spTree>
    <p:extLst>
      <p:ext uri="{BB962C8B-B14F-4D97-AF65-F5344CB8AC3E}">
        <p14:creationId xmlns:p14="http://schemas.microsoft.com/office/powerpoint/2010/main" val="830528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5416" y="535709"/>
            <a:ext cx="5761168" cy="1453003"/>
          </a:xfrm>
        </p:spPr>
        <p:txBody>
          <a:bodyPr wrap="square" rtlCol="0" anchor="b">
            <a:normAutofit fontScale="90000"/>
          </a:bodyPr>
          <a:lstStyle/>
          <a:p>
            <a:r>
              <a:rPr lang="pl-PL" sz="5000" dirty="0" err="1">
                <a:latin typeface="Tenorite" panose="00000500000000000000" pitchFamily="2" charset="0"/>
              </a:rPr>
              <a:t>Functions</a:t>
            </a:r>
            <a:r>
              <a:rPr lang="pl-PL" sz="5000" dirty="0">
                <a:latin typeface="Tenorite" panose="00000500000000000000" pitchFamily="2" charset="0"/>
              </a:rPr>
              <a:t> of </a:t>
            </a:r>
            <a:r>
              <a:rPr lang="pl-PL" sz="5000" dirty="0" err="1">
                <a:latin typeface="Tenorite" panose="00000500000000000000" pitchFamily="2" charset="0"/>
              </a:rPr>
              <a:t>organizational</a:t>
            </a:r>
            <a:r>
              <a:rPr lang="pl-PL" sz="5000" dirty="0">
                <a:latin typeface="Tenorite" panose="00000500000000000000" pitchFamily="2" charset="0"/>
              </a:rPr>
              <a:t> </a:t>
            </a:r>
            <a:r>
              <a:rPr lang="pl-PL" sz="5000" dirty="0" err="1">
                <a:latin typeface="Tenorite" panose="00000500000000000000" pitchFamily="2" charset="0"/>
              </a:rPr>
              <a:t>culture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85753" y="2781582"/>
            <a:ext cx="7020493" cy="3412372"/>
          </a:xfrm>
        </p:spPr>
        <p:txBody>
          <a:bodyPr rtlCol="0">
            <a:noAutofit/>
          </a:bodyPr>
          <a:lstStyle/>
          <a:p>
            <a:pPr marL="457200" indent="-457200" algn="just">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(1) Corporate is deeply embedded form of social control.</a:t>
            </a:r>
          </a:p>
          <a:p>
            <a:pPr marL="457200" indent="-457200" algn="just">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(2) „Social glue” that bonds people together and make them feel part of organizational experience.</a:t>
            </a:r>
          </a:p>
          <a:p>
            <a:pPr marL="457200" indent="-457200" algn="just">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(3) Corporate culture helps employees make sense of the workplace.</a:t>
            </a:r>
          </a:p>
        </p:txBody>
      </p:sp>
    </p:spTree>
    <p:extLst>
      <p:ext uri="{BB962C8B-B14F-4D97-AF65-F5344CB8AC3E}">
        <p14:creationId xmlns:p14="http://schemas.microsoft.com/office/powerpoint/2010/main" val="1928123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481755" y="2749209"/>
            <a:ext cx="7228488" cy="3489579"/>
          </a:xfrm>
        </p:spPr>
        <p:txBody>
          <a:bodyPr rtlCol="0">
            <a:noAutofit/>
          </a:bodyPr>
          <a:lstStyle/>
          <a:p>
            <a:pPr marL="457200" marR="0" lvl="0" indent="-457200" algn="just" defTabSz="914400" rtl="0" eaLnBrk="0" fontAlgn="base" latinLnBrk="0" hangingPunct="0">
              <a:lnSpc>
                <a:spcPct val="100000"/>
              </a:lnSpc>
              <a:spcBef>
                <a:spcPts val="0"/>
              </a:spcBef>
              <a:spcAft>
                <a:spcPts val="1800"/>
              </a:spcAft>
              <a:buClrTx/>
              <a:buSzTx/>
              <a:buFontTx/>
              <a:buAutoNum type="arabicPeriod"/>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Schein used the metaphor of a(n) … to illustrate organizational culture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de-DE"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onion</a:t>
            </a:r>
            <a:endParaRPr kumimoji="0" lang="de-DE"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de-DE"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iceberg</a:t>
            </a:r>
            <a:endParaRPr kumimoji="0" lang="de-DE"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de-DE"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spider</a:t>
            </a:r>
            <a:r>
              <a:rPr kumimoji="0" lang="de-DE"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web</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de-DE"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ladder</a:t>
            </a:r>
            <a:endParaRPr kumimoji="0" lang="de-DE"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0" i="0" u="sng"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840442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6019" y="2575175"/>
            <a:ext cx="6079959" cy="3264152"/>
          </a:xfrm>
        </p:spPr>
        <p:txBody>
          <a:bodyPr rtlCol="0">
            <a:noAutofit/>
          </a:bodyPr>
          <a:lstStyle/>
          <a:p>
            <a:pPr marL="0" marR="0" lvl="0" indent="0" algn="l" defTabSz="914400" rtl="0" eaLnBrk="0" fontAlgn="base" latinLnBrk="0" hangingPunct="0">
              <a:lnSpc>
                <a:spcPct val="100000"/>
              </a:lnSpc>
              <a:spcBef>
                <a:spcPct val="0"/>
              </a:spcBef>
              <a:spcAft>
                <a:spcPts val="1800"/>
              </a:spcAft>
              <a:buClrTx/>
              <a:buSzTx/>
              <a:buFontTx/>
              <a:buNone/>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2</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organization is the logo?</a:t>
            </a:r>
            <a:endPar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WHO</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WTO</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UNICEF</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UNESCO</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27</a:t>
            </a:fld>
            <a:endParaRPr lang="pl-PL" sz="1100" noProof="0" dirty="0">
              <a:latin typeface="Tenorite" panose="00000500000000000000" pitchFamily="2" charset="0"/>
            </a:endParaRPr>
          </a:p>
        </p:txBody>
      </p:sp>
      <p:pic>
        <p:nvPicPr>
          <p:cNvPr id="7" name="Picture 3" descr="Znalezione obrazy dla zapytania who logo">
            <a:extLst>
              <a:ext uri="{FF2B5EF4-FFF2-40B4-BE49-F238E27FC236}">
                <a16:creationId xmlns:a16="http://schemas.microsoft.com/office/drawing/2014/main" id="{11201EC2-B2A1-151C-8E94-AECDC1DF8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7534" y="3152650"/>
            <a:ext cx="2990154" cy="291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5011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64270" y="2621304"/>
            <a:ext cx="7063457" cy="3607528"/>
          </a:xfrm>
        </p:spPr>
        <p:txBody>
          <a:bodyPr rtlCol="0">
            <a:noAutofit/>
          </a:bodyPr>
          <a:lstStyle/>
          <a:p>
            <a:pPr marL="0" marR="0" lvl="0" indent="0" algn="l" defTabSz="914400" rtl="0" eaLnBrk="0" fontAlgn="base" latinLnBrk="0" hangingPunct="0">
              <a:lnSpc>
                <a:spcPct val="100000"/>
              </a:lnSpc>
              <a:spcBef>
                <a:spcPct val="0"/>
              </a:spcBef>
              <a:spcAft>
                <a:spcPts val="1800"/>
              </a:spcAft>
              <a:buClrTx/>
              <a:buSzTx/>
              <a:buFontTx/>
              <a:buNone/>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3</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is the initial source of an organization's culture?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founder of the organization</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environment in which the organization operates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top manager of the organization</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country in which the organization operates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141666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21305" y="2725072"/>
            <a:ext cx="8149388" cy="3468018"/>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4.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is NOT true about Google's organizational culture?</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There is minimal upper and middle-level management</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There is a strong focus on innovation</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Employees can make mistakes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Deci</a:t>
            </a:r>
            <a:r>
              <a:rPr kumimoji="0" lang="pl-PL"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si</a:t>
            </a:r>
            <a:r>
              <a:rPr kumimoji="0" lang="en-US"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ons</a:t>
            </a: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are made by the senior person in charge and then implemented down</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034665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r>
              <a:rPr lang="pl-PL" sz="5000" dirty="0">
                <a:latin typeface="Tenorite" panose="00000500000000000000" pitchFamily="2" charset="0"/>
              </a:rPr>
              <a:t> - </a:t>
            </a:r>
            <a:r>
              <a:rPr lang="pl-PL" sz="5000" dirty="0" err="1">
                <a:latin typeface="Tenorite" panose="00000500000000000000" pitchFamily="2" charset="0"/>
              </a:rPr>
              <a:t>Answers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5549068" y="2968101"/>
            <a:ext cx="1093862" cy="2971226"/>
          </a:xfrm>
        </p:spPr>
        <p:txBody>
          <a:bodyPr rtlCol="0">
            <a:noAutofit/>
          </a:bodyPr>
          <a:lstStyle/>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kumimoji="0" lang="pl-PL" sz="2400" b="1"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rPr>
              <a:t>B.</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A.</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A.</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D.</a:t>
            </a:r>
          </a:p>
          <a:p>
            <a:pPr marR="0" lvl="0" algn="just" defTabSz="914400" rtl="0" eaLnBrk="0" fontAlgn="base" latinLnBrk="0" hangingPunct="0">
              <a:lnSpc>
                <a:spcPct val="100000"/>
              </a:lnSpc>
              <a:spcBef>
                <a:spcPct val="0"/>
              </a:spcBef>
              <a:spcAft>
                <a:spcPts val="1800"/>
              </a:spcAft>
              <a:buClrTx/>
              <a:buSzTx/>
              <a:tabLst/>
              <a:defRPr/>
            </a:pPr>
            <a:endParaRPr lang="pl-PL" sz="2400" b="1"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kumimoji="0" lang="en-US" sz="1800" b="0"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448665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Organizational</a:t>
            </a:r>
            <a:r>
              <a:rPr lang="pl-PL" sz="1100" dirty="0">
                <a:solidFill>
                  <a:srgbClr val="5E5441"/>
                </a:solidFill>
                <a:latin typeface="Tenorite" panose="00000500000000000000" pitchFamily="2" charset="0"/>
              </a:rPr>
              <a:t> </a:t>
            </a:r>
            <a:r>
              <a:rPr lang="pl-PL" sz="1100" dirty="0" err="1">
                <a:solidFill>
                  <a:srgbClr val="5E5441"/>
                </a:solidFill>
                <a:latin typeface="Tenorite" panose="00000500000000000000" pitchFamily="2" charset="0"/>
              </a:rPr>
              <a:t>culture</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31</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3" ma:contentTypeDescription="Utwórz nowy dokument." ma:contentTypeScope="" ma:versionID="e00e7412ea5873290917f06a5fff196f">
  <xsd:schema xmlns:xsd="http://www.w3.org/2001/XMLSchema" xmlns:xs="http://www.w3.org/2001/XMLSchema" xmlns:p="http://schemas.microsoft.com/office/2006/metadata/properties" xmlns:ns2="74d0b6ec-ebf6-45c9-ba31-30d50b17e98f" targetNamespace="http://schemas.microsoft.com/office/2006/metadata/properties" ma:root="true" ma:fieldsID="9c279d9016946203f364bf7be78e8d52" ns2:_="">
    <xsd:import namespace="74d0b6ec-ebf6-45c9-ba31-30d50b17e9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b6ec-ebf6-45c9-ba31-30d50b17e9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1309999-888E-44BA-A188-888AF21B1F1C}">
  <ds:schemaRefs>
    <ds:schemaRef ds:uri="http://schemas.microsoft.com/sharepoint/v3/contenttype/forms"/>
  </ds:schemaRefs>
</ds:datastoreItem>
</file>

<file path=customXml/itemProps3.xml><?xml version="1.0" encoding="utf-8"?>
<ds:datastoreItem xmlns:ds="http://schemas.openxmlformats.org/officeDocument/2006/customXml" ds:itemID="{1576C7E5-D27E-4522-BC8E-3AA4B277F25D}"/>
</file>

<file path=docProps/app.xml><?xml version="1.0" encoding="utf-8"?>
<Properties xmlns="http://schemas.openxmlformats.org/officeDocument/2006/extended-properties" xmlns:vt="http://schemas.openxmlformats.org/officeDocument/2006/docPropsVTypes">
  <Template>Projekt Mroźny</Template>
  <TotalTime>2081</TotalTime>
  <Words>1456</Words>
  <Application>Microsoft Office PowerPoint</Application>
  <PresentationFormat>Widescreen</PresentationFormat>
  <Paragraphs>312</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Tenorite</vt:lpstr>
      <vt:lpstr>Arial</vt:lpstr>
      <vt:lpstr>Calibri</vt:lpstr>
      <vt:lpstr>Tahoma</vt:lpstr>
      <vt:lpstr>Times New Roman</vt:lpstr>
      <vt:lpstr>Wingdings</vt:lpstr>
      <vt:lpstr>FrostyVTI</vt:lpstr>
      <vt:lpstr>Introduction  to management</vt:lpstr>
      <vt:lpstr>PowerPoint Presentation</vt:lpstr>
      <vt:lpstr>Defining organizational culture</vt:lpstr>
      <vt:lpstr>Levels and dimensions of organizational culture</vt:lpstr>
      <vt:lpstr>PowerPoint Presentation</vt:lpstr>
      <vt:lpstr>Levels and dimensions of organizational culture</vt:lpstr>
      <vt:lpstr>Artifacts</vt:lpstr>
      <vt:lpstr>Organizational language</vt:lpstr>
      <vt:lpstr>Organizational language</vt:lpstr>
      <vt:lpstr>Organizational language</vt:lpstr>
      <vt:lpstr>Organizational rituals and ceremonies</vt:lpstr>
      <vt:lpstr>Exercise 1 - symbols</vt:lpstr>
      <vt:lpstr>Exercise 1 - symbols</vt:lpstr>
      <vt:lpstr>PowerPoint Presentation</vt:lpstr>
      <vt:lpstr>Values</vt:lpstr>
      <vt:lpstr>PowerPoint Presentation</vt:lpstr>
      <vt:lpstr>Organizational language</vt:lpstr>
      <vt:lpstr>Assumptions</vt:lpstr>
      <vt:lpstr>Exercise 2</vt:lpstr>
      <vt:lpstr>Cultural profiles based on Competing Values Framework</vt:lpstr>
      <vt:lpstr>Clan culture</vt:lpstr>
      <vt:lpstr>Adhocracy culture</vt:lpstr>
      <vt:lpstr>Hierarchy culture</vt:lpstr>
      <vt:lpstr>Market culture</vt:lpstr>
      <vt:lpstr>Functions of organizational culture</vt:lpstr>
      <vt:lpstr>Test</vt:lpstr>
      <vt:lpstr>Test</vt:lpstr>
      <vt:lpstr>Test</vt:lpstr>
      <vt:lpstr>Test</vt:lpstr>
      <vt:lpstr>Test - Answers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Glaszczka</cp:lastModifiedBy>
  <cp:revision>50</cp:revision>
  <dcterms:created xsi:type="dcterms:W3CDTF">2022-09-23T12:53:53Z</dcterms:created>
  <dcterms:modified xsi:type="dcterms:W3CDTF">2025-10-18T15:52:27Z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