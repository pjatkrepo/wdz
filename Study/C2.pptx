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37"/>
  </p:notesMasterIdLst>
  <p:handoutMasterIdLst>
    <p:handoutMasterId r:id="rId38"/>
  </p:handoutMasterIdLst>
  <p:sldIdLst>
    <p:sldId id="256" r:id="rId5"/>
    <p:sldId id="308" r:id="rId6"/>
    <p:sldId id="317" r:id="rId7"/>
    <p:sldId id="310" r:id="rId8"/>
    <p:sldId id="334" r:id="rId9"/>
    <p:sldId id="335" r:id="rId10"/>
    <p:sldId id="345" r:id="rId11"/>
    <p:sldId id="336" r:id="rId12"/>
    <p:sldId id="337" r:id="rId13"/>
    <p:sldId id="338" r:id="rId14"/>
    <p:sldId id="339" r:id="rId15"/>
    <p:sldId id="340" r:id="rId16"/>
    <p:sldId id="341" r:id="rId17"/>
    <p:sldId id="342" r:id="rId18"/>
    <p:sldId id="343" r:id="rId19"/>
    <p:sldId id="344"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6" r:id="rId35"/>
    <p:sldId id="268" r:id="rId36"/>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9" autoAdjust="0"/>
    <p:restoredTop sz="95934"/>
  </p:normalViewPr>
  <p:slideViewPr>
    <p:cSldViewPr snapToGrid="0">
      <p:cViewPr varScale="1">
        <p:scale>
          <a:sx n="111" d="100"/>
          <a:sy n="111" d="100"/>
        </p:scale>
        <p:origin x="594" y="96"/>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9.10.2025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9.10.2025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2636286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3757516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874476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1248197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1925173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3042296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1709904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35431869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2877594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6240869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2693113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2022279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2500054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1942303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3686760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3244094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550207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886576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496690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983203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22</a:t>
            </a:fld>
            <a:endParaRPr lang="pl-PL"/>
          </a:p>
        </p:txBody>
      </p:sp>
    </p:spTree>
    <p:extLst>
      <p:ext uri="{BB962C8B-B14F-4D97-AF65-F5344CB8AC3E}">
        <p14:creationId xmlns:p14="http://schemas.microsoft.com/office/powerpoint/2010/main" val="14778207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23</a:t>
            </a:fld>
            <a:endParaRPr lang="pl-PL"/>
          </a:p>
        </p:txBody>
      </p:sp>
    </p:spTree>
    <p:extLst>
      <p:ext uri="{BB962C8B-B14F-4D97-AF65-F5344CB8AC3E}">
        <p14:creationId xmlns:p14="http://schemas.microsoft.com/office/powerpoint/2010/main" val="12999154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24</a:t>
            </a:fld>
            <a:endParaRPr lang="pl-PL"/>
          </a:p>
        </p:txBody>
      </p:sp>
    </p:spTree>
    <p:extLst>
      <p:ext uri="{BB962C8B-B14F-4D97-AF65-F5344CB8AC3E}">
        <p14:creationId xmlns:p14="http://schemas.microsoft.com/office/powerpoint/2010/main" val="22523740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25</a:t>
            </a:fld>
            <a:endParaRPr lang="pl-PL"/>
          </a:p>
        </p:txBody>
      </p:sp>
    </p:spTree>
    <p:extLst>
      <p:ext uri="{BB962C8B-B14F-4D97-AF65-F5344CB8AC3E}">
        <p14:creationId xmlns:p14="http://schemas.microsoft.com/office/powerpoint/2010/main" val="516419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26</a:t>
            </a:fld>
            <a:endParaRPr lang="pl-PL"/>
          </a:p>
        </p:txBody>
      </p:sp>
    </p:spTree>
    <p:extLst>
      <p:ext uri="{BB962C8B-B14F-4D97-AF65-F5344CB8AC3E}">
        <p14:creationId xmlns:p14="http://schemas.microsoft.com/office/powerpoint/2010/main" val="33888302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27</a:t>
            </a:fld>
            <a:endParaRPr lang="pl-PL"/>
          </a:p>
        </p:txBody>
      </p:sp>
    </p:spTree>
    <p:extLst>
      <p:ext uri="{BB962C8B-B14F-4D97-AF65-F5344CB8AC3E}">
        <p14:creationId xmlns:p14="http://schemas.microsoft.com/office/powerpoint/2010/main" val="33290237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28</a:t>
            </a:fld>
            <a:endParaRPr lang="pl-PL"/>
          </a:p>
        </p:txBody>
      </p:sp>
    </p:spTree>
    <p:extLst>
      <p:ext uri="{BB962C8B-B14F-4D97-AF65-F5344CB8AC3E}">
        <p14:creationId xmlns:p14="http://schemas.microsoft.com/office/powerpoint/2010/main" val="2606040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29</a:t>
            </a:fld>
            <a:endParaRPr lang="pl-PL"/>
          </a:p>
        </p:txBody>
      </p:sp>
    </p:spTree>
    <p:extLst>
      <p:ext uri="{BB962C8B-B14F-4D97-AF65-F5344CB8AC3E}">
        <p14:creationId xmlns:p14="http://schemas.microsoft.com/office/powerpoint/2010/main" val="738289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30</a:t>
            </a:fld>
            <a:endParaRPr lang="pl-PL"/>
          </a:p>
        </p:txBody>
      </p:sp>
    </p:spTree>
    <p:extLst>
      <p:ext uri="{BB962C8B-B14F-4D97-AF65-F5344CB8AC3E}">
        <p14:creationId xmlns:p14="http://schemas.microsoft.com/office/powerpoint/2010/main" val="202847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31</a:t>
            </a:fld>
            <a:endParaRPr lang="pl-PL"/>
          </a:p>
        </p:txBody>
      </p:sp>
    </p:spTree>
    <p:extLst>
      <p:ext uri="{BB962C8B-B14F-4D97-AF65-F5344CB8AC3E}">
        <p14:creationId xmlns:p14="http://schemas.microsoft.com/office/powerpoint/2010/main" val="14694624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32</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6.jpe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fontScale="85000" lnSpcReduction="20000"/>
          </a:bodyPr>
          <a:lstStyle/>
          <a:p>
            <a:pPr rtl="0"/>
            <a:r>
              <a:rPr lang="pl-PL" sz="2800" dirty="0">
                <a:solidFill>
                  <a:srgbClr val="663300"/>
                </a:solidFill>
                <a:latin typeface="Tenorite" panose="00000500000000000000" pitchFamily="2" charset="0"/>
                <a:cs typeface="Calibri"/>
              </a:rPr>
              <a:t>Class no. 2</a:t>
            </a:r>
          </a:p>
          <a:p>
            <a:pPr rtl="0"/>
            <a:r>
              <a:rPr lang="pl-PL" sz="2800" dirty="0">
                <a:solidFill>
                  <a:srgbClr val="663300"/>
                </a:solidFill>
                <a:latin typeface="Tenorite" panose="00000500000000000000" pitchFamily="2" charset="0"/>
              </a:rPr>
              <a:t>Schools of Management </a:t>
            </a:r>
            <a:r>
              <a:rPr lang="pl-PL" sz="2800" dirty="0" err="1">
                <a:solidFill>
                  <a:srgbClr val="663300"/>
                </a:solidFill>
                <a:latin typeface="Tenorite" panose="00000500000000000000" pitchFamily="2" charset="0"/>
              </a:rPr>
              <a:t>Thought</a:t>
            </a:r>
            <a:endParaRPr lang="pl-PL" sz="28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4056600" y="536573"/>
            <a:ext cx="4078800" cy="1453003"/>
          </a:xfrm>
        </p:spPr>
        <p:txBody>
          <a:bodyPr wrap="square" rtlCol="0" anchor="b">
            <a:normAutofit/>
          </a:bodyPr>
          <a:lstStyle/>
          <a:p>
            <a:pPr rtl="0"/>
            <a:r>
              <a:rPr lang="pl-PL" sz="5000" dirty="0" err="1">
                <a:latin typeface="Tenorite" panose="00000500000000000000" pitchFamily="2" charset="0"/>
              </a:rPr>
              <a:t>Introduction</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330075" y="2679032"/>
            <a:ext cx="7228488"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history of management can be traced back to 5000 B.C. when the agriculture revolution was at the initial stage</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In Egypt, in 2900 B.C., the pyramids were built in a highly </a:t>
            </a:r>
            <a:r>
              <a:rPr lang="en-US" sz="2000" dirty="0" err="1">
                <a:solidFill>
                  <a:srgbClr val="663300"/>
                </a:solidFill>
                <a:latin typeface="Tenorite" panose="00000500000000000000" pitchFamily="2" charset="0"/>
              </a:rPr>
              <a:t>organised</a:t>
            </a:r>
            <a:r>
              <a:rPr lang="en-US" sz="2000" dirty="0">
                <a:solidFill>
                  <a:srgbClr val="663300"/>
                </a:solidFill>
                <a:latin typeface="Tenorite" panose="00000500000000000000" pitchFamily="2" charset="0"/>
              </a:rPr>
              <a:t> and coordinated manner</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Management skills can also be found in the suave cities of </a:t>
            </a:r>
            <a:r>
              <a:rPr lang="en-US" sz="2000" dirty="0" err="1">
                <a:solidFill>
                  <a:srgbClr val="663300"/>
                </a:solidFill>
                <a:latin typeface="Tenorite" panose="00000500000000000000" pitchFamily="2" charset="0"/>
              </a:rPr>
              <a:t>Mohanjo-Daro</a:t>
            </a:r>
            <a:r>
              <a:rPr lang="en-US" sz="2000" dirty="0">
                <a:solidFill>
                  <a:srgbClr val="663300"/>
                </a:solidFill>
                <a:latin typeface="Tenorite" panose="00000500000000000000" pitchFamily="2" charset="0"/>
              </a:rPr>
              <a:t> in Pakistan</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Great example of management was shown in the </a:t>
            </a:r>
            <a:r>
              <a:rPr lang="en-US" sz="2000" dirty="0" err="1">
                <a:solidFill>
                  <a:srgbClr val="663300"/>
                </a:solidFill>
                <a:latin typeface="Tenorite" panose="00000500000000000000" pitchFamily="2" charset="0"/>
              </a:rPr>
              <a:t>organised</a:t>
            </a:r>
            <a:r>
              <a:rPr lang="en-US" sz="2000" dirty="0">
                <a:solidFill>
                  <a:srgbClr val="663300"/>
                </a:solidFill>
                <a:latin typeface="Tenorite" panose="00000500000000000000" pitchFamily="2" charset="0"/>
              </a:rPr>
              <a:t> military of Alexander the Great and Sun Tzu</a:t>
            </a:r>
          </a:p>
          <a:p>
            <a:pPr algn="l" rtl="0">
              <a:buClr>
                <a:srgbClr val="663300"/>
              </a:buClr>
            </a:pP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a:latin typeface="Tenorite" panose="00000500000000000000" pitchFamily="2" charset="0"/>
              </a:rPr>
              <a:t>Schools of Management </a:t>
            </a:r>
            <a:r>
              <a:rPr lang="pl-PL" sz="1100" dirty="0" err="1">
                <a:latin typeface="Tenorite" panose="00000500000000000000" pitchFamily="2" charset="0"/>
              </a:rPr>
              <a:t>Thought</a:t>
            </a:r>
            <a:endParaRPr lang="pl-PL" sz="110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pic>
        <p:nvPicPr>
          <p:cNvPr id="7" name="Picture 20" descr="Znalezione obrazy dla zapytania pyramids">
            <a:extLst>
              <a:ext uri="{FF2B5EF4-FFF2-40B4-BE49-F238E27FC236}">
                <a16:creationId xmlns:a16="http://schemas.microsoft.com/office/drawing/2014/main" id="{AB863557-7BFA-A421-EED1-00C1F7929953}"/>
              </a:ext>
            </a:extLst>
          </p:cNvPr>
          <p:cNvPicPr>
            <a:picLocks noChangeAspect="1" noChangeArrowheads="1"/>
          </p:cNvPicPr>
          <p:nvPr/>
        </p:nvPicPr>
        <p:blipFill>
          <a:blip r:embed="rId3"/>
          <a:srcRect/>
          <a:stretch>
            <a:fillRect/>
          </a:stretch>
        </p:blipFill>
        <p:spPr bwMode="auto">
          <a:xfrm>
            <a:off x="8851534" y="3429000"/>
            <a:ext cx="2671567" cy="18438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515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Exercise </a:t>
            </a:r>
            <a:r>
              <a:rPr lang="pl-PL" sz="5000" dirty="0">
                <a:latin typeface="Tenorite" panose="00000500000000000000" pitchFamily="2" charset="0"/>
              </a:rPr>
              <a:t>1</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390272" y="2857987"/>
            <a:ext cx="5037221" cy="3489579"/>
          </a:xfrm>
        </p:spPr>
        <p:txBody>
          <a:bodyPr rtlCol="0">
            <a:noAutofit/>
          </a:bodyPr>
          <a:lstStyle/>
          <a:p>
            <a:pPr marL="457200" indent="-457200" algn="l" rtl="0">
              <a:buClr>
                <a:srgbClr val="663300"/>
              </a:buClr>
              <a:buFont typeface="Arial" panose="020B0604020202020204" pitchFamily="34" charset="0"/>
              <a:buChar char="•"/>
            </a:pPr>
            <a:r>
              <a:rPr lang="en-US" sz="2300" dirty="0">
                <a:solidFill>
                  <a:srgbClr val="663300"/>
                </a:solidFill>
                <a:latin typeface="Tenorite" panose="00000500000000000000" pitchFamily="2" charset="0"/>
              </a:rPr>
              <a:t>The art of war or is it management?</a:t>
            </a:r>
            <a:endParaRPr lang="pl-PL" sz="21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pic>
        <p:nvPicPr>
          <p:cNvPr id="7" name="Picture 2" descr="Znalezione obrazy dla zapytania sun tzu art of war">
            <a:extLst>
              <a:ext uri="{FF2B5EF4-FFF2-40B4-BE49-F238E27FC236}">
                <a16:creationId xmlns:a16="http://schemas.microsoft.com/office/drawing/2014/main" id="{D1A8D602-F983-9686-8AF3-D0E3ECBD3B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6242" y="2865432"/>
            <a:ext cx="5557578" cy="287298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60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Schools of Management </a:t>
            </a:r>
            <a:r>
              <a:rPr lang="pl-PL" sz="5000" dirty="0" err="1">
                <a:latin typeface="Tenorite" panose="00000500000000000000" pitchFamily="2" charset="0"/>
              </a:rPr>
              <a:t>Thought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674029" y="2697457"/>
            <a:ext cx="6843939"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Classical School of Management</a:t>
            </a:r>
          </a:p>
          <a:p>
            <a:pPr marL="817200" lvl="1" indent="-457200" algn="just">
              <a:lnSpc>
                <a:spcPct val="100000"/>
              </a:lnSpc>
              <a:buClr>
                <a:srgbClr val="663300"/>
              </a:buClr>
              <a:buFont typeface="Wingdings" panose="05000000000000000000" pitchFamily="2" charset="2"/>
              <a:buChar char="ü"/>
            </a:pPr>
            <a:r>
              <a:rPr lang="en-US" sz="1800" i="0" dirty="0">
                <a:solidFill>
                  <a:srgbClr val="663300"/>
                </a:solidFill>
                <a:latin typeface="Tenorite" panose="00000500000000000000" pitchFamily="2" charset="0"/>
              </a:rPr>
              <a:t>Scientific Management</a:t>
            </a:r>
          </a:p>
          <a:p>
            <a:pPr marL="817200" lvl="1" indent="-457200" algn="just">
              <a:lnSpc>
                <a:spcPct val="100000"/>
              </a:lnSpc>
              <a:buClr>
                <a:srgbClr val="663300"/>
              </a:buClr>
              <a:buFont typeface="Wingdings" panose="05000000000000000000" pitchFamily="2" charset="2"/>
              <a:buChar char="ü"/>
            </a:pPr>
            <a:r>
              <a:rPr lang="en-US" sz="1800" i="0" dirty="0">
                <a:solidFill>
                  <a:srgbClr val="663300"/>
                </a:solidFill>
                <a:latin typeface="Tenorite" panose="00000500000000000000" pitchFamily="2" charset="0"/>
              </a:rPr>
              <a:t>Administrative Management </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Human-Relation School of </a:t>
            </a:r>
            <a:r>
              <a:rPr lang="en-US" sz="2000" dirty="0" err="1">
                <a:solidFill>
                  <a:srgbClr val="663300"/>
                </a:solidFill>
                <a:latin typeface="Tenorite" panose="00000500000000000000" pitchFamily="2" charset="0"/>
              </a:rPr>
              <a:t>Managem</a:t>
            </a:r>
            <a:r>
              <a:rPr lang="pl-PL" sz="2000" dirty="0">
                <a:solidFill>
                  <a:srgbClr val="663300"/>
                </a:solidFill>
                <a:latin typeface="Tenorite" panose="00000500000000000000" pitchFamily="2" charset="0"/>
              </a:rPr>
              <a:t>e</a:t>
            </a:r>
            <a:r>
              <a:rPr lang="en-US" sz="2000" dirty="0">
                <a:solidFill>
                  <a:srgbClr val="663300"/>
                </a:solidFill>
                <a:latin typeface="Tenorite" panose="00000500000000000000" pitchFamily="2" charset="0"/>
              </a:rPr>
              <a:t>nt</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Mathematical or Quantitative School of Management</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Systems School of Management</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Contingency School of Management</a:t>
            </a:r>
          </a:p>
          <a:p>
            <a:pPr marL="457200" indent="-457200" algn="l" rtl="0">
              <a:buClr>
                <a:srgbClr val="663300"/>
              </a:buClr>
              <a:buFont typeface="Arial" panose="020B0604020202020204" pitchFamily="34" charset="0"/>
              <a:buChar char="•"/>
            </a:pPr>
            <a:endParaRPr lang="pl-PL" sz="17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614444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Schools of Management </a:t>
            </a:r>
            <a:r>
              <a:rPr lang="pl-PL" sz="5000" dirty="0" err="1">
                <a:latin typeface="Tenorite" panose="00000500000000000000" pitchFamily="2" charset="0"/>
              </a:rPr>
              <a:t>Thought</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sp>
        <p:nvSpPr>
          <p:cNvPr id="9" name="Rectangle 3">
            <a:extLst>
              <a:ext uri="{FF2B5EF4-FFF2-40B4-BE49-F238E27FC236}">
                <a16:creationId xmlns:a16="http://schemas.microsoft.com/office/drawing/2014/main" id="{16A03C55-3B17-3CAE-D74B-22DEA363BE65}"/>
              </a:ext>
            </a:extLst>
          </p:cNvPr>
          <p:cNvSpPr>
            <a:spLocks noChangeArrowheads="1"/>
          </p:cNvSpPr>
          <p:nvPr/>
        </p:nvSpPr>
        <p:spPr bwMode="auto">
          <a:xfrm>
            <a:off x="1667668" y="3021848"/>
            <a:ext cx="8856662" cy="2232025"/>
          </a:xfrm>
          <a:prstGeom prst="rect">
            <a:avLst/>
          </a:prstGeom>
          <a:solidFill>
            <a:srgbClr val="663300"/>
          </a:solidFill>
          <a:ln w="9525">
            <a:noFill/>
            <a:miter lim="800000"/>
            <a:headEnd/>
            <a:tailEnd/>
          </a:ln>
        </p:spPr>
        <p:txBody>
          <a:bodyPr/>
          <a:lstStyle/>
          <a:p>
            <a:pPr algn="just">
              <a:lnSpc>
                <a:spcPct val="125000"/>
              </a:lnSpc>
              <a:spcBef>
                <a:spcPct val="20000"/>
              </a:spcBef>
              <a:buClr>
                <a:schemeClr val="tx2"/>
              </a:buClr>
              <a:buSzPct val="100000"/>
              <a:defRPr/>
            </a:pPr>
            <a:r>
              <a:rPr lang="pl-PL" sz="3200" b="1" u="none" dirty="0">
                <a:solidFill>
                  <a:schemeClr val="bg1"/>
                </a:solidFill>
                <a:effectLst>
                  <a:outerShdw blurRad="38100" dist="38100" dir="2700000" algn="tl">
                    <a:srgbClr val="000000">
                      <a:alpha val="43137"/>
                    </a:srgbClr>
                  </a:outerShdw>
                </a:effectLst>
                <a:latin typeface="Tenorite" panose="00000500000000000000" pitchFamily="2" charset="0"/>
              </a:rPr>
              <a:t>Each school tries to explain the nature and content of management, but with </a:t>
            </a:r>
            <a:r>
              <a:rPr lang="pl-PL" sz="3200" b="1" u="none" dirty="0" err="1">
                <a:solidFill>
                  <a:schemeClr val="bg1"/>
                </a:solidFill>
                <a:effectLst>
                  <a:outerShdw blurRad="38100" dist="38100" dir="2700000" algn="tl">
                    <a:srgbClr val="000000">
                      <a:alpha val="43137"/>
                    </a:srgbClr>
                  </a:outerShdw>
                </a:effectLst>
                <a:latin typeface="Tenorite" panose="00000500000000000000" pitchFamily="2" charset="0"/>
              </a:rPr>
              <a:t>different</a:t>
            </a:r>
            <a:r>
              <a:rPr lang="pl-PL" sz="3200" b="1" u="none" dirty="0">
                <a:solidFill>
                  <a:schemeClr val="bg1"/>
                </a:solidFill>
                <a:effectLst>
                  <a:outerShdw blurRad="38100" dist="38100" dir="2700000" algn="tl">
                    <a:srgbClr val="000000">
                      <a:alpha val="43137"/>
                    </a:srgbClr>
                  </a:outerShdw>
                </a:effectLst>
                <a:latin typeface="Tenorite" panose="00000500000000000000" pitchFamily="2" charset="0"/>
              </a:rPr>
              <a:t> belief, view and formats.</a:t>
            </a:r>
          </a:p>
          <a:p>
            <a:pPr algn="just">
              <a:lnSpc>
                <a:spcPct val="125000"/>
              </a:lnSpc>
              <a:spcBef>
                <a:spcPct val="20000"/>
              </a:spcBef>
              <a:buClr>
                <a:schemeClr val="tx2"/>
              </a:buClr>
              <a:buSzPct val="100000"/>
              <a:defRPr/>
            </a:pPr>
            <a:endParaRPr lang="pl-PL" sz="2000" u="none" dirty="0"/>
          </a:p>
          <a:p>
            <a:pPr marL="342900" indent="-342900" algn="just">
              <a:lnSpc>
                <a:spcPct val="125000"/>
              </a:lnSpc>
              <a:spcBef>
                <a:spcPct val="20000"/>
              </a:spcBef>
              <a:buClr>
                <a:schemeClr val="tx2"/>
              </a:buClr>
              <a:buSzPct val="100000"/>
              <a:buFont typeface="Wingdings" pitchFamily="2" charset="2"/>
              <a:buChar char="n"/>
              <a:defRPr/>
            </a:pPr>
            <a:endParaRPr lang="pl-PL" sz="2000" u="none" dirty="0"/>
          </a:p>
        </p:txBody>
      </p:sp>
    </p:spTree>
    <p:extLst>
      <p:ext uri="{BB962C8B-B14F-4D97-AF65-F5344CB8AC3E}">
        <p14:creationId xmlns:p14="http://schemas.microsoft.com/office/powerpoint/2010/main" val="2045132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Scientific</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Management</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pic>
        <p:nvPicPr>
          <p:cNvPr id="3" name="Picture 11" descr="Znalezione obrazy dla zapytania Frederick Taylor">
            <a:extLst>
              <a:ext uri="{FF2B5EF4-FFF2-40B4-BE49-F238E27FC236}">
                <a16:creationId xmlns:a16="http://schemas.microsoft.com/office/drawing/2014/main" id="{2F53C8CD-1D22-06A3-6199-88BFBF935D2E}"/>
              </a:ext>
            </a:extLst>
          </p:cNvPr>
          <p:cNvPicPr>
            <a:picLocks noChangeAspect="1" noChangeArrowheads="1"/>
          </p:cNvPicPr>
          <p:nvPr/>
        </p:nvPicPr>
        <p:blipFill>
          <a:blip r:embed="rId3"/>
          <a:srcRect/>
          <a:stretch>
            <a:fillRect/>
          </a:stretch>
        </p:blipFill>
        <p:spPr bwMode="auto">
          <a:xfrm>
            <a:off x="1645919" y="2640096"/>
            <a:ext cx="2052637" cy="27670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05066D46-B59D-7DBB-0124-C86D0F282E82}"/>
              </a:ext>
            </a:extLst>
          </p:cNvPr>
          <p:cNvSpPr>
            <a:spLocks noChangeArrowheads="1"/>
          </p:cNvSpPr>
          <p:nvPr/>
        </p:nvSpPr>
        <p:spPr bwMode="auto">
          <a:xfrm>
            <a:off x="1520506" y="5522996"/>
            <a:ext cx="2376488" cy="62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1. </a:t>
            </a:r>
            <a:r>
              <a:rPr lang="pl-PL" altLang="pl-PL" sz="1000" b="1" u="none" dirty="0" err="1">
                <a:latin typeface="Tenorite" panose="00000500000000000000" pitchFamily="2" charset="0"/>
              </a:rPr>
              <a:t>Frederic</a:t>
            </a:r>
            <a:r>
              <a:rPr lang="pl-PL" altLang="pl-PL" sz="1000" b="1" u="none" dirty="0">
                <a:latin typeface="Tenorite" panose="00000500000000000000" pitchFamily="2" charset="0"/>
              </a:rPr>
              <a:t> </a:t>
            </a:r>
            <a:r>
              <a:rPr lang="pl-PL" altLang="pl-PL" sz="1000" b="1" u="none" dirty="0" err="1">
                <a:latin typeface="Tenorite" panose="00000500000000000000" pitchFamily="2" charset="0"/>
              </a:rPr>
              <a:t>Winslow</a:t>
            </a:r>
            <a:r>
              <a:rPr lang="pl-PL" altLang="pl-PL" sz="1000" b="1" u="none" dirty="0">
                <a:latin typeface="Tenorite" panose="00000500000000000000" pitchFamily="2" charset="0"/>
              </a:rPr>
              <a:t> Taylor</a:t>
            </a:r>
          </a:p>
          <a:p>
            <a:pPr algn="just">
              <a:spcBef>
                <a:spcPct val="0"/>
              </a:spcBef>
              <a:buClr>
                <a:schemeClr val="tx2"/>
              </a:buClr>
              <a:buSzPct val="100000"/>
              <a:buFontTx/>
              <a:buNone/>
            </a:pPr>
            <a:r>
              <a:rPr lang="pl-PL" altLang="pl-PL" sz="1000" u="none" dirty="0">
                <a:latin typeface="Tenorite" panose="00000500000000000000" pitchFamily="2" charset="0"/>
              </a:rPr>
              <a:t>Source: https://en.wikipedia.org/wiki/</a:t>
            </a:r>
          </a:p>
          <a:p>
            <a:pPr algn="just">
              <a:spcBef>
                <a:spcPct val="0"/>
              </a:spcBef>
              <a:buClr>
                <a:schemeClr val="tx2"/>
              </a:buClr>
              <a:buSzPct val="100000"/>
              <a:buFontTx/>
              <a:buNone/>
            </a:pPr>
            <a:r>
              <a:rPr lang="pl-PL" altLang="pl-PL" sz="1000" u="none" dirty="0" err="1">
                <a:latin typeface="Tenorite" panose="00000500000000000000" pitchFamily="2" charset="0"/>
              </a:rPr>
              <a:t>Frederick_Winslow_Taylor</a:t>
            </a:r>
            <a:endParaRPr lang="pl-PL" altLang="pl-PL" sz="2000" u="none" dirty="0">
              <a:latin typeface="Tenorite" panose="00000500000000000000" pitchFamily="2" charset="0"/>
            </a:endParaRPr>
          </a:p>
        </p:txBody>
      </p:sp>
      <p:pic>
        <p:nvPicPr>
          <p:cNvPr id="8" name="Picture 13" descr="Znalezione obrazy dla zapytania Henry Gantt">
            <a:extLst>
              <a:ext uri="{FF2B5EF4-FFF2-40B4-BE49-F238E27FC236}">
                <a16:creationId xmlns:a16="http://schemas.microsoft.com/office/drawing/2014/main" id="{6F4DC931-7B2E-A971-9DB3-4FF6006E62D7}"/>
              </a:ext>
            </a:extLst>
          </p:cNvPr>
          <p:cNvPicPr>
            <a:picLocks noChangeAspect="1" noChangeArrowheads="1"/>
          </p:cNvPicPr>
          <p:nvPr/>
        </p:nvPicPr>
        <p:blipFill>
          <a:blip r:embed="rId4"/>
          <a:srcRect/>
          <a:stretch>
            <a:fillRect/>
          </a:stretch>
        </p:blipFill>
        <p:spPr bwMode="auto">
          <a:xfrm>
            <a:off x="6108381" y="2639302"/>
            <a:ext cx="2052637" cy="27670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Rectangle 3">
            <a:extLst>
              <a:ext uri="{FF2B5EF4-FFF2-40B4-BE49-F238E27FC236}">
                <a16:creationId xmlns:a16="http://schemas.microsoft.com/office/drawing/2014/main" id="{95D4745E-EA9D-06CA-046E-B32A5164E50A}"/>
              </a:ext>
            </a:extLst>
          </p:cNvPr>
          <p:cNvSpPr>
            <a:spLocks noChangeArrowheads="1"/>
          </p:cNvSpPr>
          <p:nvPr/>
        </p:nvSpPr>
        <p:spPr bwMode="auto">
          <a:xfrm>
            <a:off x="6054406" y="5522996"/>
            <a:ext cx="2376488" cy="832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3. Henry </a:t>
            </a:r>
            <a:r>
              <a:rPr lang="pl-PL" altLang="pl-PL" sz="1000" b="1" u="none" dirty="0" err="1">
                <a:latin typeface="Tenorite" panose="00000500000000000000" pitchFamily="2" charset="0"/>
              </a:rPr>
              <a:t>Laurence</a:t>
            </a:r>
            <a:r>
              <a:rPr lang="pl-PL" altLang="pl-PL" sz="1000" b="1" u="none" dirty="0">
                <a:latin typeface="Tenorite" panose="00000500000000000000" pitchFamily="2" charset="0"/>
              </a:rPr>
              <a:t> Gantt</a:t>
            </a:r>
          </a:p>
          <a:p>
            <a:pPr algn="just">
              <a:spcBef>
                <a:spcPct val="0"/>
              </a:spcBef>
              <a:buClr>
                <a:schemeClr val="tx2"/>
              </a:buClr>
              <a:buSzPct val="100000"/>
              <a:buFontTx/>
              <a:buNone/>
            </a:pPr>
            <a:r>
              <a:rPr lang="pl-PL" altLang="pl-PL" sz="1000" u="none" dirty="0">
                <a:latin typeface="Tenorite" panose="00000500000000000000" pitchFamily="2" charset="0"/>
              </a:rPr>
              <a:t>Source: https://en.wikipedia.org/wiki/</a:t>
            </a:r>
          </a:p>
          <a:p>
            <a:pPr algn="just">
              <a:spcBef>
                <a:spcPct val="0"/>
              </a:spcBef>
              <a:buClr>
                <a:schemeClr val="tx2"/>
              </a:buClr>
              <a:buSzPct val="100000"/>
              <a:buFontTx/>
              <a:buNone/>
            </a:pPr>
            <a:r>
              <a:rPr lang="pl-PL" altLang="pl-PL" sz="1000" u="none" dirty="0" err="1">
                <a:latin typeface="Tenorite" panose="00000500000000000000" pitchFamily="2" charset="0"/>
              </a:rPr>
              <a:t>Henry_Gantt</a:t>
            </a:r>
            <a:endParaRPr lang="pl-PL" altLang="pl-PL" sz="2000" u="none" dirty="0">
              <a:latin typeface="Tenorite" panose="00000500000000000000" pitchFamily="2" charset="0"/>
            </a:endParaRPr>
          </a:p>
        </p:txBody>
      </p:sp>
      <p:pic>
        <p:nvPicPr>
          <p:cNvPr id="11" name="Picture 15" descr="Znalezione obrazy dla zapytania Henry Ford">
            <a:extLst>
              <a:ext uri="{FF2B5EF4-FFF2-40B4-BE49-F238E27FC236}">
                <a16:creationId xmlns:a16="http://schemas.microsoft.com/office/drawing/2014/main" id="{942A8276-1CF9-FAF2-0197-5DAC766AEB44}"/>
              </a:ext>
            </a:extLst>
          </p:cNvPr>
          <p:cNvPicPr>
            <a:picLocks noChangeAspect="1" noChangeArrowheads="1"/>
          </p:cNvPicPr>
          <p:nvPr/>
        </p:nvPicPr>
        <p:blipFill>
          <a:blip r:embed="rId5"/>
          <a:srcRect/>
          <a:stretch>
            <a:fillRect/>
          </a:stretch>
        </p:blipFill>
        <p:spPr bwMode="auto">
          <a:xfrm>
            <a:off x="3873182" y="2639302"/>
            <a:ext cx="2052637" cy="27670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2" name="Rectangle 3">
            <a:extLst>
              <a:ext uri="{FF2B5EF4-FFF2-40B4-BE49-F238E27FC236}">
                <a16:creationId xmlns:a16="http://schemas.microsoft.com/office/drawing/2014/main" id="{034D49EB-6268-A2F5-C5C2-AA5AAF511B99}"/>
              </a:ext>
            </a:extLst>
          </p:cNvPr>
          <p:cNvSpPr>
            <a:spLocks noChangeArrowheads="1"/>
          </p:cNvSpPr>
          <p:nvPr/>
        </p:nvSpPr>
        <p:spPr bwMode="auto">
          <a:xfrm>
            <a:off x="3787456" y="5522996"/>
            <a:ext cx="2376488" cy="628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2. Henry Ford</a:t>
            </a:r>
          </a:p>
          <a:p>
            <a:pPr>
              <a:spcBef>
                <a:spcPct val="0"/>
              </a:spcBef>
              <a:buClrTx/>
              <a:buSzTx/>
              <a:buFontTx/>
              <a:buNone/>
            </a:pPr>
            <a:r>
              <a:rPr lang="pl-PL" altLang="pl-PL" sz="1000" u="none" dirty="0">
                <a:latin typeface="Tenorite" panose="00000500000000000000" pitchFamily="2" charset="0"/>
              </a:rPr>
              <a:t>Source: https://en.wikipedia.org/wiki/</a:t>
            </a:r>
          </a:p>
          <a:p>
            <a:pPr>
              <a:spcBef>
                <a:spcPct val="0"/>
              </a:spcBef>
              <a:buClrTx/>
              <a:buSzTx/>
              <a:buFontTx/>
              <a:buNone/>
            </a:pPr>
            <a:r>
              <a:rPr lang="pl-PL" altLang="pl-PL" sz="1000" u="none" dirty="0" err="1">
                <a:latin typeface="Tenorite" panose="00000500000000000000" pitchFamily="2" charset="0"/>
              </a:rPr>
              <a:t>Henry_Ford</a:t>
            </a:r>
            <a:endParaRPr lang="pl-PL" altLang="pl-PL" sz="1000" u="none" dirty="0">
              <a:latin typeface="Tenorite" panose="00000500000000000000" pitchFamily="2" charset="0"/>
            </a:endParaRPr>
          </a:p>
        </p:txBody>
      </p:sp>
      <p:sp>
        <p:nvSpPr>
          <p:cNvPr id="13" name="Rectangle 3">
            <a:extLst>
              <a:ext uri="{FF2B5EF4-FFF2-40B4-BE49-F238E27FC236}">
                <a16:creationId xmlns:a16="http://schemas.microsoft.com/office/drawing/2014/main" id="{9639FCB9-69DF-B86F-5422-E83CD37A06ED}"/>
              </a:ext>
            </a:extLst>
          </p:cNvPr>
          <p:cNvSpPr>
            <a:spLocks noChangeArrowheads="1"/>
          </p:cNvSpPr>
          <p:nvPr/>
        </p:nvSpPr>
        <p:spPr bwMode="auto">
          <a:xfrm>
            <a:off x="8295956" y="5003885"/>
            <a:ext cx="2376488" cy="1027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4. Lilian and Frank </a:t>
            </a:r>
            <a:r>
              <a:rPr lang="pl-PL" altLang="pl-PL" sz="1000" b="1" u="none" dirty="0" err="1">
                <a:latin typeface="Tenorite" panose="00000500000000000000" pitchFamily="2" charset="0"/>
              </a:rPr>
              <a:t>Gilbreth</a:t>
            </a:r>
            <a:endParaRPr lang="pl-PL" altLang="pl-PL" sz="1000" b="1" u="none" dirty="0">
              <a:latin typeface="Tenorite" panose="00000500000000000000" pitchFamily="2" charset="0"/>
            </a:endParaRPr>
          </a:p>
          <a:p>
            <a:pPr algn="just">
              <a:spcBef>
                <a:spcPct val="0"/>
              </a:spcBef>
              <a:buClr>
                <a:schemeClr val="tx2"/>
              </a:buClr>
              <a:buSzPct val="100000"/>
              <a:buFontTx/>
              <a:buNone/>
            </a:pPr>
            <a:r>
              <a:rPr lang="pl-PL" altLang="pl-PL" sz="1000" u="none" dirty="0">
                <a:latin typeface="Tenorite" panose="00000500000000000000" pitchFamily="2" charset="0"/>
              </a:rPr>
              <a:t>Source: http://mustafamemisoglu.</a:t>
            </a:r>
          </a:p>
          <a:p>
            <a:pPr algn="just">
              <a:spcBef>
                <a:spcPct val="0"/>
              </a:spcBef>
              <a:buClr>
                <a:schemeClr val="tx2"/>
              </a:buClr>
              <a:buSzPct val="100000"/>
              <a:buFontTx/>
              <a:buNone/>
            </a:pPr>
            <a:r>
              <a:rPr lang="pl-PL" altLang="pl-PL" sz="1000" u="none" dirty="0">
                <a:latin typeface="Tenorite" panose="00000500000000000000" pitchFamily="2" charset="0"/>
              </a:rPr>
              <a:t>blogspot.com/2008/03/frank-bunker-lillian-moller-gilbreth.html</a:t>
            </a:r>
            <a:endParaRPr lang="pl-PL" altLang="pl-PL" sz="2000" u="none" dirty="0">
              <a:latin typeface="Tenorite" panose="00000500000000000000" pitchFamily="2" charset="0"/>
            </a:endParaRPr>
          </a:p>
        </p:txBody>
      </p:sp>
      <p:pic>
        <p:nvPicPr>
          <p:cNvPr id="14" name="Picture 13" descr="Znalezione obrazy dla zapytania frank and lillian gilbreth">
            <a:extLst>
              <a:ext uri="{FF2B5EF4-FFF2-40B4-BE49-F238E27FC236}">
                <a16:creationId xmlns:a16="http://schemas.microsoft.com/office/drawing/2014/main" id="{E3BFB096-FE85-51BF-580A-F74C6E11ACCD}"/>
              </a:ext>
            </a:extLst>
          </p:cNvPr>
          <p:cNvPicPr>
            <a:picLocks noChangeAspect="1" noChangeArrowheads="1"/>
          </p:cNvPicPr>
          <p:nvPr/>
        </p:nvPicPr>
        <p:blipFill>
          <a:blip r:embed="rId6"/>
          <a:srcRect/>
          <a:stretch>
            <a:fillRect/>
          </a:stretch>
        </p:blipFill>
        <p:spPr bwMode="auto">
          <a:xfrm>
            <a:off x="8335644" y="3108409"/>
            <a:ext cx="2298700" cy="1828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369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Scientific</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Management</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115055" y="2577384"/>
            <a:ext cx="7961887"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Use the </a:t>
            </a:r>
            <a:r>
              <a:rPr lang="en-US" sz="2000" b="1" dirty="0">
                <a:solidFill>
                  <a:srgbClr val="663300"/>
                </a:solidFill>
                <a:latin typeface="Tenorite" panose="00000500000000000000" pitchFamily="2" charset="0"/>
              </a:rPr>
              <a:t>scientific method </a:t>
            </a:r>
            <a:r>
              <a:rPr lang="en-US" sz="2000" dirty="0">
                <a:solidFill>
                  <a:srgbClr val="663300"/>
                </a:solidFill>
                <a:latin typeface="Tenorite" panose="00000500000000000000" pitchFamily="2" charset="0"/>
              </a:rPr>
              <a:t>to study work and determine the most </a:t>
            </a:r>
            <a:r>
              <a:rPr lang="en-US" sz="2000" b="1" dirty="0">
                <a:solidFill>
                  <a:srgbClr val="663300"/>
                </a:solidFill>
                <a:latin typeface="Tenorite" panose="00000500000000000000" pitchFamily="2" charset="0"/>
              </a:rPr>
              <a:t>efficient</a:t>
            </a:r>
            <a:r>
              <a:rPr lang="en-US" sz="2000" dirty="0">
                <a:solidFill>
                  <a:srgbClr val="663300"/>
                </a:solidFill>
                <a:latin typeface="Tenorite" panose="00000500000000000000" pitchFamily="2" charset="0"/>
              </a:rPr>
              <a:t> way to perform specific tasks.</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Match workers to their jobs based on </a:t>
            </a:r>
            <a:r>
              <a:rPr lang="en-US" sz="2000" b="1" dirty="0">
                <a:solidFill>
                  <a:srgbClr val="663300"/>
                </a:solidFill>
                <a:latin typeface="Tenorite" panose="00000500000000000000" pitchFamily="2" charset="0"/>
              </a:rPr>
              <a:t>capability</a:t>
            </a:r>
            <a:r>
              <a:rPr lang="en-US" sz="2000" dirty="0">
                <a:solidFill>
                  <a:srgbClr val="663300"/>
                </a:solidFill>
                <a:latin typeface="Tenorite" panose="00000500000000000000" pitchFamily="2" charset="0"/>
              </a:rPr>
              <a:t> and motivation, and train them to work at maximum efficiency.</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Monitor worker performance</a:t>
            </a:r>
            <a:r>
              <a:rPr lang="en-US" sz="2000" dirty="0">
                <a:solidFill>
                  <a:srgbClr val="663300"/>
                </a:solidFill>
                <a:latin typeface="Tenorite" panose="00000500000000000000" pitchFamily="2" charset="0"/>
              </a:rPr>
              <a:t>, and </a:t>
            </a:r>
            <a:r>
              <a:rPr lang="en-US" sz="2000" b="1" dirty="0">
                <a:solidFill>
                  <a:srgbClr val="663300"/>
                </a:solidFill>
                <a:latin typeface="Tenorite" panose="00000500000000000000" pitchFamily="2" charset="0"/>
              </a:rPr>
              <a:t>provide instructions </a:t>
            </a:r>
            <a:r>
              <a:rPr lang="en-US" sz="2000" dirty="0">
                <a:solidFill>
                  <a:srgbClr val="663300"/>
                </a:solidFill>
                <a:latin typeface="Tenorite" panose="00000500000000000000" pitchFamily="2" charset="0"/>
              </a:rPr>
              <a:t>and supervision to ensure that they're using the most efficient ways of working.</a:t>
            </a: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Allocate the work </a:t>
            </a:r>
            <a:r>
              <a:rPr lang="en-US" sz="2000" dirty="0">
                <a:solidFill>
                  <a:srgbClr val="663300"/>
                </a:solidFill>
                <a:latin typeface="Tenorite" panose="00000500000000000000" pitchFamily="2" charset="0"/>
              </a:rPr>
              <a:t>between managers and workers so that the managers spend their time planning and training, allowing the workers to perform their tasks efficiently.</a:t>
            </a:r>
          </a:p>
          <a:p>
            <a:pPr marL="457200" indent="-457200" algn="l" rtl="0">
              <a:buClr>
                <a:srgbClr val="663300"/>
              </a:buClr>
              <a:buFont typeface="Arial" panose="020B0604020202020204" pitchFamily="34" charset="0"/>
              <a:buChar char="•"/>
            </a:pPr>
            <a:endParaRPr lang="pl-PL" sz="17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21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993593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Frederick </a:t>
            </a:r>
            <a:r>
              <a:rPr lang="pl-PL" sz="5000" dirty="0" err="1">
                <a:latin typeface="Tenorite" panose="00000500000000000000" pitchFamily="2" charset="0"/>
              </a:rPr>
              <a:t>Winslow</a:t>
            </a:r>
            <a:r>
              <a:rPr lang="pl-PL" sz="5000" dirty="0">
                <a:latin typeface="Tenorite" panose="00000500000000000000" pitchFamily="2" charset="0"/>
              </a:rPr>
              <a:t> Taylor </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674030" y="2697457"/>
            <a:ext cx="4432624"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800" dirty="0">
                <a:solidFill>
                  <a:srgbClr val="663300"/>
                </a:solidFill>
                <a:latin typeface="Tenorite" panose="00000500000000000000" pitchFamily="2" charset="0"/>
              </a:rPr>
              <a:t>The optimal weight that a worker should lift in a shovel was 21 pounds.</a:t>
            </a:r>
          </a:p>
          <a:p>
            <a:pPr marL="457200" indent="-457200" algn="just" rtl="0">
              <a:lnSpc>
                <a:spcPct val="100000"/>
              </a:lnSpc>
              <a:buClr>
                <a:srgbClr val="663300"/>
              </a:buClr>
              <a:buFont typeface="Arial" panose="020B0604020202020204" pitchFamily="34" charset="0"/>
              <a:buChar char="•"/>
            </a:pPr>
            <a:r>
              <a:rPr lang="en-US" sz="1800" dirty="0">
                <a:solidFill>
                  <a:srgbClr val="663300"/>
                </a:solidFill>
                <a:latin typeface="Tenorite" panose="00000500000000000000" pitchFamily="2" charset="0"/>
              </a:rPr>
              <a:t>The shovel should be sized so that it would hold 21 pounds of the substance being shoveled.</a:t>
            </a:r>
          </a:p>
          <a:p>
            <a:pPr marL="457200" indent="-457200" algn="just" rtl="0">
              <a:lnSpc>
                <a:spcPct val="100000"/>
              </a:lnSpc>
              <a:buClr>
                <a:srgbClr val="663300"/>
              </a:buClr>
              <a:buFont typeface="Arial" panose="020B0604020202020204" pitchFamily="34" charset="0"/>
              <a:buChar char="•"/>
            </a:pPr>
            <a:r>
              <a:rPr lang="en-US" sz="1800" dirty="0">
                <a:solidFill>
                  <a:srgbClr val="663300"/>
                </a:solidFill>
                <a:latin typeface="Tenorite" panose="00000500000000000000" pitchFamily="2" charset="0"/>
              </a:rPr>
              <a:t>The firm provided the workers with optimal shovels.</a:t>
            </a:r>
            <a:endParaRPr lang="pl-PL" sz="1800" dirty="0">
              <a:solidFill>
                <a:srgbClr val="663300"/>
              </a:solidFill>
              <a:latin typeface="Tenorite" panose="00000500000000000000" pitchFamily="2" charset="0"/>
            </a:endParaRPr>
          </a:p>
          <a:p>
            <a:pPr marL="285750" indent="-285750" rtl="0">
              <a:buFont typeface="Arial" panose="020B0604020202020204" pitchFamily="34" charset="0"/>
              <a:buChar char="•"/>
            </a:pPr>
            <a:endParaRPr lang="pl-PL" sz="1800" dirty="0"/>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pic>
        <p:nvPicPr>
          <p:cNvPr id="7" name="Picture 3" descr="1879catalogpage">
            <a:extLst>
              <a:ext uri="{FF2B5EF4-FFF2-40B4-BE49-F238E27FC236}">
                <a16:creationId xmlns:a16="http://schemas.microsoft.com/office/drawing/2014/main" id="{66C94A25-C71F-0FB6-48F5-F7619419F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9143" y="1378480"/>
            <a:ext cx="2627313" cy="473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Prostokąt 1">
            <a:extLst>
              <a:ext uri="{FF2B5EF4-FFF2-40B4-BE49-F238E27FC236}">
                <a16:creationId xmlns:a16="http://schemas.microsoft.com/office/drawing/2014/main" id="{2F8E98A2-7A23-2DC3-3AAF-03AA513F58B1}"/>
              </a:ext>
            </a:extLst>
          </p:cNvPr>
          <p:cNvSpPr/>
          <p:nvPr/>
        </p:nvSpPr>
        <p:spPr bwMode="auto">
          <a:xfrm>
            <a:off x="3132899" y="5563754"/>
            <a:ext cx="5132550" cy="495300"/>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eaLnBrk="1" hangingPunct="1">
              <a:lnSpc>
                <a:spcPct val="130000"/>
              </a:lnSpc>
              <a:spcBef>
                <a:spcPct val="45000"/>
              </a:spcBef>
              <a:buClr>
                <a:schemeClr val="tx2"/>
              </a:buClr>
              <a:buSzPct val="100000"/>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Result: Three to four fold increase in productivity </a:t>
            </a:r>
          </a:p>
        </p:txBody>
      </p:sp>
    </p:spTree>
    <p:extLst>
      <p:ext uri="{BB962C8B-B14F-4D97-AF65-F5344CB8AC3E}">
        <p14:creationId xmlns:p14="http://schemas.microsoft.com/office/powerpoint/2010/main" val="389183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fontScale="90000"/>
          </a:bodyPr>
          <a:lstStyle/>
          <a:p>
            <a:pPr rtl="0"/>
            <a:r>
              <a:rPr lang="en-US" sz="5000" dirty="0">
                <a:latin typeface="Tenorite" panose="00000500000000000000" pitchFamily="2" charset="0"/>
              </a:rPr>
              <a:t>Exercise 2: </a:t>
            </a:r>
            <a:br>
              <a:rPr lang="pl-PL" sz="5000" dirty="0">
                <a:latin typeface="Tenorite" panose="00000500000000000000" pitchFamily="2" charset="0"/>
              </a:rPr>
            </a:br>
            <a:r>
              <a:rPr lang="en-US" sz="5000" dirty="0">
                <a:latin typeface="Tenorite" panose="00000500000000000000" pitchFamily="2" charset="0"/>
              </a:rPr>
              <a:t>Henry Ford – </a:t>
            </a:r>
            <a:br>
              <a:rPr lang="pl-PL" sz="5000" dirty="0">
                <a:latin typeface="Tenorite" panose="00000500000000000000" pitchFamily="2" charset="0"/>
              </a:rPr>
            </a:br>
            <a:r>
              <a:rPr lang="en-US" sz="5000" dirty="0">
                <a:latin typeface="Tenorite" panose="00000500000000000000" pitchFamily="2" charset="0"/>
              </a:rPr>
              <a:t>Facts &amp; Summary</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pic>
        <p:nvPicPr>
          <p:cNvPr id="10" name="Picture 2" descr="Znalezione obrazy dla zapytania Ford model T">
            <a:extLst>
              <a:ext uri="{FF2B5EF4-FFF2-40B4-BE49-F238E27FC236}">
                <a16:creationId xmlns:a16="http://schemas.microsoft.com/office/drawing/2014/main" id="{21754A86-11E9-F309-8EB0-977D44F1F200}"/>
              </a:ext>
            </a:extLst>
          </p:cNvPr>
          <p:cNvPicPr>
            <a:picLocks noChangeAspect="1" noChangeArrowheads="1"/>
          </p:cNvPicPr>
          <p:nvPr/>
        </p:nvPicPr>
        <p:blipFill>
          <a:blip r:embed="rId3"/>
          <a:srcRect/>
          <a:stretch>
            <a:fillRect/>
          </a:stretch>
        </p:blipFill>
        <p:spPr bwMode="auto">
          <a:xfrm>
            <a:off x="4786142" y="2733747"/>
            <a:ext cx="5008459" cy="313635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1" name="Rectangle 3">
            <a:extLst>
              <a:ext uri="{FF2B5EF4-FFF2-40B4-BE49-F238E27FC236}">
                <a16:creationId xmlns:a16="http://schemas.microsoft.com/office/drawing/2014/main" id="{6C84972D-4FEB-CC9F-6805-1BEC056162C0}"/>
              </a:ext>
            </a:extLst>
          </p:cNvPr>
          <p:cNvSpPr>
            <a:spLocks noChangeArrowheads="1"/>
          </p:cNvSpPr>
          <p:nvPr/>
        </p:nvSpPr>
        <p:spPr bwMode="auto">
          <a:xfrm>
            <a:off x="9794601" y="4930019"/>
            <a:ext cx="2021206" cy="104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
                <a:schemeClr val="tx2"/>
              </a:buClr>
              <a:buSzPct val="100000"/>
              <a:buFontTx/>
              <a:buNone/>
            </a:pPr>
            <a:r>
              <a:rPr lang="pl-PL" altLang="pl-PL" sz="1000" b="1" u="none" dirty="0">
                <a:latin typeface="Tenorite" panose="00000500000000000000" pitchFamily="2" charset="0"/>
              </a:rPr>
              <a:t>Fig. 5. Model T</a:t>
            </a:r>
          </a:p>
          <a:p>
            <a:pPr>
              <a:spcBef>
                <a:spcPct val="0"/>
              </a:spcBef>
              <a:buClr>
                <a:schemeClr val="tx2"/>
              </a:buClr>
              <a:buSzPct val="100000"/>
              <a:buFontTx/>
              <a:buNone/>
            </a:pPr>
            <a:r>
              <a:rPr lang="pl-PL" altLang="pl-PL" sz="1000" u="none" dirty="0">
                <a:latin typeface="Tenorite" panose="00000500000000000000" pitchFamily="2" charset="0"/>
              </a:rPr>
              <a:t>Source: http://zonderpump.com/image-post/1005-ford-model-t2-1.jpg.html#gal_post_1005_ford-model-t2-1.jpg</a:t>
            </a:r>
            <a:endParaRPr lang="pl-PL" altLang="pl-PL" sz="2000" u="none"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34333DD0-FDD8-AB37-6CB0-873B2582421F}"/>
              </a:ext>
            </a:extLst>
          </p:cNvPr>
          <p:cNvSpPr>
            <a:spLocks noGrp="1"/>
          </p:cNvSpPr>
          <p:nvPr>
            <p:ph type="body" sz="quarter" idx="13"/>
          </p:nvPr>
        </p:nvSpPr>
        <p:spPr>
          <a:xfrm>
            <a:off x="1475200" y="2733747"/>
            <a:ext cx="3075025" cy="1233701"/>
          </a:xfrm>
        </p:spPr>
        <p:txBody>
          <a:bodyPr rtlCol="0">
            <a:noAutofit/>
          </a:bodyPr>
          <a:lstStyle/>
          <a:p>
            <a:pPr marL="285750" indent="-285750" algn="just" rtl="0">
              <a:lnSpc>
                <a:spcPct val="100000"/>
              </a:lnSpc>
              <a:buClr>
                <a:srgbClr val="663300"/>
              </a:buClr>
              <a:buFont typeface="Arial" panose="020B0604020202020204" pitchFamily="34" charset="0"/>
              <a:buChar char="•"/>
            </a:pPr>
            <a:r>
              <a:rPr lang="pl-PL" sz="1800" dirty="0" err="1">
                <a:solidFill>
                  <a:srgbClr val="663300"/>
                </a:solidFill>
                <a:latin typeface="Tenorite" panose="00000500000000000000" pitchFamily="2" charset="0"/>
              </a:rPr>
              <a:t>What</a:t>
            </a:r>
            <a:r>
              <a:rPr lang="pl-PL" sz="1800" dirty="0">
                <a:solidFill>
                  <a:srgbClr val="663300"/>
                </a:solidFill>
                <a:latin typeface="Tenorite" panose="00000500000000000000" pitchFamily="2" charset="0"/>
              </a:rPr>
              <a:t> </a:t>
            </a:r>
            <a:r>
              <a:rPr lang="pl-PL" sz="1800" dirty="0" err="1">
                <a:solidFill>
                  <a:srgbClr val="663300"/>
                </a:solidFill>
                <a:latin typeface="Tenorite" panose="00000500000000000000" pitchFamily="2" charset="0"/>
              </a:rPr>
              <a:t>were</a:t>
            </a:r>
            <a:r>
              <a:rPr lang="pl-PL" sz="1800" dirty="0">
                <a:solidFill>
                  <a:srgbClr val="663300"/>
                </a:solidFill>
                <a:latin typeface="Tenorite" panose="00000500000000000000" pitchFamily="2" charset="0"/>
              </a:rPr>
              <a:t> the </a:t>
            </a:r>
            <a:r>
              <a:rPr lang="pl-PL" sz="1800" dirty="0" err="1">
                <a:solidFill>
                  <a:srgbClr val="663300"/>
                </a:solidFill>
                <a:latin typeface="Tenorite" panose="00000500000000000000" pitchFamily="2" charset="0"/>
              </a:rPr>
              <a:t>changes</a:t>
            </a:r>
            <a:r>
              <a:rPr lang="pl-PL" sz="1800" dirty="0">
                <a:solidFill>
                  <a:srgbClr val="663300"/>
                </a:solidFill>
                <a:latin typeface="Tenorite" panose="00000500000000000000" pitchFamily="2" charset="0"/>
              </a:rPr>
              <a:t> in </a:t>
            </a:r>
            <a:r>
              <a:rPr lang="pl-PL" sz="1800" dirty="0" err="1">
                <a:solidFill>
                  <a:srgbClr val="663300"/>
                </a:solidFill>
                <a:latin typeface="Tenorite" panose="00000500000000000000" pitchFamily="2" charset="0"/>
              </a:rPr>
              <a:t>production</a:t>
            </a:r>
            <a:r>
              <a:rPr lang="pl-PL" sz="1800" dirty="0">
                <a:solidFill>
                  <a:srgbClr val="663300"/>
                </a:solidFill>
                <a:latin typeface="Tenorite" panose="00000500000000000000" pitchFamily="2" charset="0"/>
              </a:rPr>
              <a:t> and management </a:t>
            </a:r>
            <a:r>
              <a:rPr lang="pl-PL" sz="1800" dirty="0" err="1">
                <a:solidFill>
                  <a:srgbClr val="663300"/>
                </a:solidFill>
                <a:latin typeface="Tenorite" panose="00000500000000000000" pitchFamily="2" charset="0"/>
              </a:rPr>
              <a:t>introduced</a:t>
            </a:r>
            <a:r>
              <a:rPr lang="pl-PL" sz="1800" dirty="0">
                <a:solidFill>
                  <a:srgbClr val="663300"/>
                </a:solidFill>
                <a:latin typeface="Tenorite" panose="00000500000000000000" pitchFamily="2" charset="0"/>
              </a:rPr>
              <a:t> in Ford Motor Company?</a:t>
            </a:r>
          </a:p>
          <a:p>
            <a:pPr marL="285750" indent="-285750" rtl="0">
              <a:buFont typeface="Arial" panose="020B0604020202020204" pitchFamily="34" charset="0"/>
              <a:buChar char="•"/>
            </a:pPr>
            <a:endParaRPr lang="pl-PL" sz="1800" dirty="0"/>
          </a:p>
        </p:txBody>
      </p:sp>
    </p:spTree>
    <p:extLst>
      <p:ext uri="{BB962C8B-B14F-4D97-AF65-F5344CB8AC3E}">
        <p14:creationId xmlns:p14="http://schemas.microsoft.com/office/powerpoint/2010/main" val="729283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Lilian and </a:t>
            </a:r>
            <a:br>
              <a:rPr lang="pl-PL" sz="5000" dirty="0">
                <a:latin typeface="Tenorite" panose="00000500000000000000" pitchFamily="2" charset="0"/>
              </a:rPr>
            </a:br>
            <a:r>
              <a:rPr lang="pl-PL" sz="5000" dirty="0">
                <a:latin typeface="Tenorite" panose="00000500000000000000" pitchFamily="2" charset="0"/>
              </a:rPr>
              <a:t>Frank </a:t>
            </a:r>
            <a:r>
              <a:rPr lang="pl-PL" sz="5000" dirty="0" err="1">
                <a:latin typeface="Tenorite" panose="00000500000000000000" pitchFamily="2" charset="0"/>
              </a:rPr>
              <a:t>Gilbreth</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799953" y="2789777"/>
            <a:ext cx="5592160"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Frank and Lillian Gilbreth invented and refined therbligs, roughly between 1908 and 1924.</a:t>
            </a:r>
          </a:p>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Therbligs comprise a system for analyzing the motions involved in performing a task.</a:t>
            </a:r>
          </a:p>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The identification of individual motions, as well as moments of delay in the process, was designed to find unnecessary or inefficient motions and to utilize or eliminate even split-seconds of wasted time.</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pic>
        <p:nvPicPr>
          <p:cNvPr id="7" name="Picture 2" descr="Znalezione obrazy dla zapytania therblig">
            <a:extLst>
              <a:ext uri="{FF2B5EF4-FFF2-40B4-BE49-F238E27FC236}">
                <a16:creationId xmlns:a16="http://schemas.microsoft.com/office/drawing/2014/main" id="{3680BEA3-B7D9-48C7-FA9D-B80A3031D2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6673" y="2648794"/>
            <a:ext cx="3357638" cy="2941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3">
            <a:extLst>
              <a:ext uri="{FF2B5EF4-FFF2-40B4-BE49-F238E27FC236}">
                <a16:creationId xmlns:a16="http://schemas.microsoft.com/office/drawing/2014/main" id="{22EF14AA-67C4-65A5-4405-7900F32D6654}"/>
              </a:ext>
            </a:extLst>
          </p:cNvPr>
          <p:cNvSpPr>
            <a:spLocks noChangeArrowheads="1"/>
          </p:cNvSpPr>
          <p:nvPr/>
        </p:nvSpPr>
        <p:spPr bwMode="auto">
          <a:xfrm>
            <a:off x="7632218" y="5606440"/>
            <a:ext cx="3029825" cy="4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6. </a:t>
            </a:r>
            <a:r>
              <a:rPr lang="pl-PL" altLang="pl-PL" sz="1000" b="1" u="none" dirty="0" err="1">
                <a:latin typeface="Tenorite" panose="00000500000000000000" pitchFamily="2" charset="0"/>
              </a:rPr>
              <a:t>Therbligs</a:t>
            </a:r>
            <a:endParaRPr lang="pl-PL" altLang="pl-PL" sz="1000" b="1" u="none" dirty="0">
              <a:latin typeface="Tenorite" panose="00000500000000000000" pitchFamily="2" charset="0"/>
            </a:endParaRPr>
          </a:p>
          <a:p>
            <a:pPr algn="just">
              <a:spcBef>
                <a:spcPct val="0"/>
              </a:spcBef>
              <a:buClr>
                <a:schemeClr val="tx2"/>
              </a:buClr>
              <a:buSzPct val="100000"/>
              <a:buFontTx/>
              <a:buNone/>
            </a:pPr>
            <a:r>
              <a:rPr lang="pl-PL" altLang="pl-PL" sz="1000" u="none" dirty="0">
                <a:latin typeface="Tenorite" panose="00000500000000000000" pitchFamily="2" charset="0"/>
              </a:rPr>
              <a:t>Source: https://en.wikipedia.org/wiki/Therblig</a:t>
            </a:r>
            <a:endParaRPr lang="pl-PL" altLang="pl-PL" sz="2000" u="none" dirty="0">
              <a:latin typeface="Tenorite" panose="00000500000000000000" pitchFamily="2" charset="0"/>
            </a:endParaRPr>
          </a:p>
        </p:txBody>
      </p:sp>
    </p:spTree>
    <p:extLst>
      <p:ext uri="{BB962C8B-B14F-4D97-AF65-F5344CB8AC3E}">
        <p14:creationId xmlns:p14="http://schemas.microsoft.com/office/powerpoint/2010/main" val="214374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Administrative</a:t>
            </a:r>
            <a:r>
              <a:rPr lang="pl-PL" sz="5000" dirty="0">
                <a:latin typeface="Tenorite" panose="00000500000000000000" pitchFamily="2" charset="0"/>
              </a:rPr>
              <a:t> Management</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sp>
        <p:nvSpPr>
          <p:cNvPr id="9" name="Rectangle 3">
            <a:extLst>
              <a:ext uri="{FF2B5EF4-FFF2-40B4-BE49-F238E27FC236}">
                <a16:creationId xmlns:a16="http://schemas.microsoft.com/office/drawing/2014/main" id="{6816F81B-990C-7D77-BEC1-0FF2281BC39E}"/>
              </a:ext>
            </a:extLst>
          </p:cNvPr>
          <p:cNvSpPr>
            <a:spLocks noChangeArrowheads="1"/>
          </p:cNvSpPr>
          <p:nvPr/>
        </p:nvSpPr>
        <p:spPr bwMode="auto">
          <a:xfrm>
            <a:off x="7002536" y="5627885"/>
            <a:ext cx="2298576" cy="729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8. Max Weber</a:t>
            </a:r>
          </a:p>
          <a:p>
            <a:pPr algn="just">
              <a:spcBef>
                <a:spcPct val="0"/>
              </a:spcBef>
              <a:buClr>
                <a:schemeClr val="tx2"/>
              </a:buClr>
              <a:buSzPct val="100000"/>
              <a:buFontTx/>
              <a:buNone/>
            </a:pPr>
            <a:r>
              <a:rPr lang="pl-PL" altLang="pl-PL" sz="1000" u="none" dirty="0">
                <a:latin typeface="Tenorite" panose="00000500000000000000" pitchFamily="2" charset="0"/>
              </a:rPr>
              <a:t>Source: https://pl.wikipedia.org/wiki/</a:t>
            </a:r>
          </a:p>
          <a:p>
            <a:pPr algn="just">
              <a:spcBef>
                <a:spcPct val="0"/>
              </a:spcBef>
              <a:buClr>
                <a:schemeClr val="tx2"/>
              </a:buClr>
              <a:buSzPct val="100000"/>
              <a:buFontTx/>
              <a:buNone/>
            </a:pPr>
            <a:r>
              <a:rPr lang="pl-PL" altLang="pl-PL" sz="1000" u="none" dirty="0" err="1">
                <a:latin typeface="Tenorite" panose="00000500000000000000" pitchFamily="2" charset="0"/>
              </a:rPr>
              <a:t>Max_Weber</a:t>
            </a:r>
            <a:endParaRPr lang="pl-PL" altLang="pl-PL" sz="2000" u="none" dirty="0">
              <a:latin typeface="Tenorite" panose="00000500000000000000" pitchFamily="2" charset="0"/>
            </a:endParaRPr>
          </a:p>
        </p:txBody>
      </p:sp>
      <p:pic>
        <p:nvPicPr>
          <p:cNvPr id="15" name="Picture 2" descr="https://upload.wikimedia.org/wikipedia/commons/4/46/Fonds_henri_fayol.jpg">
            <a:extLst>
              <a:ext uri="{FF2B5EF4-FFF2-40B4-BE49-F238E27FC236}">
                <a16:creationId xmlns:a16="http://schemas.microsoft.com/office/drawing/2014/main" id="{9FE93BC2-8D69-B966-37B3-3781905F9DF6}"/>
              </a:ext>
            </a:extLst>
          </p:cNvPr>
          <p:cNvPicPr>
            <a:picLocks noChangeAspect="1" noChangeArrowheads="1"/>
          </p:cNvPicPr>
          <p:nvPr/>
        </p:nvPicPr>
        <p:blipFill>
          <a:blip r:embed="rId3"/>
          <a:srcRect/>
          <a:stretch>
            <a:fillRect/>
          </a:stretch>
        </p:blipFill>
        <p:spPr bwMode="auto">
          <a:xfrm>
            <a:off x="2879340" y="2524733"/>
            <a:ext cx="2240296" cy="31031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Picture 4" descr="Ilustracja">
            <a:extLst>
              <a:ext uri="{FF2B5EF4-FFF2-40B4-BE49-F238E27FC236}">
                <a16:creationId xmlns:a16="http://schemas.microsoft.com/office/drawing/2014/main" id="{AB673176-D166-9BE8-DFB9-D366B60535D4}"/>
              </a:ext>
            </a:extLst>
          </p:cNvPr>
          <p:cNvPicPr>
            <a:picLocks noChangeAspect="1" noChangeArrowheads="1"/>
          </p:cNvPicPr>
          <p:nvPr/>
        </p:nvPicPr>
        <p:blipFill>
          <a:blip r:embed="rId4"/>
          <a:srcRect/>
          <a:stretch>
            <a:fillRect/>
          </a:stretch>
        </p:blipFill>
        <p:spPr bwMode="auto">
          <a:xfrm>
            <a:off x="7066034" y="2527909"/>
            <a:ext cx="2298577" cy="310315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7" name="Rectangle 3">
            <a:extLst>
              <a:ext uri="{FF2B5EF4-FFF2-40B4-BE49-F238E27FC236}">
                <a16:creationId xmlns:a16="http://schemas.microsoft.com/office/drawing/2014/main" id="{9FA97500-FA9B-2ACE-035E-D1BDE4DEDCA9}"/>
              </a:ext>
            </a:extLst>
          </p:cNvPr>
          <p:cNvSpPr>
            <a:spLocks noChangeArrowheads="1"/>
          </p:cNvSpPr>
          <p:nvPr/>
        </p:nvSpPr>
        <p:spPr bwMode="auto">
          <a:xfrm>
            <a:off x="2828339" y="5627885"/>
            <a:ext cx="2342297" cy="729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7. Henri </a:t>
            </a:r>
            <a:r>
              <a:rPr lang="pl-PL" altLang="pl-PL" sz="1000" b="1" u="none" dirty="0" err="1">
                <a:latin typeface="Tenorite" panose="00000500000000000000" pitchFamily="2" charset="0"/>
              </a:rPr>
              <a:t>Fayol</a:t>
            </a:r>
            <a:endParaRPr lang="pl-PL" altLang="pl-PL" sz="1000" b="1" u="none" dirty="0">
              <a:latin typeface="Tenorite" panose="00000500000000000000" pitchFamily="2" charset="0"/>
            </a:endParaRPr>
          </a:p>
          <a:p>
            <a:pPr algn="just">
              <a:spcBef>
                <a:spcPct val="0"/>
              </a:spcBef>
              <a:buClr>
                <a:schemeClr val="tx2"/>
              </a:buClr>
              <a:buSzPct val="100000"/>
              <a:buFontTx/>
              <a:buNone/>
            </a:pPr>
            <a:r>
              <a:rPr lang="pl-PL" altLang="pl-PL" sz="1000" u="none" dirty="0">
                <a:latin typeface="Tenorite" panose="00000500000000000000" pitchFamily="2" charset="0"/>
              </a:rPr>
              <a:t>Source: https://en.wikipedia.org/wiki/</a:t>
            </a:r>
          </a:p>
          <a:p>
            <a:pPr algn="just">
              <a:spcBef>
                <a:spcPct val="0"/>
              </a:spcBef>
              <a:buClr>
                <a:schemeClr val="tx2"/>
              </a:buClr>
              <a:buSzPct val="100000"/>
              <a:buFontTx/>
              <a:buNone/>
            </a:pPr>
            <a:r>
              <a:rPr lang="pl-PL" altLang="pl-PL" sz="1000" u="none" dirty="0" err="1">
                <a:latin typeface="Tenorite" panose="00000500000000000000" pitchFamily="2" charset="0"/>
              </a:rPr>
              <a:t>Henri_Fayol</a:t>
            </a:r>
            <a:endParaRPr lang="pl-PL" altLang="pl-PL" sz="2000" u="none" dirty="0">
              <a:latin typeface="Tenorite" panose="00000500000000000000" pitchFamily="2" charset="0"/>
            </a:endParaRPr>
          </a:p>
        </p:txBody>
      </p:sp>
    </p:spTree>
    <p:extLst>
      <p:ext uri="{BB962C8B-B14F-4D97-AF65-F5344CB8AC3E}">
        <p14:creationId xmlns:p14="http://schemas.microsoft.com/office/powerpoint/2010/main" val="3329516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Administrative</a:t>
            </a:r>
            <a:r>
              <a:rPr lang="pl-PL" sz="5000" dirty="0">
                <a:latin typeface="Tenorite" panose="00000500000000000000" pitchFamily="2" charset="0"/>
              </a:rPr>
              <a:t> Management</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680169" y="2763677"/>
            <a:ext cx="3798742" cy="1330643"/>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A very formalized structure with clear lines of authority from the top down (</a:t>
            </a:r>
            <a:r>
              <a:rPr lang="en-US" sz="1900" b="1" dirty="0">
                <a:solidFill>
                  <a:srgbClr val="663300"/>
                </a:solidFill>
                <a:latin typeface="Tenorite" panose="00000500000000000000" pitchFamily="2" charset="0"/>
              </a:rPr>
              <a:t>hierarchical structure</a:t>
            </a:r>
            <a:r>
              <a:rPr lang="en-US" sz="1900" dirty="0">
                <a:solidFill>
                  <a:srgbClr val="663300"/>
                </a:solidFill>
                <a:latin typeface="Tenorite" panose="00000500000000000000" pitchFamily="2" charset="0"/>
              </a:rPr>
              <a:t>).</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pic>
        <p:nvPicPr>
          <p:cNvPr id="9" name="Picture 2">
            <a:extLst>
              <a:ext uri="{FF2B5EF4-FFF2-40B4-BE49-F238E27FC236}">
                <a16:creationId xmlns:a16="http://schemas.microsoft.com/office/drawing/2014/main" id="{97387207-BDAB-47F0-C727-A6B4DC23E6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19758" y="2339193"/>
            <a:ext cx="3609603" cy="21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Prostokąt 1">
            <a:extLst>
              <a:ext uri="{FF2B5EF4-FFF2-40B4-BE49-F238E27FC236}">
                <a16:creationId xmlns:a16="http://schemas.microsoft.com/office/drawing/2014/main" id="{03023D68-927D-DC07-C7D8-D50132CB84B3}"/>
              </a:ext>
            </a:extLst>
          </p:cNvPr>
          <p:cNvSpPr/>
          <p:nvPr/>
        </p:nvSpPr>
        <p:spPr bwMode="auto">
          <a:xfrm>
            <a:off x="1354306" y="4632572"/>
            <a:ext cx="9483387" cy="1541130"/>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eaLnBrk="1" hangingPunct="1">
              <a:lnSpc>
                <a:spcPct val="130000"/>
              </a:lnSpc>
              <a:spcBef>
                <a:spcPct val="45000"/>
              </a:spcBef>
              <a:buClr>
                <a:schemeClr val="tx2"/>
              </a:buClr>
              <a:buSzPct val="100000"/>
              <a:defRPr/>
            </a:pPr>
            <a:r>
              <a:rPr lang="en-US" b="1" u="none" dirty="0">
                <a:solidFill>
                  <a:schemeClr val="bg1"/>
                </a:solidFill>
                <a:effectLst>
                  <a:outerShdw blurRad="38100" dist="38100" dir="2700000" algn="tl">
                    <a:srgbClr val="000000">
                      <a:alpha val="43137"/>
                    </a:srgbClr>
                  </a:outerShdw>
                </a:effectLst>
                <a:latin typeface="Tenorite" panose="00000500000000000000" pitchFamily="2" charset="0"/>
              </a:rPr>
              <a:t>At the top is the board of directors who give directions to the CEO, who in turn gives directions the vice presidents of each corporate division. The vice presidents will then give directions to their middle managers, who in turn give directions to supervisors down to individual employees</a:t>
            </a:r>
          </a:p>
        </p:txBody>
      </p:sp>
    </p:spTree>
    <p:extLst>
      <p:ext uri="{BB962C8B-B14F-4D97-AF65-F5344CB8AC3E}">
        <p14:creationId xmlns:p14="http://schemas.microsoft.com/office/powerpoint/2010/main" val="2966683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Administrative</a:t>
            </a:r>
            <a:r>
              <a:rPr lang="pl-PL" sz="5000" dirty="0">
                <a:latin typeface="Tenorite" panose="00000500000000000000" pitchFamily="2" charset="0"/>
              </a:rPr>
              <a:t> Management</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485262" y="2758600"/>
            <a:ext cx="4983761" cy="1843390"/>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Division of labor </a:t>
            </a:r>
            <a:r>
              <a:rPr lang="en-US" sz="1900" dirty="0">
                <a:solidFill>
                  <a:srgbClr val="663300"/>
                </a:solidFill>
                <a:latin typeface="Tenorite" panose="00000500000000000000" pitchFamily="2" charset="0"/>
              </a:rPr>
              <a:t>- each department is responsible for a particular aspect of the organization's activities towards the achievement of organizational goals.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pic>
        <p:nvPicPr>
          <p:cNvPr id="9" name="Picture 2">
            <a:extLst>
              <a:ext uri="{FF2B5EF4-FFF2-40B4-BE49-F238E27FC236}">
                <a16:creationId xmlns:a16="http://schemas.microsoft.com/office/drawing/2014/main" id="{97387207-BDAB-47F0-C727-A6B4DC23E6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32886" y="2153609"/>
            <a:ext cx="3609603" cy="21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Prostokąt 1">
            <a:extLst>
              <a:ext uri="{FF2B5EF4-FFF2-40B4-BE49-F238E27FC236}">
                <a16:creationId xmlns:a16="http://schemas.microsoft.com/office/drawing/2014/main" id="{03023D68-927D-DC07-C7D8-D50132CB84B3}"/>
              </a:ext>
            </a:extLst>
          </p:cNvPr>
          <p:cNvSpPr/>
          <p:nvPr/>
        </p:nvSpPr>
        <p:spPr bwMode="auto">
          <a:xfrm>
            <a:off x="1354305" y="4677219"/>
            <a:ext cx="9483387" cy="1670856"/>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a:lnSpc>
                <a:spcPct val="130000"/>
              </a:lnSpc>
              <a:spcBef>
                <a:spcPct val="45000"/>
              </a:spcBef>
              <a:buClr>
                <a:schemeClr val="tx2"/>
              </a:buClr>
              <a:buSzPct val="100000"/>
              <a:defRPr/>
            </a:pPr>
            <a:r>
              <a:rPr lang="en-US" sz="1500" b="1" u="none" dirty="0">
                <a:solidFill>
                  <a:schemeClr val="bg1"/>
                </a:solidFill>
                <a:effectLst>
                  <a:outerShdw blurRad="38100" dist="38100" dir="2700000" algn="tl">
                    <a:srgbClr val="000000">
                      <a:alpha val="43137"/>
                    </a:srgbClr>
                  </a:outerShdw>
                </a:effectLst>
                <a:latin typeface="Tenorite" panose="00000500000000000000" pitchFamily="2" charset="0"/>
              </a:rPr>
              <a:t>Large corporation may have a production division, marketing division, distribution division, and administrative division.</a:t>
            </a:r>
            <a:r>
              <a:rPr lang="pl-PL" sz="1500" b="1" u="none" dirty="0">
                <a:solidFill>
                  <a:schemeClr val="bg1"/>
                </a:solidFill>
                <a:effectLst>
                  <a:outerShdw blurRad="38100" dist="38100" dir="2700000" algn="tl">
                    <a:srgbClr val="000000">
                      <a:alpha val="43137"/>
                    </a:srgbClr>
                  </a:outerShdw>
                </a:effectLst>
                <a:latin typeface="Tenorite" panose="00000500000000000000" pitchFamily="2" charset="0"/>
              </a:rPr>
              <a:t> </a:t>
            </a:r>
            <a:r>
              <a:rPr lang="en-US" sz="1600" b="1" u="none" dirty="0">
                <a:solidFill>
                  <a:schemeClr val="bg1"/>
                </a:solidFill>
              </a:rPr>
              <a:t>Each works on a particular aspect of the company's business: the production division produces the products, the marketing division markets the products, the distribution division sends the products to customers or retailers, and the administrative division provides administrative support to the other divisions.</a:t>
            </a:r>
          </a:p>
          <a:p>
            <a:pPr algn="just" eaLnBrk="1" hangingPunct="1">
              <a:lnSpc>
                <a:spcPct val="130000"/>
              </a:lnSpc>
              <a:spcBef>
                <a:spcPct val="45000"/>
              </a:spcBef>
              <a:buClr>
                <a:schemeClr val="tx2"/>
              </a:buClr>
              <a:buSzPct val="100000"/>
              <a:defRPr/>
            </a:pPr>
            <a:endParaRPr lang="en-US" sz="1500" b="1" u="none" dirty="0">
              <a:solidFill>
                <a:schemeClr val="bg1"/>
              </a:solidFill>
              <a:effectLst>
                <a:outerShdw blurRad="38100" dist="38100" dir="2700000" algn="tl">
                  <a:srgbClr val="000000">
                    <a:alpha val="43137"/>
                  </a:srgbClr>
                </a:outerShdw>
              </a:effectLst>
              <a:latin typeface="Tenorite" panose="00000500000000000000" pitchFamily="2" charset="0"/>
            </a:endParaRPr>
          </a:p>
        </p:txBody>
      </p:sp>
      <p:sp>
        <p:nvSpPr>
          <p:cNvPr id="7" name="TextBox 1">
            <a:extLst>
              <a:ext uri="{FF2B5EF4-FFF2-40B4-BE49-F238E27FC236}">
                <a16:creationId xmlns:a16="http://schemas.microsoft.com/office/drawing/2014/main" id="{DFF4DE35-FC01-9648-08DB-7F512E4EE557}"/>
              </a:ext>
            </a:extLst>
          </p:cNvPr>
          <p:cNvSpPr txBox="1">
            <a:spLocks noChangeArrowheads="1"/>
          </p:cNvSpPr>
          <p:nvPr/>
        </p:nvSpPr>
        <p:spPr bwMode="auto">
          <a:xfrm>
            <a:off x="7692839" y="4335290"/>
            <a:ext cx="1177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pl-PL" altLang="pl-PL" sz="1200" b="1" u="none" dirty="0">
                <a:latin typeface="Tenorite" panose="00000500000000000000" pitchFamily="2" charset="0"/>
              </a:rPr>
              <a:t>Marketing</a:t>
            </a:r>
          </a:p>
        </p:txBody>
      </p:sp>
      <p:sp>
        <p:nvSpPr>
          <p:cNvPr id="8" name="TextBox 8">
            <a:extLst>
              <a:ext uri="{FF2B5EF4-FFF2-40B4-BE49-F238E27FC236}">
                <a16:creationId xmlns:a16="http://schemas.microsoft.com/office/drawing/2014/main" id="{66DB5582-06C3-3163-D055-40375619284C}"/>
              </a:ext>
            </a:extLst>
          </p:cNvPr>
          <p:cNvSpPr txBox="1">
            <a:spLocks noChangeArrowheads="1"/>
          </p:cNvSpPr>
          <p:nvPr/>
        </p:nvSpPr>
        <p:spPr bwMode="auto">
          <a:xfrm>
            <a:off x="8866001" y="4327352"/>
            <a:ext cx="1177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pl-PL" altLang="pl-PL" sz="1200" b="1" u="none" dirty="0" err="1">
                <a:latin typeface="Tenorite" panose="00000500000000000000" pitchFamily="2" charset="0"/>
              </a:rPr>
              <a:t>Production</a:t>
            </a:r>
            <a:endParaRPr lang="pl-PL" altLang="pl-PL" sz="1200" b="1" u="none" dirty="0">
              <a:latin typeface="Tenorite" panose="00000500000000000000" pitchFamily="2" charset="0"/>
            </a:endParaRPr>
          </a:p>
        </p:txBody>
      </p:sp>
      <p:sp>
        <p:nvSpPr>
          <p:cNvPr id="11" name="TextBox 9">
            <a:extLst>
              <a:ext uri="{FF2B5EF4-FFF2-40B4-BE49-F238E27FC236}">
                <a16:creationId xmlns:a16="http://schemas.microsoft.com/office/drawing/2014/main" id="{BE04C0FD-B6AA-1639-67A1-CA5A0AA68FDC}"/>
              </a:ext>
            </a:extLst>
          </p:cNvPr>
          <p:cNvSpPr txBox="1">
            <a:spLocks noChangeArrowheads="1"/>
          </p:cNvSpPr>
          <p:nvPr/>
        </p:nvSpPr>
        <p:spPr bwMode="auto">
          <a:xfrm>
            <a:off x="10064564" y="4324177"/>
            <a:ext cx="11779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pl-PL" altLang="pl-PL" sz="1200" b="1" u="none" dirty="0">
                <a:latin typeface="Tenorite" panose="00000500000000000000" pitchFamily="2" charset="0"/>
              </a:rPr>
              <a:t>Distribution</a:t>
            </a:r>
          </a:p>
        </p:txBody>
      </p:sp>
    </p:spTree>
    <p:extLst>
      <p:ext uri="{BB962C8B-B14F-4D97-AF65-F5344CB8AC3E}">
        <p14:creationId xmlns:p14="http://schemas.microsoft.com/office/powerpoint/2010/main" val="2594226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Administrative</a:t>
            </a:r>
            <a:r>
              <a:rPr lang="pl-PL" sz="5000" dirty="0">
                <a:latin typeface="Tenorite" panose="00000500000000000000" pitchFamily="2" charset="0"/>
              </a:rPr>
              <a:t> Management</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799953" y="2591877"/>
            <a:ext cx="3798742" cy="1001555"/>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Delegation of power and authority </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sp>
        <p:nvSpPr>
          <p:cNvPr id="10" name="Prostokąt 1">
            <a:extLst>
              <a:ext uri="{FF2B5EF4-FFF2-40B4-BE49-F238E27FC236}">
                <a16:creationId xmlns:a16="http://schemas.microsoft.com/office/drawing/2014/main" id="{03023D68-927D-DC07-C7D8-D50132CB84B3}"/>
              </a:ext>
            </a:extLst>
          </p:cNvPr>
          <p:cNvSpPr/>
          <p:nvPr/>
        </p:nvSpPr>
        <p:spPr bwMode="auto">
          <a:xfrm>
            <a:off x="1354306" y="5378457"/>
            <a:ext cx="9483387" cy="600634"/>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a:buClr>
                <a:schemeClr val="tx2"/>
              </a:buClr>
              <a:defRPr/>
            </a:pPr>
            <a:r>
              <a:rPr lang="en-US" sz="1600" b="1" u="none" dirty="0">
                <a:solidFill>
                  <a:schemeClr val="bg1"/>
                </a:solidFill>
                <a:effectLst>
                  <a:outerShdw blurRad="38100" dist="38100" dir="2700000" algn="tl">
                    <a:srgbClr val="000000">
                      <a:alpha val="43137"/>
                    </a:srgbClr>
                  </a:outerShdw>
                </a:effectLst>
              </a:rPr>
              <a:t>If you don't have the power and authority to engage in tasks necessary for achieving specific objectives you are charged with achieving, the organization can't meet its overall goal.</a:t>
            </a:r>
          </a:p>
          <a:p>
            <a:pPr algn="just" eaLnBrk="1" hangingPunct="1">
              <a:lnSpc>
                <a:spcPct val="130000"/>
              </a:lnSpc>
              <a:spcBef>
                <a:spcPct val="45000"/>
              </a:spcBef>
              <a:buClr>
                <a:schemeClr val="tx2"/>
              </a:buClr>
              <a:buSzPct val="100000"/>
              <a:defRPr/>
            </a:pPr>
            <a:endParaRPr lang="en-US" sz="1500" b="1" u="none" dirty="0">
              <a:solidFill>
                <a:schemeClr val="bg1"/>
              </a:solidFill>
              <a:effectLst>
                <a:outerShdw blurRad="38100" dist="38100" dir="2700000" algn="tl">
                  <a:srgbClr val="000000">
                    <a:alpha val="43137"/>
                  </a:srgbClr>
                </a:outerShdw>
              </a:effectLst>
              <a:latin typeface="Tenorite" panose="00000500000000000000" pitchFamily="2" charset="0"/>
            </a:endParaRPr>
          </a:p>
        </p:txBody>
      </p:sp>
      <p:pic>
        <p:nvPicPr>
          <p:cNvPr id="12" name="Picture 2" descr="Delegating Work">
            <a:extLst>
              <a:ext uri="{FF2B5EF4-FFF2-40B4-BE49-F238E27FC236}">
                <a16:creationId xmlns:a16="http://schemas.microsoft.com/office/drawing/2014/main" id="{A8E3D23B-0434-9F8C-78E7-F884CE278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2538138"/>
            <a:ext cx="4057650" cy="268605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842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Human-</a:t>
            </a:r>
            <a:r>
              <a:rPr lang="pl-PL" sz="5000" dirty="0" err="1">
                <a:latin typeface="Tenorite" panose="00000500000000000000" pitchFamily="2" charset="0"/>
              </a:rPr>
              <a:t>Relation</a:t>
            </a:r>
            <a:r>
              <a:rPr lang="pl-PL" sz="5000" dirty="0">
                <a:latin typeface="Tenorite" panose="00000500000000000000" pitchFamily="2" charset="0"/>
              </a:rPr>
              <a:t> School of Management</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sp>
        <p:nvSpPr>
          <p:cNvPr id="9" name="Rectangle 3">
            <a:extLst>
              <a:ext uri="{FF2B5EF4-FFF2-40B4-BE49-F238E27FC236}">
                <a16:creationId xmlns:a16="http://schemas.microsoft.com/office/drawing/2014/main" id="{BC2410F6-5C4F-0293-DDE3-150AAA1E51E1}"/>
              </a:ext>
            </a:extLst>
          </p:cNvPr>
          <p:cNvSpPr>
            <a:spLocks noChangeArrowheads="1"/>
          </p:cNvSpPr>
          <p:nvPr/>
        </p:nvSpPr>
        <p:spPr bwMode="auto">
          <a:xfrm>
            <a:off x="4768817" y="5676649"/>
            <a:ext cx="2376488" cy="59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10. Abraham Maslow</a:t>
            </a:r>
          </a:p>
          <a:p>
            <a:pPr algn="just">
              <a:spcBef>
                <a:spcPct val="0"/>
              </a:spcBef>
              <a:buClr>
                <a:schemeClr val="tx2"/>
              </a:buClr>
              <a:buSzPct val="100000"/>
              <a:buFontTx/>
              <a:buNone/>
            </a:pPr>
            <a:r>
              <a:rPr lang="pl-PL" altLang="pl-PL" sz="1000" u="none" dirty="0">
                <a:latin typeface="Tenorite" panose="00000500000000000000" pitchFamily="2" charset="0"/>
              </a:rPr>
              <a:t>Source: http://totallyhistory.com/</a:t>
            </a:r>
          </a:p>
          <a:p>
            <a:pPr algn="just">
              <a:spcBef>
                <a:spcPct val="0"/>
              </a:spcBef>
              <a:buClr>
                <a:schemeClr val="tx2"/>
              </a:buClr>
              <a:buSzPct val="100000"/>
              <a:buFontTx/>
              <a:buNone/>
            </a:pPr>
            <a:r>
              <a:rPr lang="pl-PL" altLang="pl-PL" sz="1000" u="none" dirty="0" err="1">
                <a:latin typeface="Tenorite" panose="00000500000000000000" pitchFamily="2" charset="0"/>
              </a:rPr>
              <a:t>abraham-maslow</a:t>
            </a:r>
            <a:r>
              <a:rPr lang="pl-PL" altLang="pl-PL" sz="1000" u="none" dirty="0">
                <a:latin typeface="Tenorite" panose="00000500000000000000" pitchFamily="2" charset="0"/>
              </a:rPr>
              <a:t>/</a:t>
            </a:r>
            <a:endParaRPr lang="pl-PL" altLang="pl-PL" sz="2000" u="none" dirty="0">
              <a:latin typeface="Tenorite" panose="00000500000000000000" pitchFamily="2" charset="0"/>
            </a:endParaRPr>
          </a:p>
        </p:txBody>
      </p:sp>
      <p:sp>
        <p:nvSpPr>
          <p:cNvPr id="11" name="Rectangle 3">
            <a:extLst>
              <a:ext uri="{FF2B5EF4-FFF2-40B4-BE49-F238E27FC236}">
                <a16:creationId xmlns:a16="http://schemas.microsoft.com/office/drawing/2014/main" id="{9953E66B-5BFF-E8E0-511D-65CBA1995865}"/>
              </a:ext>
            </a:extLst>
          </p:cNvPr>
          <p:cNvSpPr>
            <a:spLocks noChangeArrowheads="1"/>
          </p:cNvSpPr>
          <p:nvPr/>
        </p:nvSpPr>
        <p:spPr bwMode="auto">
          <a:xfrm>
            <a:off x="1944655" y="5676649"/>
            <a:ext cx="2376487" cy="59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9. Elton Mayo</a:t>
            </a:r>
          </a:p>
          <a:p>
            <a:pPr algn="just">
              <a:spcBef>
                <a:spcPct val="0"/>
              </a:spcBef>
              <a:buClr>
                <a:schemeClr val="tx2"/>
              </a:buClr>
              <a:buSzPct val="100000"/>
              <a:buFontTx/>
              <a:buNone/>
            </a:pPr>
            <a:r>
              <a:rPr lang="pl-PL" altLang="pl-PL" sz="1000" u="none" dirty="0">
                <a:latin typeface="Tenorite" panose="00000500000000000000" pitchFamily="2" charset="0"/>
              </a:rPr>
              <a:t>Source: https://pl.pinterest.com/pin/</a:t>
            </a:r>
          </a:p>
          <a:p>
            <a:pPr algn="just">
              <a:spcBef>
                <a:spcPct val="0"/>
              </a:spcBef>
              <a:buClr>
                <a:schemeClr val="tx2"/>
              </a:buClr>
              <a:buSzPct val="100000"/>
              <a:buFontTx/>
              <a:buNone/>
            </a:pPr>
            <a:r>
              <a:rPr lang="pl-PL" altLang="pl-PL" sz="1000" u="none" dirty="0">
                <a:latin typeface="Tenorite" panose="00000500000000000000" pitchFamily="2" charset="0"/>
              </a:rPr>
              <a:t>136374694941934990/</a:t>
            </a:r>
            <a:endParaRPr lang="pl-PL" altLang="pl-PL" sz="2000" u="none" dirty="0">
              <a:latin typeface="Tenorite" panose="00000500000000000000" pitchFamily="2" charset="0"/>
            </a:endParaRPr>
          </a:p>
        </p:txBody>
      </p:sp>
      <p:pic>
        <p:nvPicPr>
          <p:cNvPr id="13" name="Picture 6" descr="Elton Mayo - why and how workers perform on-the-job?">
            <a:extLst>
              <a:ext uri="{FF2B5EF4-FFF2-40B4-BE49-F238E27FC236}">
                <a16:creationId xmlns:a16="http://schemas.microsoft.com/office/drawing/2014/main" id="{D6A4A572-2628-B468-D9B8-2307C2DAB839}"/>
              </a:ext>
            </a:extLst>
          </p:cNvPr>
          <p:cNvPicPr>
            <a:picLocks noChangeAspect="1" noChangeArrowheads="1"/>
          </p:cNvPicPr>
          <p:nvPr/>
        </p:nvPicPr>
        <p:blipFill>
          <a:blip r:embed="rId3"/>
          <a:srcRect/>
          <a:stretch>
            <a:fillRect/>
          </a:stretch>
        </p:blipFill>
        <p:spPr bwMode="auto">
          <a:xfrm>
            <a:off x="2036444" y="2304800"/>
            <a:ext cx="2462212" cy="33035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4" name="Picture 8" descr="Znalezione obrazy dla zapytania abraham maslow">
            <a:extLst>
              <a:ext uri="{FF2B5EF4-FFF2-40B4-BE49-F238E27FC236}">
                <a16:creationId xmlns:a16="http://schemas.microsoft.com/office/drawing/2014/main" id="{AFD9EFC0-F899-2287-7283-60BCE2388842}"/>
              </a:ext>
            </a:extLst>
          </p:cNvPr>
          <p:cNvPicPr>
            <a:picLocks noChangeAspect="1" noChangeArrowheads="1"/>
          </p:cNvPicPr>
          <p:nvPr/>
        </p:nvPicPr>
        <p:blipFill>
          <a:blip r:embed="rId4"/>
          <a:srcRect/>
          <a:stretch>
            <a:fillRect/>
          </a:stretch>
        </p:blipFill>
        <p:spPr bwMode="auto">
          <a:xfrm>
            <a:off x="4844731" y="2314325"/>
            <a:ext cx="2478088" cy="331628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5" name="Picture 10" descr="Znalezione obrazy dla zapytania douglas mcgregor">
            <a:extLst>
              <a:ext uri="{FF2B5EF4-FFF2-40B4-BE49-F238E27FC236}">
                <a16:creationId xmlns:a16="http://schemas.microsoft.com/office/drawing/2014/main" id="{8FBF2F5E-B059-39FE-26C3-291B41783411}"/>
              </a:ext>
            </a:extLst>
          </p:cNvPr>
          <p:cNvPicPr>
            <a:picLocks noChangeAspect="1" noChangeArrowheads="1"/>
          </p:cNvPicPr>
          <p:nvPr/>
        </p:nvPicPr>
        <p:blipFill>
          <a:blip r:embed="rId5"/>
          <a:srcRect/>
          <a:stretch>
            <a:fillRect/>
          </a:stretch>
        </p:blipFill>
        <p:spPr bwMode="auto">
          <a:xfrm>
            <a:off x="7667306" y="2323850"/>
            <a:ext cx="2505075" cy="33258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6" name="Rectangle 3">
            <a:extLst>
              <a:ext uri="{FF2B5EF4-FFF2-40B4-BE49-F238E27FC236}">
                <a16:creationId xmlns:a16="http://schemas.microsoft.com/office/drawing/2014/main" id="{0C2B6779-EEAB-1864-9CA0-902E8637E150}"/>
              </a:ext>
            </a:extLst>
          </p:cNvPr>
          <p:cNvSpPr>
            <a:spLocks noChangeArrowheads="1"/>
          </p:cNvSpPr>
          <p:nvPr/>
        </p:nvSpPr>
        <p:spPr bwMode="auto">
          <a:xfrm>
            <a:off x="7626317" y="5676649"/>
            <a:ext cx="2376488" cy="59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just">
              <a:spcBef>
                <a:spcPct val="0"/>
              </a:spcBef>
              <a:buClr>
                <a:schemeClr val="tx2"/>
              </a:buClr>
              <a:buSzPct val="100000"/>
              <a:buFontTx/>
              <a:buNone/>
            </a:pPr>
            <a:r>
              <a:rPr lang="pl-PL" altLang="pl-PL" sz="1000" b="1" u="none" dirty="0">
                <a:latin typeface="Tenorite" panose="00000500000000000000" pitchFamily="2" charset="0"/>
              </a:rPr>
              <a:t>Fig. 11. Douglas </a:t>
            </a:r>
            <a:r>
              <a:rPr lang="pl-PL" altLang="pl-PL" sz="1000" b="1" u="none" dirty="0" err="1">
                <a:latin typeface="Tenorite" panose="00000500000000000000" pitchFamily="2" charset="0"/>
              </a:rPr>
              <a:t>McGregor</a:t>
            </a:r>
            <a:endParaRPr lang="pl-PL" altLang="pl-PL" sz="1000" b="1" u="none" dirty="0">
              <a:latin typeface="Tenorite" panose="00000500000000000000" pitchFamily="2" charset="0"/>
            </a:endParaRPr>
          </a:p>
          <a:p>
            <a:pPr algn="just">
              <a:spcBef>
                <a:spcPct val="0"/>
              </a:spcBef>
              <a:buClr>
                <a:schemeClr val="tx2"/>
              </a:buClr>
              <a:buSzPct val="100000"/>
              <a:buFontTx/>
              <a:buNone/>
            </a:pPr>
            <a:r>
              <a:rPr lang="pl-PL" altLang="pl-PL" sz="1000" u="none" dirty="0">
                <a:latin typeface="Tenorite" panose="00000500000000000000" pitchFamily="2" charset="0"/>
              </a:rPr>
              <a:t>Source: http://club-barcelona1.blogs pot.com/2007/09/</a:t>
            </a:r>
            <a:r>
              <a:rPr lang="pl-PL" altLang="pl-PL" sz="1000" u="none" dirty="0" err="1">
                <a:latin typeface="Tenorite" panose="00000500000000000000" pitchFamily="2" charset="0"/>
              </a:rPr>
              <a:t>american-sociologist</a:t>
            </a:r>
            <a:r>
              <a:rPr lang="pl-PL" altLang="pl-PL" sz="1000" u="none" dirty="0">
                <a:latin typeface="Tenorite" panose="00000500000000000000" pitchFamily="2" charset="0"/>
              </a:rPr>
              <a:t> -douglas-mcgregor.html</a:t>
            </a:r>
            <a:endParaRPr lang="pl-PL" altLang="pl-PL" sz="2000" u="none" dirty="0">
              <a:latin typeface="Tenorite" panose="00000500000000000000" pitchFamily="2" charset="0"/>
            </a:endParaRPr>
          </a:p>
        </p:txBody>
      </p:sp>
    </p:spTree>
    <p:extLst>
      <p:ext uri="{BB962C8B-B14F-4D97-AF65-F5344CB8AC3E}">
        <p14:creationId xmlns:p14="http://schemas.microsoft.com/office/powerpoint/2010/main" val="3924805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857839" y="723442"/>
            <a:ext cx="6476322" cy="1453003"/>
          </a:xfrm>
        </p:spPr>
        <p:txBody>
          <a:bodyPr wrap="square" rtlCol="0" anchor="b">
            <a:normAutofit fontScale="90000"/>
          </a:bodyPr>
          <a:lstStyle/>
          <a:p>
            <a:pPr rtl="0"/>
            <a:r>
              <a:rPr lang="en-US" sz="5000" dirty="0">
                <a:latin typeface="Tenorite" panose="00000500000000000000" pitchFamily="2" charset="0"/>
              </a:rPr>
              <a:t>Elton Mayo – </a:t>
            </a:r>
            <a:br>
              <a:rPr lang="pl-PL" sz="5000" dirty="0">
                <a:latin typeface="Tenorite" panose="00000500000000000000" pitchFamily="2" charset="0"/>
              </a:rPr>
            </a:br>
            <a:r>
              <a:rPr lang="en-US" sz="5000" dirty="0">
                <a:latin typeface="Tenorite" panose="00000500000000000000" pitchFamily="2" charset="0"/>
              </a:rPr>
              <a:t>Hawthorne Studies</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a:solidFill>
                  <a:srgbClr val="663300"/>
                </a:solidFill>
                <a:latin typeface="Tenorite" panose="00000500000000000000" pitchFamily="2" charset="0"/>
              </a:rPr>
              <a:t>Schools of Management 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pic>
        <p:nvPicPr>
          <p:cNvPr id="3" name="Picture 2" descr="Znalezione obrazy dla zapytania hawthorne experiment">
            <a:extLst>
              <a:ext uri="{FF2B5EF4-FFF2-40B4-BE49-F238E27FC236}">
                <a16:creationId xmlns:a16="http://schemas.microsoft.com/office/drawing/2014/main" id="{9A45D3CC-D738-2377-925D-4F366BD2837A}"/>
              </a:ext>
            </a:extLst>
          </p:cNvPr>
          <p:cNvPicPr>
            <a:picLocks noChangeAspect="1" noChangeArrowheads="1"/>
          </p:cNvPicPr>
          <p:nvPr/>
        </p:nvPicPr>
        <p:blipFill>
          <a:blip r:embed="rId3"/>
          <a:srcRect/>
          <a:stretch>
            <a:fillRect/>
          </a:stretch>
        </p:blipFill>
        <p:spPr bwMode="auto">
          <a:xfrm>
            <a:off x="2754312" y="2731078"/>
            <a:ext cx="6683377" cy="34363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920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Elton Mayo - </a:t>
            </a:r>
            <a:r>
              <a:rPr lang="pl-PL" sz="5000" dirty="0" err="1">
                <a:latin typeface="Tenorite" panose="00000500000000000000" pitchFamily="2" charset="0"/>
              </a:rPr>
              <a:t>Hawthorne</a:t>
            </a:r>
            <a:r>
              <a:rPr lang="pl-PL" sz="5000" dirty="0">
                <a:latin typeface="Tenorite" panose="00000500000000000000" pitchFamily="2" charset="0"/>
              </a:rPr>
              <a:t> </a:t>
            </a:r>
            <a:r>
              <a:rPr lang="pl-PL" sz="5000" dirty="0" err="1">
                <a:latin typeface="Tenorite" panose="00000500000000000000" pitchFamily="2" charset="0"/>
              </a:rPr>
              <a:t>Studies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799953" y="2591877"/>
            <a:ext cx="5386910" cy="35594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Elton Mayo was curious about ways to increase productivity in organizations. After being awarded a grant by the National Research Council of the National Academy of Sciences, he decided to study productivity at the Western Electric factory, Hawthorne Works, in Chicago. Initially, he thought that lighting levels would have an impact on worker productivity, and he predicted that the more light there was, the more productive the worker would be.</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pic>
        <p:nvPicPr>
          <p:cNvPr id="12" name="Picture 2" descr="ins02.gif">
            <a:extLst>
              <a:ext uri="{FF2B5EF4-FFF2-40B4-BE49-F238E27FC236}">
                <a16:creationId xmlns:a16="http://schemas.microsoft.com/office/drawing/2014/main" id="{68503B11-2CF4-6343-D45A-351FD5DC470E}"/>
              </a:ext>
            </a:extLst>
          </p:cNvPr>
          <p:cNvPicPr>
            <a:picLocks noChangeAspect="1" noChangeArrowheads="1"/>
          </p:cNvPicPr>
          <p:nvPr/>
        </p:nvPicPr>
        <p:blipFill>
          <a:blip r:embed="rId3"/>
          <a:srcRect/>
          <a:stretch>
            <a:fillRect/>
          </a:stretch>
        </p:blipFill>
        <p:spPr bwMode="auto">
          <a:xfrm>
            <a:off x="7675863" y="2277293"/>
            <a:ext cx="4068762" cy="40798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89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Elton Mayo - </a:t>
            </a:r>
            <a:r>
              <a:rPr lang="pl-PL" sz="5000" dirty="0" err="1">
                <a:latin typeface="Tenorite" panose="00000500000000000000" pitchFamily="2" charset="0"/>
              </a:rPr>
              <a:t>Hawthorne</a:t>
            </a:r>
            <a:r>
              <a:rPr lang="pl-PL" sz="5000" dirty="0">
                <a:latin typeface="Tenorite" panose="00000500000000000000" pitchFamily="2" charset="0"/>
              </a:rPr>
              <a:t> </a:t>
            </a:r>
            <a:r>
              <a:rPr lang="pl-PL" sz="5000" dirty="0" err="1">
                <a:latin typeface="Tenorite" panose="00000500000000000000" pitchFamily="2" charset="0"/>
              </a:rPr>
              <a:t>Studies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402543" y="4414401"/>
            <a:ext cx="5386910" cy="1453003"/>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The presence of the researcher and the attention that the workers received during these tests seemed to be </a:t>
            </a:r>
            <a:r>
              <a:rPr lang="pl-PL" sz="1900" dirty="0">
                <a:solidFill>
                  <a:srgbClr val="663300"/>
                </a:solidFill>
                <a:latin typeface="Tenorite" panose="00000500000000000000" pitchFamily="2" charset="0"/>
              </a:rPr>
              <a:t>the </a:t>
            </a:r>
            <a:r>
              <a:rPr lang="pl-PL" sz="1900" dirty="0" err="1">
                <a:solidFill>
                  <a:srgbClr val="663300"/>
                </a:solidFill>
                <a:latin typeface="Tenorite" panose="00000500000000000000" pitchFamily="2" charset="0"/>
              </a:rPr>
              <a:t>reason</a:t>
            </a:r>
            <a:r>
              <a:rPr lang="pl-PL" sz="1900" dirty="0">
                <a:solidFill>
                  <a:srgbClr val="663300"/>
                </a:solidFill>
                <a:latin typeface="Tenorite" panose="00000500000000000000" pitchFamily="2" charset="0"/>
              </a:rPr>
              <a:t> of</a:t>
            </a:r>
            <a:r>
              <a:rPr lang="en-US" sz="1900" dirty="0">
                <a:solidFill>
                  <a:srgbClr val="663300"/>
                </a:solidFill>
                <a:latin typeface="Tenorite" panose="00000500000000000000" pitchFamily="2" charset="0"/>
              </a:rPr>
              <a:t> increased employee productivity.</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sp>
        <p:nvSpPr>
          <p:cNvPr id="7" name="Prostokąt 1">
            <a:extLst>
              <a:ext uri="{FF2B5EF4-FFF2-40B4-BE49-F238E27FC236}">
                <a16:creationId xmlns:a16="http://schemas.microsoft.com/office/drawing/2014/main" id="{72088C32-4FC8-715B-C2E5-80AA121066CB}"/>
              </a:ext>
            </a:extLst>
          </p:cNvPr>
          <p:cNvSpPr/>
          <p:nvPr/>
        </p:nvSpPr>
        <p:spPr bwMode="auto">
          <a:xfrm>
            <a:off x="3292014" y="2611673"/>
            <a:ext cx="5607969" cy="1097939"/>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a:spcBef>
                <a:spcPct val="0"/>
              </a:spcBef>
              <a:buClr>
                <a:schemeClr val="tx2"/>
              </a:buClr>
              <a:buSzTx/>
              <a:buFontTx/>
              <a:buNone/>
            </a:pPr>
            <a:r>
              <a:rPr lang="en-US" altLang="pl-PL" sz="1600" b="1" u="none" dirty="0">
                <a:solidFill>
                  <a:schemeClr val="bg1"/>
                </a:solidFill>
              </a:rPr>
              <a:t>After three years of studying lighting, Mayo realized that lighting had no impact at all on </a:t>
            </a:r>
            <a:r>
              <a:rPr lang="pl-PL" altLang="pl-PL" sz="1600" b="1" u="none" dirty="0" err="1">
                <a:solidFill>
                  <a:schemeClr val="bg1"/>
                </a:solidFill>
              </a:rPr>
              <a:t>his</a:t>
            </a:r>
            <a:r>
              <a:rPr lang="pl-PL" altLang="pl-PL" sz="1600" b="1" u="none" dirty="0">
                <a:solidFill>
                  <a:schemeClr val="bg1"/>
                </a:solidFill>
              </a:rPr>
              <a:t> </a:t>
            </a:r>
            <a:r>
              <a:rPr lang="en-US" altLang="pl-PL" sz="1600" b="1" u="none" dirty="0">
                <a:solidFill>
                  <a:schemeClr val="bg1"/>
                </a:solidFill>
              </a:rPr>
              <a:t>test groups</a:t>
            </a:r>
            <a:r>
              <a:rPr lang="pl-PL" altLang="pl-PL" sz="1600" b="1" u="none" dirty="0">
                <a:solidFill>
                  <a:schemeClr val="bg1"/>
                </a:solidFill>
              </a:rPr>
              <a:t> - t</a:t>
            </a:r>
            <a:r>
              <a:rPr lang="en-US" altLang="pl-PL" sz="1600" b="1" u="none" dirty="0">
                <a:solidFill>
                  <a:schemeClr val="bg1"/>
                </a:solidFill>
              </a:rPr>
              <a:t>he productivity increased with brighter intensity, but also with lower intensity</a:t>
            </a:r>
            <a:endParaRPr lang="pl-PL" altLang="pl-PL" sz="1600" b="1" u="none" dirty="0">
              <a:solidFill>
                <a:schemeClr val="bg1"/>
              </a:solidFill>
            </a:endParaRPr>
          </a:p>
        </p:txBody>
      </p:sp>
    </p:spTree>
    <p:extLst>
      <p:ext uri="{BB962C8B-B14F-4D97-AF65-F5344CB8AC3E}">
        <p14:creationId xmlns:p14="http://schemas.microsoft.com/office/powerpoint/2010/main" val="3283054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Conclusions</a:t>
            </a:r>
            <a:r>
              <a:rPr lang="pl-PL" sz="5000" dirty="0">
                <a:latin typeface="Tenorite" panose="00000500000000000000" pitchFamily="2" charset="0"/>
              </a:rPr>
              <a:t> of </a:t>
            </a:r>
            <a:r>
              <a:rPr lang="pl-PL" sz="5000" dirty="0" err="1">
                <a:latin typeface="Tenorite" panose="00000500000000000000" pitchFamily="2" charset="0"/>
              </a:rPr>
              <a:t>Hawthorne</a:t>
            </a:r>
            <a:r>
              <a:rPr lang="pl-PL" sz="5000" dirty="0">
                <a:latin typeface="Tenorite" panose="00000500000000000000" pitchFamily="2" charset="0"/>
              </a:rPr>
              <a:t> </a:t>
            </a:r>
            <a:r>
              <a:rPr lang="pl-PL" sz="5000" dirty="0" err="1">
                <a:latin typeface="Tenorite" panose="00000500000000000000" pitchFamily="2" charset="0"/>
              </a:rPr>
              <a:t>Studies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115055" y="2789777"/>
            <a:ext cx="7961887"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Workers’ attitudes </a:t>
            </a:r>
            <a:r>
              <a:rPr lang="en-US" sz="2000" dirty="0">
                <a:solidFill>
                  <a:srgbClr val="663300"/>
                </a:solidFill>
                <a:latin typeface="Tenorite" panose="00000500000000000000" pitchFamily="2" charset="0"/>
              </a:rPr>
              <a:t>are associated with productivity.</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Workplace is a social system and </a:t>
            </a:r>
            <a:r>
              <a:rPr lang="en-US" sz="2000" b="1" dirty="0">
                <a:solidFill>
                  <a:srgbClr val="663300"/>
                </a:solidFill>
                <a:latin typeface="Tenorite" panose="00000500000000000000" pitchFamily="2" charset="0"/>
              </a:rPr>
              <a:t>informal group influence</a:t>
            </a:r>
            <a:r>
              <a:rPr lang="en-US" sz="2000" dirty="0">
                <a:solidFill>
                  <a:srgbClr val="663300"/>
                </a:solidFill>
                <a:latin typeface="Tenorite" panose="00000500000000000000" pitchFamily="2" charset="0"/>
              </a:rPr>
              <a:t> could exert a powerful effect on individual behavior.</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a:t>
            </a:r>
            <a:r>
              <a:rPr lang="en-US" sz="2000" b="1" dirty="0">
                <a:solidFill>
                  <a:srgbClr val="663300"/>
                </a:solidFill>
                <a:latin typeface="Tenorite" panose="00000500000000000000" pitchFamily="2" charset="0"/>
              </a:rPr>
              <a:t>style of supervision</a:t>
            </a:r>
            <a:r>
              <a:rPr lang="en-US" sz="2000" dirty="0">
                <a:solidFill>
                  <a:srgbClr val="663300"/>
                </a:solidFill>
                <a:latin typeface="Tenorite" panose="00000500000000000000" pitchFamily="2" charset="0"/>
              </a:rPr>
              <a:t> is an important factor in increasing workers’ job satisfaction.</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Organization should take steps to assist employees in adjusting to organizational life by </a:t>
            </a:r>
            <a:r>
              <a:rPr lang="en-US" sz="2000" b="1" dirty="0">
                <a:solidFill>
                  <a:srgbClr val="663300"/>
                </a:solidFill>
                <a:latin typeface="Tenorite" panose="00000500000000000000" pitchFamily="2" charset="0"/>
              </a:rPr>
              <a:t>fostering collaborative systems between labor and management</a:t>
            </a:r>
            <a:r>
              <a:rPr lang="en-US" sz="2000" dirty="0">
                <a:solidFill>
                  <a:srgbClr val="663300"/>
                </a:solidFill>
                <a:latin typeface="Tenorite" panose="00000500000000000000" pitchFamily="2" charset="0"/>
              </a:rPr>
              <a:t>.</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034945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en-US" sz="5000" dirty="0">
                <a:latin typeface="Tenorite" panose="00000500000000000000" pitchFamily="2" charset="0"/>
              </a:rPr>
              <a:t>Douglas McGregor - Theory X and theory Y</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931821" y="2789777"/>
            <a:ext cx="8328356"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Theory X managers tend to take a </a:t>
            </a:r>
            <a:r>
              <a:rPr lang="en-US" sz="2000" b="1" dirty="0">
                <a:solidFill>
                  <a:srgbClr val="663300"/>
                </a:solidFill>
                <a:latin typeface="Tenorite" panose="00000500000000000000" pitchFamily="2" charset="0"/>
              </a:rPr>
              <a:t>pessimistic view </a:t>
            </a:r>
            <a:r>
              <a:rPr lang="en-US" sz="2000" dirty="0">
                <a:solidFill>
                  <a:srgbClr val="663300"/>
                </a:solidFill>
                <a:latin typeface="Tenorite" panose="00000500000000000000" pitchFamily="2" charset="0"/>
              </a:rPr>
              <a:t>of their people, and assume that they are naturally </a:t>
            </a:r>
            <a:r>
              <a:rPr lang="en-US" sz="2000" b="1" dirty="0">
                <a:solidFill>
                  <a:srgbClr val="663300"/>
                </a:solidFill>
                <a:latin typeface="Tenorite" panose="00000500000000000000" pitchFamily="2" charset="0"/>
              </a:rPr>
              <a:t>unmotivated</a:t>
            </a:r>
            <a:r>
              <a:rPr lang="en-US" sz="2000" dirty="0">
                <a:solidFill>
                  <a:srgbClr val="663300"/>
                </a:solidFill>
                <a:latin typeface="Tenorite" panose="00000500000000000000" pitchFamily="2" charset="0"/>
              </a:rPr>
              <a:t> and </a:t>
            </a:r>
            <a:r>
              <a:rPr lang="en-US" sz="2000" b="1" dirty="0">
                <a:solidFill>
                  <a:srgbClr val="663300"/>
                </a:solidFill>
                <a:latin typeface="Tenorite" panose="00000500000000000000" pitchFamily="2" charset="0"/>
              </a:rPr>
              <a:t>dislike work</a:t>
            </a:r>
            <a:r>
              <a:rPr lang="en-US" sz="2000" dirty="0">
                <a:solidFill>
                  <a:srgbClr val="663300"/>
                </a:solidFill>
                <a:latin typeface="Tenorite" panose="00000500000000000000" pitchFamily="2" charset="0"/>
              </a:rPr>
              <a:t>. As a result, they think that team members need to be </a:t>
            </a:r>
            <a:r>
              <a:rPr lang="en-US" sz="2000" b="1" dirty="0">
                <a:solidFill>
                  <a:srgbClr val="663300"/>
                </a:solidFill>
                <a:latin typeface="Tenorite" panose="00000500000000000000" pitchFamily="2" charset="0"/>
              </a:rPr>
              <a:t>prompted, rewarded </a:t>
            </a:r>
            <a:r>
              <a:rPr lang="en-US" sz="2000" dirty="0">
                <a:solidFill>
                  <a:srgbClr val="663300"/>
                </a:solidFill>
                <a:latin typeface="Tenorite" panose="00000500000000000000" pitchFamily="2" charset="0"/>
              </a:rPr>
              <a:t>or </a:t>
            </a:r>
            <a:r>
              <a:rPr lang="en-US" sz="2000" b="1" dirty="0">
                <a:solidFill>
                  <a:srgbClr val="663300"/>
                </a:solidFill>
                <a:latin typeface="Tenorite" panose="00000500000000000000" pitchFamily="2" charset="0"/>
              </a:rPr>
              <a:t>punished</a:t>
            </a:r>
            <a:r>
              <a:rPr lang="en-US" sz="2000" dirty="0">
                <a:solidFill>
                  <a:srgbClr val="663300"/>
                </a:solidFill>
                <a:latin typeface="Tenorite" panose="00000500000000000000" pitchFamily="2" charset="0"/>
              </a:rPr>
              <a:t> constantly to make sure that they complete their tasks.</a:t>
            </a:r>
          </a:p>
          <a:p>
            <a:pPr marL="457200" indent="-457200" algn="just" rtl="0">
              <a:lnSpc>
                <a:spcPct val="100000"/>
              </a:lnSpc>
              <a:buClr>
                <a:srgbClr val="663300"/>
              </a:buClr>
              <a:buFont typeface="Arial" panose="020B0604020202020204" pitchFamily="34" charset="0"/>
              <a:buChar char="•"/>
            </a:pPr>
            <a:r>
              <a:rPr lang="pl-PL" sz="2000" dirty="0" err="1">
                <a:solidFill>
                  <a:srgbClr val="663300"/>
                </a:solidFill>
                <a:latin typeface="Tenorite" panose="00000500000000000000" pitchFamily="2" charset="0"/>
              </a:rPr>
              <a:t>Tasks</a:t>
            </a:r>
            <a:r>
              <a:rPr lang="en-US" sz="2000" dirty="0">
                <a:solidFill>
                  <a:srgbClr val="663300"/>
                </a:solidFill>
                <a:latin typeface="Tenorite" panose="00000500000000000000" pitchFamily="2" charset="0"/>
              </a:rPr>
              <a:t> in organizations that are managed like this can be repetitive</a:t>
            </a:r>
            <a:r>
              <a:rPr lang="pl-PL" sz="2000" dirty="0">
                <a:solidFill>
                  <a:srgbClr val="663300"/>
                </a:solidFill>
                <a:latin typeface="Tenorite" panose="00000500000000000000" pitchFamily="2" charset="0"/>
              </a:rPr>
              <a:t> </a:t>
            </a:r>
            <a:r>
              <a:rPr lang="en-US" sz="2000" dirty="0">
                <a:solidFill>
                  <a:srgbClr val="663300"/>
                </a:solidFill>
                <a:latin typeface="Tenorite" panose="00000500000000000000" pitchFamily="2" charset="0"/>
              </a:rPr>
              <a:t>and people are often motivated with a "carrot and stick" approach. Performance appraisals and re</a:t>
            </a:r>
            <a:r>
              <a:rPr lang="pl-PL" sz="2000" dirty="0">
                <a:solidFill>
                  <a:srgbClr val="663300"/>
                </a:solidFill>
                <a:latin typeface="Tenorite" panose="00000500000000000000" pitchFamily="2" charset="0"/>
              </a:rPr>
              <a:t>n</a:t>
            </a:r>
            <a:r>
              <a:rPr lang="en-US" sz="2000" dirty="0">
                <a:solidFill>
                  <a:srgbClr val="663300"/>
                </a:solidFill>
                <a:latin typeface="Tenorite" panose="00000500000000000000" pitchFamily="2" charset="0"/>
              </a:rPr>
              <a:t>u</a:t>
            </a:r>
            <a:r>
              <a:rPr lang="pl-PL" sz="2000" dirty="0">
                <a:solidFill>
                  <a:srgbClr val="663300"/>
                </a:solidFill>
                <a:latin typeface="Tenorite" panose="00000500000000000000" pitchFamily="2" charset="0"/>
              </a:rPr>
              <a:t>m</a:t>
            </a:r>
            <a:r>
              <a:rPr lang="en-US" sz="2000" dirty="0" err="1">
                <a:solidFill>
                  <a:srgbClr val="663300"/>
                </a:solidFill>
                <a:latin typeface="Tenorite" panose="00000500000000000000" pitchFamily="2" charset="0"/>
              </a:rPr>
              <a:t>eration</a:t>
            </a:r>
            <a:r>
              <a:rPr lang="en-US" sz="2000" dirty="0">
                <a:solidFill>
                  <a:srgbClr val="663300"/>
                </a:solidFill>
                <a:latin typeface="Tenorite" panose="00000500000000000000" pitchFamily="2" charset="0"/>
              </a:rPr>
              <a:t> are usually based on tangible results, such as sales figures or product output, and are used to control staff and "keep tabs" on them.</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pic>
        <p:nvPicPr>
          <p:cNvPr id="7" name="Picture 5">
            <a:extLst>
              <a:ext uri="{FF2B5EF4-FFF2-40B4-BE49-F238E27FC236}">
                <a16:creationId xmlns:a16="http://schemas.microsoft.com/office/drawing/2014/main" id="{F60BC8EC-154B-D359-5AAD-675CF16CB0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414088" y="586813"/>
            <a:ext cx="2328862"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1300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en-US" sz="5000">
                <a:latin typeface="Tenorite" panose="00000500000000000000" pitchFamily="2" charset="0"/>
              </a:rPr>
              <a:t>Douglas McGregor - Theory X and theory Y</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931821" y="2789777"/>
            <a:ext cx="8328356"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Theory Y managers have an </a:t>
            </a:r>
            <a:r>
              <a:rPr lang="en-US" sz="2000" b="1" dirty="0">
                <a:solidFill>
                  <a:srgbClr val="663300"/>
                </a:solidFill>
                <a:latin typeface="Tenorite" panose="00000500000000000000" pitchFamily="2" charset="0"/>
              </a:rPr>
              <a:t>optimistic, positive opinion </a:t>
            </a:r>
            <a:r>
              <a:rPr lang="en-US" sz="2000" dirty="0">
                <a:solidFill>
                  <a:srgbClr val="663300"/>
                </a:solidFill>
                <a:latin typeface="Tenorite" panose="00000500000000000000" pitchFamily="2" charset="0"/>
              </a:rPr>
              <a:t>of their people, and they use a </a:t>
            </a:r>
            <a:r>
              <a:rPr lang="en-US" sz="2000" b="1" dirty="0">
                <a:solidFill>
                  <a:srgbClr val="663300"/>
                </a:solidFill>
                <a:latin typeface="Tenorite" panose="00000500000000000000" pitchFamily="2" charset="0"/>
              </a:rPr>
              <a:t>decentralized, participative management </a:t>
            </a:r>
            <a:r>
              <a:rPr lang="en-US" sz="2000" dirty="0">
                <a:solidFill>
                  <a:srgbClr val="663300"/>
                </a:solidFill>
                <a:latin typeface="Tenorite" panose="00000500000000000000" pitchFamily="2" charset="0"/>
              </a:rPr>
              <a:t>style. This encourages a more </a:t>
            </a:r>
            <a:r>
              <a:rPr lang="en-US" sz="2000" b="1" dirty="0">
                <a:solidFill>
                  <a:srgbClr val="663300"/>
                </a:solidFill>
                <a:latin typeface="Tenorite" panose="00000500000000000000" pitchFamily="2" charset="0"/>
              </a:rPr>
              <a:t>collaborative, trust-based relationship </a:t>
            </a:r>
            <a:r>
              <a:rPr lang="en-US" sz="2000" dirty="0">
                <a:solidFill>
                  <a:srgbClr val="663300"/>
                </a:solidFill>
                <a:latin typeface="Tenorite" panose="00000500000000000000" pitchFamily="2" charset="0"/>
              </a:rPr>
              <a:t>between managers and their team members.</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People have greater responsibility, and managers encourage them to develop their skills and suggest improvements. Appraisals are regular but, unlike in Theory X organizations, they are used to encourage open communication rather than control staff.</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a:solidFill>
                  <a:srgbClr val="663300"/>
                </a:solidFill>
                <a:latin typeface="Tenorite" panose="00000500000000000000" pitchFamily="2" charset="0"/>
              </a:rPr>
              <a:t>Schools of Management 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sz="1100" noProof="0" dirty="0">
              <a:latin typeface="Tenorite" panose="00000500000000000000" pitchFamily="2" charset="0"/>
            </a:endParaRPr>
          </a:p>
        </p:txBody>
      </p:sp>
      <p:pic>
        <p:nvPicPr>
          <p:cNvPr id="8" name="Picture 2">
            <a:extLst>
              <a:ext uri="{FF2B5EF4-FFF2-40B4-BE49-F238E27FC236}">
                <a16:creationId xmlns:a16="http://schemas.microsoft.com/office/drawing/2014/main" id="{EC315B05-CE12-9590-C6A5-561E7E7E5E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87999" y="393314"/>
            <a:ext cx="2016125" cy="207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1349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fontScale="90000"/>
          </a:bodyPr>
          <a:lstStyle/>
          <a:p>
            <a:pPr rtl="0"/>
            <a:r>
              <a:rPr lang="fr-FR" sz="5000" dirty="0">
                <a:latin typeface="Tenorite" panose="00000500000000000000" pitchFamily="2" charset="0"/>
              </a:rPr>
              <a:t>Exercise 3 – </a:t>
            </a:r>
            <a:br>
              <a:rPr lang="pl-PL" sz="5000" dirty="0">
                <a:latin typeface="Tenorite" panose="00000500000000000000" pitchFamily="2" charset="0"/>
              </a:rPr>
            </a:br>
            <a:r>
              <a:rPr lang="fr-FR" sz="5000" dirty="0">
                <a:latin typeface="Tenorite" panose="00000500000000000000" pitchFamily="2" charset="0"/>
              </a:rPr>
              <a:t>Theory X/Y</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latin typeface="Tenorite" panose="00000500000000000000" pitchFamily="2" charset="0"/>
              </a:rPr>
              <a:t>The </a:t>
            </a:r>
            <a:r>
              <a:rPr lang="pl-PL" sz="1100" dirty="0" err="1">
                <a:latin typeface="Tenorite" panose="00000500000000000000" pitchFamily="2" charset="0"/>
              </a:rPr>
              <a:t>manager’s</a:t>
            </a:r>
            <a:r>
              <a:rPr lang="pl-PL" sz="1100" dirty="0">
                <a:latin typeface="Tenorite" panose="00000500000000000000" pitchFamily="2" charset="0"/>
              </a:rPr>
              <a:t> </a:t>
            </a:r>
            <a:r>
              <a:rPr lang="pl-PL" sz="1100" dirty="0" err="1">
                <a:latin typeface="Tenorite" panose="00000500000000000000" pitchFamily="2" charset="0"/>
              </a:rPr>
              <a:t>job</a:t>
            </a:r>
            <a:endParaRPr lang="pl-PL" sz="1100" noProof="0" dirty="0">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22</a:t>
            </a:fld>
            <a:endParaRPr lang="pl-PL" sz="1100" noProof="0" dirty="0">
              <a:latin typeface="Tenorite" panose="00000500000000000000" pitchFamily="2" charset="0"/>
            </a:endParaRPr>
          </a:p>
        </p:txBody>
      </p:sp>
      <p:pic>
        <p:nvPicPr>
          <p:cNvPr id="9" name="Picture 2" descr="Znalezione obrazy dla zapytania theory X and theory Y">
            <a:extLst>
              <a:ext uri="{FF2B5EF4-FFF2-40B4-BE49-F238E27FC236}">
                <a16:creationId xmlns:a16="http://schemas.microsoft.com/office/drawing/2014/main" id="{DBCC8E98-863D-6255-0625-996F79B991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13" y="2531431"/>
            <a:ext cx="6419972" cy="3533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0561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en-US" sz="5000" dirty="0">
                <a:latin typeface="Tenorite" panose="00000500000000000000" pitchFamily="2" charset="0"/>
              </a:rPr>
              <a:t>Quantitative School of Management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931821" y="2789777"/>
            <a:ext cx="4934200"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Quantitative School of Management is a result of the research conducted during World War II.</a:t>
            </a:r>
          </a:p>
          <a:p>
            <a:pPr marL="457200" indent="-457200" algn="just" rtl="0">
              <a:lnSpc>
                <a:spcPct val="100000"/>
              </a:lnSpc>
              <a:buClr>
                <a:srgbClr val="663300"/>
              </a:buClr>
              <a:buFont typeface="Arial" panose="020B0604020202020204" pitchFamily="34" charset="0"/>
              <a:buChar char="•"/>
            </a:pPr>
            <a:r>
              <a:rPr lang="en-US" sz="2000" dirty="0">
                <a:solidFill>
                  <a:srgbClr val="663300"/>
                </a:solidFill>
                <a:latin typeface="Tenorite" panose="00000500000000000000" pitchFamily="2" charset="0"/>
              </a:rPr>
              <a:t>The Quantitative Approach to management involves the use of quantitative techniques, such as </a:t>
            </a:r>
            <a:r>
              <a:rPr lang="en-US" sz="2000" b="1" dirty="0">
                <a:solidFill>
                  <a:srgbClr val="663300"/>
                </a:solidFill>
                <a:latin typeface="Tenorite" panose="00000500000000000000" pitchFamily="2" charset="0"/>
              </a:rPr>
              <a:t>statistics</a:t>
            </a:r>
            <a:r>
              <a:rPr lang="en-US" sz="2000" dirty="0">
                <a:solidFill>
                  <a:srgbClr val="663300"/>
                </a:solidFill>
                <a:latin typeface="Tenorite" panose="00000500000000000000" pitchFamily="2" charset="0"/>
              </a:rPr>
              <a:t>, </a:t>
            </a:r>
            <a:r>
              <a:rPr lang="en-US" sz="2000" b="1" dirty="0">
                <a:solidFill>
                  <a:srgbClr val="663300"/>
                </a:solidFill>
                <a:latin typeface="Tenorite" panose="00000500000000000000" pitchFamily="2" charset="0"/>
              </a:rPr>
              <a:t>information models</a:t>
            </a:r>
            <a:r>
              <a:rPr lang="en-US" sz="2000" dirty="0">
                <a:solidFill>
                  <a:srgbClr val="663300"/>
                </a:solidFill>
                <a:latin typeface="Tenorite" panose="00000500000000000000" pitchFamily="2" charset="0"/>
              </a:rPr>
              <a:t>, and </a:t>
            </a:r>
            <a:r>
              <a:rPr lang="en-US" sz="2000" b="1" dirty="0">
                <a:solidFill>
                  <a:srgbClr val="663300"/>
                </a:solidFill>
                <a:latin typeface="Tenorite" panose="00000500000000000000" pitchFamily="2" charset="0"/>
              </a:rPr>
              <a:t>computer simulations</a:t>
            </a:r>
            <a:r>
              <a:rPr lang="en-US" sz="2000" dirty="0">
                <a:solidFill>
                  <a:srgbClr val="663300"/>
                </a:solidFill>
                <a:latin typeface="Tenorite" panose="00000500000000000000" pitchFamily="2" charset="0"/>
              </a:rPr>
              <a:t>, to improve decision making.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a:solidFill>
                  <a:srgbClr val="663300"/>
                </a:solidFill>
                <a:latin typeface="Tenorite" panose="00000500000000000000" pitchFamily="2" charset="0"/>
              </a:rPr>
              <a:t>Schools of Management 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23</a:t>
            </a:fld>
            <a:endParaRPr lang="pl-PL" sz="1100" noProof="0" dirty="0">
              <a:latin typeface="Tenorite" panose="00000500000000000000" pitchFamily="2" charset="0"/>
            </a:endParaRPr>
          </a:p>
        </p:txBody>
      </p:sp>
      <p:pic>
        <p:nvPicPr>
          <p:cNvPr id="7" name="Picture 2" descr="Podobny obraz">
            <a:extLst>
              <a:ext uri="{FF2B5EF4-FFF2-40B4-BE49-F238E27FC236}">
                <a16:creationId xmlns:a16="http://schemas.microsoft.com/office/drawing/2014/main" id="{35C7F987-1248-DFA1-45C0-9BA0B7FA7723}"/>
              </a:ext>
            </a:extLst>
          </p:cNvPr>
          <p:cNvPicPr>
            <a:picLocks noChangeAspect="1" noChangeArrowheads="1"/>
          </p:cNvPicPr>
          <p:nvPr/>
        </p:nvPicPr>
        <p:blipFill>
          <a:blip r:embed="rId3"/>
          <a:srcRect/>
          <a:stretch>
            <a:fillRect/>
          </a:stretch>
        </p:blipFill>
        <p:spPr bwMode="auto">
          <a:xfrm>
            <a:off x="7301916" y="2989344"/>
            <a:ext cx="3743325" cy="25209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361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The </a:t>
            </a:r>
            <a:r>
              <a:rPr lang="en-US" sz="5000" dirty="0">
                <a:latin typeface="Tenorite" panose="00000500000000000000" pitchFamily="2" charset="0"/>
              </a:rPr>
              <a:t>Systems </a:t>
            </a:r>
            <a:br>
              <a:rPr lang="pl-PL" sz="5000" dirty="0">
                <a:latin typeface="Tenorite" panose="00000500000000000000" pitchFamily="2" charset="0"/>
              </a:rPr>
            </a:br>
            <a:r>
              <a:rPr lang="pl-PL" sz="5000" dirty="0" err="1">
                <a:latin typeface="Tenorite" panose="00000500000000000000" pitchFamily="2" charset="0"/>
              </a:rPr>
              <a:t>Perspective</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a:solidFill>
                  <a:srgbClr val="663300"/>
                </a:solidFill>
                <a:latin typeface="Tenorite" panose="00000500000000000000" pitchFamily="2" charset="0"/>
              </a:rPr>
              <a:t>Schools of Management 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24</a:t>
            </a:fld>
            <a:endParaRPr lang="pl-PL" sz="1100" noProof="0" dirty="0">
              <a:latin typeface="Tenorite" panose="00000500000000000000" pitchFamily="2" charset="0"/>
            </a:endParaRPr>
          </a:p>
        </p:txBody>
      </p:sp>
      <p:sp>
        <p:nvSpPr>
          <p:cNvPr id="10" name="Prostokąt 1">
            <a:extLst>
              <a:ext uri="{FF2B5EF4-FFF2-40B4-BE49-F238E27FC236}">
                <a16:creationId xmlns:a16="http://schemas.microsoft.com/office/drawing/2014/main" id="{2F8C2199-7592-DDF2-048F-734FBE697599}"/>
              </a:ext>
            </a:extLst>
          </p:cNvPr>
          <p:cNvSpPr/>
          <p:nvPr/>
        </p:nvSpPr>
        <p:spPr bwMode="auto">
          <a:xfrm>
            <a:off x="4227095" y="2529516"/>
            <a:ext cx="3737810" cy="336884"/>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ctr">
              <a:spcBef>
                <a:spcPct val="0"/>
              </a:spcBef>
              <a:buClr>
                <a:schemeClr val="tx2"/>
              </a:buClr>
              <a:buSzTx/>
              <a:buFontTx/>
              <a:buNone/>
            </a:pPr>
            <a:r>
              <a:rPr lang="en-US" altLang="pl-PL" sz="1600" b="1" u="none" dirty="0">
                <a:solidFill>
                  <a:schemeClr val="bg1"/>
                </a:solidFill>
              </a:rPr>
              <a:t>Organization as an „open system”</a:t>
            </a:r>
          </a:p>
        </p:txBody>
      </p:sp>
      <p:sp>
        <p:nvSpPr>
          <p:cNvPr id="11" name="Prostokąt 10">
            <a:extLst>
              <a:ext uri="{FF2B5EF4-FFF2-40B4-BE49-F238E27FC236}">
                <a16:creationId xmlns:a16="http://schemas.microsoft.com/office/drawing/2014/main" id="{1856EE23-5800-2CAD-7ACB-F9B967FB3AA2}"/>
              </a:ext>
            </a:extLst>
          </p:cNvPr>
          <p:cNvSpPr/>
          <p:nvPr/>
        </p:nvSpPr>
        <p:spPr bwMode="auto">
          <a:xfrm>
            <a:off x="1739900" y="2939137"/>
            <a:ext cx="8712200" cy="3322637"/>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a:solidFill>
              <a:schemeClr val="tx2"/>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a:lstStyle/>
          <a:p>
            <a:pPr eaLnBrk="1" hangingPunct="1">
              <a:defRPr/>
            </a:pPr>
            <a:endParaRPr lang="pl-PL">
              <a:solidFill>
                <a:schemeClr val="tx1"/>
              </a:solidFill>
            </a:endParaRPr>
          </a:p>
        </p:txBody>
      </p:sp>
      <p:sp>
        <p:nvSpPr>
          <p:cNvPr id="12" name="pole tekstowe 11">
            <a:extLst>
              <a:ext uri="{FF2B5EF4-FFF2-40B4-BE49-F238E27FC236}">
                <a16:creationId xmlns:a16="http://schemas.microsoft.com/office/drawing/2014/main" id="{21C1AC06-9AC6-0B13-5C97-67F1E80C7B56}"/>
              </a:ext>
            </a:extLst>
          </p:cNvPr>
          <p:cNvSpPr txBox="1"/>
          <p:nvPr/>
        </p:nvSpPr>
        <p:spPr>
          <a:xfrm>
            <a:off x="3971925" y="2988349"/>
            <a:ext cx="4176713" cy="369888"/>
          </a:xfrm>
          <a:prstGeom prst="rect">
            <a:avLst/>
          </a:prstGeom>
          <a:noFill/>
        </p:spPr>
        <p:txBody>
          <a:bodyPr>
            <a:spAutoFit/>
          </a:bodyPr>
          <a:lstStyle/>
          <a:p>
            <a:pPr algn="ctr">
              <a:defRPr/>
            </a:pPr>
            <a:r>
              <a:rPr lang="pl-PL" b="1" u="none" dirty="0">
                <a:solidFill>
                  <a:schemeClr val="bg1"/>
                </a:solidFill>
                <a:effectLst>
                  <a:outerShdw blurRad="38100" dist="38100" dir="2700000" algn="tl">
                    <a:srgbClr val="000000">
                      <a:alpha val="43137"/>
                    </a:srgbClr>
                  </a:outerShdw>
                </a:effectLst>
                <a:latin typeface="Tenorite" panose="00000500000000000000" pitchFamily="2" charset="0"/>
              </a:rPr>
              <a:t>ENVIRONMENT</a:t>
            </a:r>
          </a:p>
        </p:txBody>
      </p:sp>
      <p:sp>
        <p:nvSpPr>
          <p:cNvPr id="13" name="Objaśnienie ze strzałką w prawo 5">
            <a:extLst>
              <a:ext uri="{FF2B5EF4-FFF2-40B4-BE49-F238E27FC236}">
                <a16:creationId xmlns:a16="http://schemas.microsoft.com/office/drawing/2014/main" id="{E7101678-2052-6BF4-68E3-F9C71B5F6D78}"/>
              </a:ext>
            </a:extLst>
          </p:cNvPr>
          <p:cNvSpPr>
            <a:spLocks noChangeArrowheads="1"/>
          </p:cNvSpPr>
          <p:nvPr/>
        </p:nvSpPr>
        <p:spPr bwMode="auto">
          <a:xfrm>
            <a:off x="2171700" y="3728124"/>
            <a:ext cx="2447925" cy="1728788"/>
          </a:xfrm>
          <a:prstGeom prst="rightArrowCallout">
            <a:avLst>
              <a:gd name="adj1" fmla="val 25000"/>
              <a:gd name="adj2" fmla="val 25000"/>
              <a:gd name="adj3" fmla="val 34606"/>
              <a:gd name="adj4" fmla="val 64977"/>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14" name="pole tekstowe 6">
            <a:extLst>
              <a:ext uri="{FF2B5EF4-FFF2-40B4-BE49-F238E27FC236}">
                <a16:creationId xmlns:a16="http://schemas.microsoft.com/office/drawing/2014/main" id="{C67412B1-C035-FA48-1BC5-3A20B3A2ED90}"/>
              </a:ext>
            </a:extLst>
          </p:cNvPr>
          <p:cNvSpPr txBox="1">
            <a:spLocks noChangeArrowheads="1"/>
          </p:cNvSpPr>
          <p:nvPr/>
        </p:nvSpPr>
        <p:spPr bwMode="auto">
          <a:xfrm>
            <a:off x="2181225" y="3796387"/>
            <a:ext cx="158432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INPUTS</a:t>
            </a:r>
          </a:p>
          <a:p>
            <a:pPr algn="ctr">
              <a:spcBef>
                <a:spcPct val="0"/>
              </a:spcBef>
              <a:buClrTx/>
              <a:buSzTx/>
              <a:buFontTx/>
              <a:buNone/>
            </a:pPr>
            <a:endParaRPr lang="pl-PL" altLang="pl-PL" sz="18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Information</a:t>
            </a: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Energy</a:t>
            </a: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People</a:t>
            </a:r>
          </a:p>
        </p:txBody>
      </p:sp>
      <p:sp>
        <p:nvSpPr>
          <p:cNvPr id="15" name="Objaśnienie ze strzałką w prawo 8">
            <a:extLst>
              <a:ext uri="{FF2B5EF4-FFF2-40B4-BE49-F238E27FC236}">
                <a16:creationId xmlns:a16="http://schemas.microsoft.com/office/drawing/2014/main" id="{58A0FE3D-50A6-AA56-114E-B97A4EB4F646}"/>
              </a:ext>
            </a:extLst>
          </p:cNvPr>
          <p:cNvSpPr>
            <a:spLocks noChangeArrowheads="1"/>
          </p:cNvSpPr>
          <p:nvPr/>
        </p:nvSpPr>
        <p:spPr bwMode="auto">
          <a:xfrm>
            <a:off x="4649788" y="3732887"/>
            <a:ext cx="3248025" cy="1728787"/>
          </a:xfrm>
          <a:prstGeom prst="rightArrowCallout">
            <a:avLst>
              <a:gd name="adj1" fmla="val 25000"/>
              <a:gd name="adj2" fmla="val 25000"/>
              <a:gd name="adj3" fmla="val 34610"/>
              <a:gd name="adj4" fmla="val 72389"/>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16" name="Objaśnienie ze strzałką w prawo 9">
            <a:extLst>
              <a:ext uri="{FF2B5EF4-FFF2-40B4-BE49-F238E27FC236}">
                <a16:creationId xmlns:a16="http://schemas.microsoft.com/office/drawing/2014/main" id="{C41A0DA2-7CBC-9021-828F-0186FF387EC3}"/>
              </a:ext>
            </a:extLst>
          </p:cNvPr>
          <p:cNvSpPr>
            <a:spLocks noChangeArrowheads="1"/>
          </p:cNvSpPr>
          <p:nvPr/>
        </p:nvSpPr>
        <p:spPr bwMode="auto">
          <a:xfrm>
            <a:off x="7908925" y="3705899"/>
            <a:ext cx="2449513" cy="1728788"/>
          </a:xfrm>
          <a:prstGeom prst="rightArrowCallout">
            <a:avLst>
              <a:gd name="adj1" fmla="val 25000"/>
              <a:gd name="adj2" fmla="val 25000"/>
              <a:gd name="adj3" fmla="val 34629"/>
              <a:gd name="adj4" fmla="val 64977"/>
            </a:avLst>
          </a:prstGeom>
          <a:solidFill>
            <a:srgbClr val="FFC000"/>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17" name="pole tekstowe 10">
            <a:extLst>
              <a:ext uri="{FF2B5EF4-FFF2-40B4-BE49-F238E27FC236}">
                <a16:creationId xmlns:a16="http://schemas.microsoft.com/office/drawing/2014/main" id="{A052E2B0-8DB5-0A05-AA7C-DA71CA47A4F6}"/>
              </a:ext>
            </a:extLst>
          </p:cNvPr>
          <p:cNvSpPr txBox="1">
            <a:spLocks noChangeArrowheads="1"/>
          </p:cNvSpPr>
          <p:nvPr/>
        </p:nvSpPr>
        <p:spPr bwMode="auto">
          <a:xfrm>
            <a:off x="7897813" y="3785274"/>
            <a:ext cx="15843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OUTPUTS</a:t>
            </a:r>
          </a:p>
          <a:p>
            <a:pPr algn="ctr">
              <a:spcBef>
                <a:spcPct val="0"/>
              </a:spcBef>
              <a:buClrTx/>
              <a:buSzTx/>
              <a:buFontTx/>
              <a:buNone/>
            </a:pPr>
            <a:endParaRPr lang="pl-PL" altLang="pl-PL" sz="18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Goods</a:t>
            </a:r>
            <a:endParaRPr lang="pl-PL" altLang="pl-PL" sz="16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Services</a:t>
            </a: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Ideas</a:t>
            </a:r>
            <a:endParaRPr lang="pl-PL" altLang="pl-PL" sz="1600" b="1" u="none" dirty="0">
              <a:latin typeface="Tenorite" panose="00000500000000000000" pitchFamily="2" charset="0"/>
            </a:endParaRPr>
          </a:p>
        </p:txBody>
      </p:sp>
      <p:sp>
        <p:nvSpPr>
          <p:cNvPr id="18" name="pole tekstowe 11">
            <a:extLst>
              <a:ext uri="{FF2B5EF4-FFF2-40B4-BE49-F238E27FC236}">
                <a16:creationId xmlns:a16="http://schemas.microsoft.com/office/drawing/2014/main" id="{BBC4DA06-58A0-4EA0-97B0-BA6560C6A303}"/>
              </a:ext>
            </a:extLst>
          </p:cNvPr>
          <p:cNvSpPr txBox="1">
            <a:spLocks noChangeArrowheads="1"/>
          </p:cNvSpPr>
          <p:nvPr/>
        </p:nvSpPr>
        <p:spPr bwMode="auto">
          <a:xfrm>
            <a:off x="4649788" y="3799562"/>
            <a:ext cx="2346325"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a:spcBef>
                <a:spcPct val="0"/>
              </a:spcBef>
              <a:buClrTx/>
              <a:buSzTx/>
              <a:buFontTx/>
              <a:buNone/>
            </a:pPr>
            <a:r>
              <a:rPr lang="pl-PL" altLang="pl-PL" sz="1600" b="1" u="none" dirty="0">
                <a:latin typeface="Tenorite" panose="00000500000000000000" pitchFamily="2" charset="0"/>
              </a:rPr>
              <a:t>TRANSFORMATIONS</a:t>
            </a:r>
          </a:p>
          <a:p>
            <a:pPr algn="ctr">
              <a:spcBef>
                <a:spcPct val="0"/>
              </a:spcBef>
              <a:buClrTx/>
              <a:buSzTx/>
              <a:buFontTx/>
              <a:buNone/>
            </a:pPr>
            <a:endParaRPr lang="pl-PL" altLang="pl-PL" sz="18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Social</a:t>
            </a:r>
            <a:r>
              <a:rPr lang="pl-PL" altLang="pl-PL" sz="1600" b="1" u="none" dirty="0">
                <a:latin typeface="Tenorite" panose="00000500000000000000" pitchFamily="2" charset="0"/>
              </a:rPr>
              <a:t> </a:t>
            </a:r>
            <a:r>
              <a:rPr lang="pl-PL" altLang="pl-PL" sz="1600" b="1" u="none" dirty="0" err="1">
                <a:latin typeface="Tenorite" panose="00000500000000000000" pitchFamily="2" charset="0"/>
              </a:rPr>
              <a:t>components</a:t>
            </a:r>
            <a:endParaRPr lang="pl-PL" altLang="pl-PL" sz="1600" b="1" u="none" dirty="0">
              <a:latin typeface="Tenorite" panose="00000500000000000000" pitchFamily="2" charset="0"/>
            </a:endParaRPr>
          </a:p>
          <a:p>
            <a:pPr>
              <a:spcBef>
                <a:spcPct val="0"/>
              </a:spcBef>
              <a:buClrTx/>
              <a:buSzTx/>
              <a:buFont typeface="Wingdings" panose="05000000000000000000" pitchFamily="2" charset="2"/>
              <a:buChar char="§"/>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Technological</a:t>
            </a:r>
            <a:r>
              <a:rPr lang="pl-PL" altLang="pl-PL" sz="1600" b="1" u="none" dirty="0">
                <a:latin typeface="Tenorite" panose="00000500000000000000" pitchFamily="2" charset="0"/>
              </a:rPr>
              <a:t> </a:t>
            </a:r>
          </a:p>
          <a:p>
            <a:pPr>
              <a:spcBef>
                <a:spcPct val="0"/>
              </a:spcBef>
              <a:buClrTx/>
              <a:buSzTx/>
              <a:buFontTx/>
              <a:buNone/>
            </a:pPr>
            <a:r>
              <a:rPr lang="pl-PL" altLang="pl-PL" sz="1600" b="1" u="none" dirty="0">
                <a:latin typeface="Tenorite" panose="00000500000000000000" pitchFamily="2" charset="0"/>
              </a:rPr>
              <a:t>  </a:t>
            </a:r>
            <a:r>
              <a:rPr lang="pl-PL" altLang="pl-PL" sz="1600" b="1" u="none" dirty="0" err="1">
                <a:latin typeface="Tenorite" panose="00000500000000000000" pitchFamily="2" charset="0"/>
              </a:rPr>
              <a:t>components</a:t>
            </a:r>
            <a:endParaRPr lang="pl-PL" altLang="pl-PL" sz="1600" b="1" u="none" dirty="0">
              <a:latin typeface="Tenorite" panose="00000500000000000000" pitchFamily="2" charset="0"/>
            </a:endParaRPr>
          </a:p>
        </p:txBody>
      </p:sp>
      <p:cxnSp>
        <p:nvCxnSpPr>
          <p:cNvPr id="19" name="Łącznik prostoliniowy 18">
            <a:extLst>
              <a:ext uri="{FF2B5EF4-FFF2-40B4-BE49-F238E27FC236}">
                <a16:creationId xmlns:a16="http://schemas.microsoft.com/office/drawing/2014/main" id="{89D27DAA-EA7F-95CE-E0F1-D0C6ECC8AE2E}"/>
              </a:ext>
            </a:extLst>
          </p:cNvPr>
          <p:cNvCxnSpPr>
            <a:cxnSpLocks noChangeShapeType="1"/>
          </p:cNvCxnSpPr>
          <p:nvPr/>
        </p:nvCxnSpPr>
        <p:spPr bwMode="auto">
          <a:xfrm>
            <a:off x="1882775" y="5807749"/>
            <a:ext cx="6807200" cy="0"/>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cxnSp>
        <p:nvCxnSpPr>
          <p:cNvPr id="20" name="Łącznik prosty ze strzałką 24">
            <a:extLst>
              <a:ext uri="{FF2B5EF4-FFF2-40B4-BE49-F238E27FC236}">
                <a16:creationId xmlns:a16="http://schemas.microsoft.com/office/drawing/2014/main" id="{E7CD466C-F29F-7B2E-491F-D6E29842A549}"/>
              </a:ext>
            </a:extLst>
          </p:cNvPr>
          <p:cNvCxnSpPr>
            <a:cxnSpLocks noChangeShapeType="1"/>
          </p:cNvCxnSpPr>
          <p:nvPr/>
        </p:nvCxnSpPr>
        <p:spPr bwMode="auto">
          <a:xfrm>
            <a:off x="1873250" y="4394874"/>
            <a:ext cx="298450" cy="0"/>
          </a:xfrm>
          <a:prstGeom prst="straightConnector1">
            <a:avLst/>
          </a:prstGeom>
          <a:noFill/>
          <a:ln w="28575" algn="ctr">
            <a:solidFill>
              <a:srgbClr val="00FF00"/>
            </a:solidFill>
            <a:round/>
            <a:headEnd/>
            <a:tailEnd type="triangle" w="med" len="med"/>
          </a:ln>
          <a:extLst>
            <a:ext uri="{909E8E84-426E-40DD-AFC4-6F175D3DCCD1}">
              <a14:hiddenFill xmlns:a14="http://schemas.microsoft.com/office/drawing/2010/main">
                <a:noFill/>
              </a14:hiddenFill>
            </a:ext>
          </a:extLst>
        </p:spPr>
      </p:cxnSp>
      <p:cxnSp>
        <p:nvCxnSpPr>
          <p:cNvPr id="21" name="Łącznik prosty ze strzałką 26">
            <a:extLst>
              <a:ext uri="{FF2B5EF4-FFF2-40B4-BE49-F238E27FC236}">
                <a16:creationId xmlns:a16="http://schemas.microsoft.com/office/drawing/2014/main" id="{3FF26F89-AC4D-C619-0CF4-67104428B264}"/>
              </a:ext>
            </a:extLst>
          </p:cNvPr>
          <p:cNvCxnSpPr>
            <a:cxnSpLocks noChangeShapeType="1"/>
          </p:cNvCxnSpPr>
          <p:nvPr/>
        </p:nvCxnSpPr>
        <p:spPr bwMode="auto">
          <a:xfrm flipV="1">
            <a:off x="5792788" y="5456912"/>
            <a:ext cx="0" cy="588962"/>
          </a:xfrm>
          <a:prstGeom prst="straightConnector1">
            <a:avLst/>
          </a:prstGeom>
          <a:noFill/>
          <a:ln w="28575" algn="ctr">
            <a:solidFill>
              <a:srgbClr val="00FF00"/>
            </a:solidFill>
            <a:round/>
            <a:headEnd/>
            <a:tailEnd type="triangle" w="med" len="med"/>
          </a:ln>
          <a:extLst>
            <a:ext uri="{909E8E84-426E-40DD-AFC4-6F175D3DCCD1}">
              <a14:hiddenFill xmlns:a14="http://schemas.microsoft.com/office/drawing/2010/main">
                <a:noFill/>
              </a14:hiddenFill>
            </a:ext>
          </a:extLst>
        </p:spPr>
      </p:cxnSp>
      <p:sp>
        <p:nvSpPr>
          <p:cNvPr id="22" name="pole tekstowe 21">
            <a:extLst>
              <a:ext uri="{FF2B5EF4-FFF2-40B4-BE49-F238E27FC236}">
                <a16:creationId xmlns:a16="http://schemas.microsoft.com/office/drawing/2014/main" id="{83A95862-41B7-6D5B-726B-DF9CD9047CDB}"/>
              </a:ext>
            </a:extLst>
          </p:cNvPr>
          <p:cNvSpPr txBox="1"/>
          <p:nvPr/>
        </p:nvSpPr>
        <p:spPr>
          <a:xfrm>
            <a:off x="3765550" y="5945862"/>
            <a:ext cx="4176713" cy="338137"/>
          </a:xfrm>
          <a:prstGeom prst="rect">
            <a:avLst/>
          </a:prstGeom>
          <a:noFill/>
        </p:spPr>
        <p:txBody>
          <a:bodyPr>
            <a:spAutoFit/>
          </a:bodyPr>
          <a:lstStyle/>
          <a:p>
            <a:pPr algn="ctr">
              <a:defRPr/>
            </a:pPr>
            <a:r>
              <a:rPr lang="pl-PL" sz="1600" b="1" u="none" dirty="0">
                <a:solidFill>
                  <a:srgbClr val="00FF00"/>
                </a:solidFill>
                <a:effectLst>
                  <a:outerShdw blurRad="38100" dist="38100" dir="2700000" algn="tl">
                    <a:srgbClr val="000000">
                      <a:alpha val="43137"/>
                    </a:srgbClr>
                  </a:outerShdw>
                </a:effectLst>
                <a:latin typeface="Tenorite" panose="00000500000000000000" pitchFamily="2" charset="0"/>
              </a:rPr>
              <a:t>FEEDBACK</a:t>
            </a:r>
          </a:p>
        </p:txBody>
      </p:sp>
      <p:cxnSp>
        <p:nvCxnSpPr>
          <p:cNvPr id="23" name="Łącznik prostoliniowy 21">
            <a:extLst>
              <a:ext uri="{FF2B5EF4-FFF2-40B4-BE49-F238E27FC236}">
                <a16:creationId xmlns:a16="http://schemas.microsoft.com/office/drawing/2014/main" id="{74B00A01-C0B2-9570-6951-A4A759B6C746}"/>
              </a:ext>
            </a:extLst>
          </p:cNvPr>
          <p:cNvCxnSpPr>
            <a:cxnSpLocks noChangeShapeType="1"/>
          </p:cNvCxnSpPr>
          <p:nvPr/>
        </p:nvCxnSpPr>
        <p:spPr bwMode="auto">
          <a:xfrm>
            <a:off x="1882775" y="4394874"/>
            <a:ext cx="0" cy="1435100"/>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cxnSp>
        <p:nvCxnSpPr>
          <p:cNvPr id="24" name="Łącznik prostoliniowy 15">
            <a:extLst>
              <a:ext uri="{FF2B5EF4-FFF2-40B4-BE49-F238E27FC236}">
                <a16:creationId xmlns:a16="http://schemas.microsoft.com/office/drawing/2014/main" id="{E335CEE7-EEB9-5235-ED74-F4BE0F6D8616}"/>
              </a:ext>
            </a:extLst>
          </p:cNvPr>
          <p:cNvCxnSpPr>
            <a:cxnSpLocks noChangeShapeType="1"/>
          </p:cNvCxnSpPr>
          <p:nvPr/>
        </p:nvCxnSpPr>
        <p:spPr bwMode="auto">
          <a:xfrm>
            <a:off x="8689975" y="5412462"/>
            <a:ext cx="0" cy="395287"/>
          </a:xfrm>
          <a:prstGeom prst="line">
            <a:avLst/>
          </a:prstGeom>
          <a:noFill/>
          <a:ln w="38100" algn="ctr">
            <a:solidFill>
              <a:srgbClr val="00FF0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971724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a:latin typeface="Tenorite" panose="00000500000000000000" pitchFamily="2" charset="0"/>
              </a:rPr>
              <a:t>The </a:t>
            </a:r>
            <a:r>
              <a:rPr lang="en-US" sz="5000" dirty="0">
                <a:latin typeface="Tenorite" panose="00000500000000000000" pitchFamily="2" charset="0"/>
              </a:rPr>
              <a:t>Systems </a:t>
            </a:r>
            <a:br>
              <a:rPr lang="pl-PL" sz="5000" dirty="0">
                <a:latin typeface="Tenorite" panose="00000500000000000000" pitchFamily="2" charset="0"/>
              </a:rPr>
            </a:br>
            <a:r>
              <a:rPr lang="pl-PL" sz="5000" dirty="0" err="1">
                <a:latin typeface="Tenorite" panose="00000500000000000000" pitchFamily="2" charset="0"/>
              </a:rPr>
              <a:t>Perspective</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1931821" y="2789777"/>
            <a:ext cx="8328356" cy="336159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Entropy</a:t>
            </a:r>
            <a:r>
              <a:rPr lang="en-US" sz="2000" dirty="0">
                <a:solidFill>
                  <a:srgbClr val="663300"/>
                </a:solidFill>
                <a:latin typeface="Tenorite" panose="00000500000000000000" pitchFamily="2" charset="0"/>
              </a:rPr>
              <a:t> is the tendency of systems to deteriorate or break down over time.</a:t>
            </a:r>
          </a:p>
          <a:p>
            <a:pPr marL="457200" indent="-457200" algn="just" rtl="0">
              <a:lnSpc>
                <a:spcPct val="100000"/>
              </a:lnSpc>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en-US" sz="2000" dirty="0">
              <a:solidFill>
                <a:srgbClr val="663300"/>
              </a:solidFill>
              <a:latin typeface="Tenorite" panose="00000500000000000000" pitchFamily="2" charset="0"/>
            </a:endParaRPr>
          </a:p>
          <a:p>
            <a:pPr algn="just" rtl="0">
              <a:lnSpc>
                <a:spcPct val="100000"/>
              </a:lnSpc>
              <a:buClr>
                <a:srgbClr val="663300"/>
              </a:buClr>
            </a:pPr>
            <a:endParaRPr lang="en-US" sz="20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endParaRPr lang="pl-PL" sz="2000" b="1"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Synergy</a:t>
            </a:r>
            <a:r>
              <a:rPr lang="en-US" sz="2000" dirty="0">
                <a:solidFill>
                  <a:srgbClr val="663300"/>
                </a:solidFill>
                <a:latin typeface="Tenorite" panose="00000500000000000000" pitchFamily="2" charset="0"/>
              </a:rPr>
              <a:t> is the ability of the whole system to equal more than the sum of its parts.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a:solidFill>
                  <a:srgbClr val="663300"/>
                </a:solidFill>
                <a:latin typeface="Tenorite" panose="00000500000000000000" pitchFamily="2" charset="0"/>
              </a:rPr>
              <a:t>Schools of Management 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25</a:t>
            </a:fld>
            <a:endParaRPr lang="pl-PL" sz="1100" noProof="0" dirty="0">
              <a:latin typeface="Tenorite" panose="00000500000000000000" pitchFamily="2" charset="0"/>
            </a:endParaRPr>
          </a:p>
        </p:txBody>
      </p:sp>
      <p:pic>
        <p:nvPicPr>
          <p:cNvPr id="7" name="Picture 3">
            <a:extLst>
              <a:ext uri="{FF2B5EF4-FFF2-40B4-BE49-F238E27FC236}">
                <a16:creationId xmlns:a16="http://schemas.microsoft.com/office/drawing/2014/main" id="{10B90AA8-FB10-5B28-7629-377419F2FA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3350" y="3563937"/>
            <a:ext cx="1009650" cy="110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a:extLst>
              <a:ext uri="{FF2B5EF4-FFF2-40B4-BE49-F238E27FC236}">
                <a16:creationId xmlns:a16="http://schemas.microsoft.com/office/drawing/2014/main" id="{45B52A6F-FB67-3A4B-496A-B08AAAD82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8860" y="3232065"/>
            <a:ext cx="2049295" cy="1730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Strzałka w prawo 2">
            <a:extLst>
              <a:ext uri="{FF2B5EF4-FFF2-40B4-BE49-F238E27FC236}">
                <a16:creationId xmlns:a16="http://schemas.microsoft.com/office/drawing/2014/main" id="{FD03CD43-FC31-50E0-ADE9-EACBE5164D46}"/>
              </a:ext>
            </a:extLst>
          </p:cNvPr>
          <p:cNvSpPr>
            <a:spLocks noChangeArrowheads="1"/>
          </p:cNvSpPr>
          <p:nvPr/>
        </p:nvSpPr>
        <p:spPr bwMode="auto">
          <a:xfrm>
            <a:off x="5116513" y="3908425"/>
            <a:ext cx="1657350" cy="417512"/>
          </a:xfrm>
          <a:prstGeom prst="rightArrow">
            <a:avLst>
              <a:gd name="adj1" fmla="val 50000"/>
              <a:gd name="adj2" fmla="val 50043"/>
            </a:avLst>
          </a:prstGeom>
          <a:solidFill>
            <a:schemeClr val="tx1"/>
          </a:solidFill>
          <a:ln w="9525" algn="ctr">
            <a:solidFill>
              <a:schemeClr val="tx1"/>
            </a:solidFill>
            <a:round/>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pl-PL" altLang="pl-PL" sz="1800"/>
          </a:p>
        </p:txBody>
      </p:sp>
      <p:sp>
        <p:nvSpPr>
          <p:cNvPr id="11" name="pole tekstowe 6">
            <a:extLst>
              <a:ext uri="{FF2B5EF4-FFF2-40B4-BE49-F238E27FC236}">
                <a16:creationId xmlns:a16="http://schemas.microsoft.com/office/drawing/2014/main" id="{3C2EE2E6-477D-BFCA-D771-5321E03901A4}"/>
              </a:ext>
            </a:extLst>
          </p:cNvPr>
          <p:cNvSpPr txBox="1">
            <a:spLocks noChangeArrowheads="1"/>
          </p:cNvSpPr>
          <p:nvPr/>
        </p:nvSpPr>
        <p:spPr bwMode="auto">
          <a:xfrm>
            <a:off x="6737514" y="5490523"/>
            <a:ext cx="35226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spcBef>
                <a:spcPct val="0"/>
              </a:spcBef>
              <a:buClrTx/>
              <a:buSzTx/>
              <a:buFontTx/>
              <a:buNone/>
            </a:pPr>
            <a:r>
              <a:rPr lang="pl-PL" altLang="pl-PL" sz="4400" b="1" u="none" dirty="0">
                <a:solidFill>
                  <a:srgbClr val="7030A0"/>
                </a:solidFill>
              </a:rPr>
              <a:t>1 + 1 = 3</a:t>
            </a:r>
          </a:p>
        </p:txBody>
      </p:sp>
    </p:spTree>
    <p:extLst>
      <p:ext uri="{BB962C8B-B14F-4D97-AF65-F5344CB8AC3E}">
        <p14:creationId xmlns:p14="http://schemas.microsoft.com/office/powerpoint/2010/main" val="1661044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132899" y="706626"/>
            <a:ext cx="5926200" cy="1453003"/>
          </a:xfrm>
        </p:spPr>
        <p:txBody>
          <a:bodyPr wrap="square" rtlCol="0" anchor="b">
            <a:normAutofit fontScale="90000"/>
          </a:bodyPr>
          <a:lstStyle/>
          <a:p>
            <a:pPr rtl="0"/>
            <a:r>
              <a:rPr lang="pl-PL" sz="5000" dirty="0" err="1">
                <a:latin typeface="Tenorite" panose="00000500000000000000" pitchFamily="2" charset="0"/>
              </a:rPr>
              <a:t>Contingency</a:t>
            </a:r>
            <a:r>
              <a:rPr lang="pl-PL" sz="5000" dirty="0">
                <a:latin typeface="Tenorite" panose="00000500000000000000" pitchFamily="2" charset="0"/>
              </a:rPr>
              <a:t> School of Management </a:t>
            </a: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402544" y="2611740"/>
            <a:ext cx="5386910" cy="3012565"/>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The Contingency School of Management can be summarized as an </a:t>
            </a:r>
            <a:br>
              <a:rPr lang="en-US" sz="1900" dirty="0">
                <a:solidFill>
                  <a:srgbClr val="663300"/>
                </a:solidFill>
                <a:latin typeface="Tenorite" panose="00000500000000000000" pitchFamily="2" charset="0"/>
              </a:rPr>
            </a:br>
            <a:r>
              <a:rPr lang="en-US" sz="1900" b="1" dirty="0">
                <a:solidFill>
                  <a:srgbClr val="663300"/>
                </a:solidFill>
                <a:latin typeface="Tenorite" panose="00000500000000000000" pitchFamily="2" charset="0"/>
              </a:rPr>
              <a:t>“it all depends” approach</a:t>
            </a:r>
            <a:r>
              <a:rPr lang="en-US" sz="19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The appropriate management actions and approaches depend on the </a:t>
            </a:r>
            <a:r>
              <a:rPr lang="en-US" sz="1900" b="1" dirty="0">
                <a:solidFill>
                  <a:srgbClr val="663300"/>
                </a:solidFill>
                <a:latin typeface="Tenorite" panose="00000500000000000000" pitchFamily="2" charset="0"/>
              </a:rPr>
              <a:t>situation</a:t>
            </a:r>
            <a:r>
              <a:rPr lang="en-US" sz="1900" dirty="0">
                <a:solidFill>
                  <a:srgbClr val="663300"/>
                </a:solidFill>
                <a:latin typeface="Tenorite" panose="00000500000000000000" pitchFamily="2" charset="0"/>
              </a:rPr>
              <a:t>.</a:t>
            </a:r>
          </a:p>
          <a:p>
            <a:pPr marL="457200" indent="-457200" algn="just" rtl="0">
              <a:lnSpc>
                <a:spcPct val="10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Managers with a contingency view use a flexible approach, draw on a </a:t>
            </a:r>
            <a:r>
              <a:rPr lang="en-US" sz="1900" b="1" dirty="0">
                <a:solidFill>
                  <a:srgbClr val="663300"/>
                </a:solidFill>
                <a:latin typeface="Tenorite" panose="00000500000000000000" pitchFamily="2" charset="0"/>
              </a:rPr>
              <a:t>variety of theories and experiences</a:t>
            </a:r>
            <a:r>
              <a:rPr lang="en-US" sz="1900" dirty="0">
                <a:solidFill>
                  <a:srgbClr val="663300"/>
                </a:solidFill>
                <a:latin typeface="Tenorite" panose="00000500000000000000" pitchFamily="2" charset="0"/>
              </a:rPr>
              <a:t>, and evaluate many options as they solve problems.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26</a:t>
            </a:fld>
            <a:endParaRPr lang="pl-PL" sz="1100" noProof="0" dirty="0">
              <a:latin typeface="Tenorite" panose="00000500000000000000" pitchFamily="2" charset="0"/>
            </a:endParaRPr>
          </a:p>
        </p:txBody>
      </p:sp>
      <p:sp>
        <p:nvSpPr>
          <p:cNvPr id="7" name="Prostokąt 1">
            <a:extLst>
              <a:ext uri="{FF2B5EF4-FFF2-40B4-BE49-F238E27FC236}">
                <a16:creationId xmlns:a16="http://schemas.microsoft.com/office/drawing/2014/main" id="{72088C32-4FC8-715B-C2E5-80AA121066CB}"/>
              </a:ext>
            </a:extLst>
          </p:cNvPr>
          <p:cNvSpPr/>
          <p:nvPr/>
        </p:nvSpPr>
        <p:spPr bwMode="auto">
          <a:xfrm>
            <a:off x="4381838" y="5830531"/>
            <a:ext cx="3428322" cy="320843"/>
          </a:xfrm>
          <a:prstGeom prst="rect">
            <a:avLst/>
          </a:prstGeom>
          <a:solidFill>
            <a:srgbClr val="663300"/>
          </a:solidFill>
          <a:ln w="9525" cap="flat" cmpd="sng" algn="ctr">
            <a:solidFill>
              <a:schemeClr val="tx1"/>
            </a:solidFill>
            <a:prstDash val="solid"/>
            <a:round/>
            <a:headEnd type="none" w="med" len="med"/>
            <a:tailEnd type="none" w="med" len="med"/>
          </a:ln>
          <a:effectLst/>
        </p:spPr>
        <p:txBody>
          <a:bodyPr/>
          <a:lstStyle/>
          <a:p>
            <a:pPr algn="just">
              <a:spcBef>
                <a:spcPct val="0"/>
              </a:spcBef>
              <a:buClr>
                <a:schemeClr val="tx2"/>
              </a:buClr>
              <a:buSzTx/>
              <a:buFontTx/>
              <a:buNone/>
            </a:pPr>
            <a:r>
              <a:rPr lang="en-US" altLang="pl-PL" sz="1600" b="1" u="none" dirty="0">
                <a:solidFill>
                  <a:schemeClr val="bg1"/>
                </a:solidFill>
              </a:rPr>
              <a:t>There is no one best way to manage</a:t>
            </a:r>
          </a:p>
        </p:txBody>
      </p:sp>
    </p:spTree>
    <p:extLst>
      <p:ext uri="{BB962C8B-B14F-4D97-AF65-F5344CB8AC3E}">
        <p14:creationId xmlns:p14="http://schemas.microsoft.com/office/powerpoint/2010/main" val="2057481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56019" y="2575174"/>
            <a:ext cx="6079959" cy="3489579"/>
          </a:xfrm>
        </p:spPr>
        <p:txBody>
          <a:bodyPr rtlCol="0">
            <a:noAutofit/>
          </a:bodyPr>
          <a:lstStyle/>
          <a:p>
            <a:pPr marL="457200" marR="0" lvl="0" indent="-457200" algn="just" defTabSz="914400" rtl="0" eaLnBrk="0" fontAlgn="base" latinLnBrk="0" hangingPunct="0">
              <a:lnSpc>
                <a:spcPct val="100000"/>
              </a:lnSpc>
              <a:spcBef>
                <a:spcPct val="0"/>
              </a:spcBef>
              <a:spcAft>
                <a:spcPct val="0"/>
              </a:spcAft>
              <a:buClrTx/>
              <a:buSzTx/>
              <a:buFontTx/>
              <a:buAutoNum type="arabicPeriod"/>
              <a:tabLst/>
              <a:defRPr/>
            </a:pP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is </a:t>
            </a:r>
            <a:r>
              <a:rPr kumimoji="0" lang="en-US" sz="2400" b="1" i="0"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not</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 core component of administrative management theory?</a:t>
            </a:r>
            <a:endPar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Tx/>
              <a:buAutoNum type="arabicPeriod"/>
              <a:tabLst/>
              <a:defRPr/>
            </a:pPr>
            <a:endPar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Formalized organizational structure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Flat organizational structure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Division of labor</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Delegation of </a:t>
            </a:r>
            <a:r>
              <a:rPr kumimoji="0" lang="pl-PL" sz="24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power</a:t>
            </a:r>
            <a:endPar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0" i="0" u="sng"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840442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56019" y="2575174"/>
            <a:ext cx="6079959" cy="3489579"/>
          </a:xfrm>
        </p:spPr>
        <p:txBody>
          <a:bodyPr rtlCol="0">
            <a:noAutofit/>
          </a:bodyPr>
          <a:lstStyle/>
          <a:p>
            <a:pPr marL="0" marR="0" lvl="0" indent="0" algn="l" defTabSz="914400" rtl="0" eaLnBrk="0" fontAlgn="base" latinLnBrk="0" hangingPunct="0">
              <a:lnSpc>
                <a:spcPct val="100000"/>
              </a:lnSpc>
              <a:spcBef>
                <a:spcPct val="0"/>
              </a:spcBef>
              <a:spcAft>
                <a:spcPts val="1800"/>
              </a:spcAft>
              <a:buClrTx/>
              <a:buSzTx/>
              <a:buFontTx/>
              <a:buNone/>
              <a:tabLst/>
              <a:defRPr/>
            </a:pPr>
            <a:r>
              <a:rPr kumimoji="0" lang="pl-PL"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2</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Who came up with the concept of a therblig?</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Frederick Taylor</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Henry Ford</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Frank and Lillian Gilbreth</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Max Weber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28</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435011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473417" y="2557135"/>
            <a:ext cx="7236827" cy="4261265"/>
          </a:xfrm>
        </p:spPr>
        <p:txBody>
          <a:bodyPr rtlCol="0">
            <a:noAutofit/>
          </a:bodyPr>
          <a:lstStyle/>
          <a:p>
            <a:pPr marL="0" marR="0" lvl="0" indent="0" algn="l" defTabSz="914400" rtl="0" eaLnBrk="0" fontAlgn="base" latinLnBrk="0" hangingPunct="0">
              <a:lnSpc>
                <a:spcPct val="100000"/>
              </a:lnSpc>
              <a:spcBef>
                <a:spcPct val="0"/>
              </a:spcBef>
              <a:spcAft>
                <a:spcPts val="1800"/>
              </a:spcAft>
              <a:buClrTx/>
              <a:buSzTx/>
              <a:buFontTx/>
              <a:buNone/>
              <a:tabLst/>
              <a:defRPr/>
            </a:pPr>
            <a:r>
              <a:rPr kumimoji="0" lang="pl-PL" altLang="pl-PL"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3</a:t>
            </a:r>
            <a:r>
              <a:rPr kumimoji="0" lang="en-US" altLang="pl-PL"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were the Hawthorne Studies?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series of studies on James Hawthorne, a Chicago factory worker</a:t>
            </a:r>
            <a:endParaRPr kumimoji="0" lang="pl-PL"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series of studies on workers at a Western Electric plant near Chicago</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series of studies on workers in Hawthorne, Indiana</a:t>
            </a:r>
            <a:endParaRPr kumimoji="0" lang="pl-PL"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series of studies on workers done by the Hawthorne Research Institute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141666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039289" y="2481118"/>
            <a:ext cx="8114372" cy="4261265"/>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pl-PL" altLang="pl-PL"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4</a:t>
            </a:r>
            <a:r>
              <a:rPr kumimoji="0" lang="en-US" altLang="pl-PL"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Which of the following is considered only by the quantitative school of management?</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Analysing</a:t>
            </a: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the </a:t>
            </a:r>
            <a:r>
              <a:rPr kumimoji="0" lang="en-US" sz="22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behaviour</a:t>
            </a: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of employees in order to make them more productive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err="1">
                <a:ln>
                  <a:noFill/>
                </a:ln>
                <a:solidFill>
                  <a:srgbClr val="000000"/>
                </a:solidFill>
                <a:effectLst/>
                <a:uLnTx/>
                <a:uFillTx/>
                <a:latin typeface="Tenorite" panose="00000500000000000000" pitchFamily="2" charset="0"/>
                <a:cs typeface="Arial" panose="020B0604020202020204" pitchFamily="34" charset="0"/>
              </a:rPr>
              <a:t>Analysing</a:t>
            </a: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the production process and striving to find ways to make it more profitable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Analysis of data using statistical models and simulations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Analysis of company productivity</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30</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865495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r>
              <a:rPr lang="pl-PL" sz="5000" dirty="0">
                <a:latin typeface="Tenorite" panose="00000500000000000000" pitchFamily="2" charset="0"/>
              </a:rPr>
              <a:t> - </a:t>
            </a:r>
            <a:r>
              <a:rPr lang="pl-PL" sz="5000" dirty="0" err="1">
                <a:latin typeface="Tenorite" panose="00000500000000000000" pitchFamily="2" charset="0"/>
              </a:rPr>
              <a:t>Answers</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5549068" y="2968101"/>
            <a:ext cx="1093862" cy="2971226"/>
          </a:xfrm>
        </p:spPr>
        <p:txBody>
          <a:bodyPr rtlCol="0">
            <a:noAutofit/>
          </a:bodyPr>
          <a:lstStyle/>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kumimoji="0" lang="pl-PL" sz="2400" b="1"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rPr>
              <a:t>B.</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C.</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B.</a:t>
            </a: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r>
              <a:rPr lang="pl-PL" sz="2400" b="1" spc="0" dirty="0">
                <a:solidFill>
                  <a:schemeClr val="tx1"/>
                </a:solidFill>
                <a:latin typeface="Tenorite" panose="00000500000000000000" pitchFamily="2" charset="0"/>
                <a:cs typeface="Arial" panose="020B0604020202020204" pitchFamily="34" charset="0"/>
              </a:rPr>
              <a:t>C.</a:t>
            </a: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lang="pl-PL" sz="1800" spc="0" dirty="0">
              <a:solidFill>
                <a:schemeClr val="tx1"/>
              </a:solidFill>
              <a:latin typeface="Tenorite" panose="00000500000000000000" pitchFamily="2" charset="0"/>
              <a:cs typeface="Arial" panose="020B0604020202020204" pitchFamily="34" charset="0"/>
            </a:endParaRPr>
          </a:p>
          <a:p>
            <a:pPr marL="342900" marR="0" lvl="0" indent="-342900" algn="just" defTabSz="914400" rtl="0" eaLnBrk="0" fontAlgn="base" latinLnBrk="0" hangingPunct="0">
              <a:lnSpc>
                <a:spcPct val="100000"/>
              </a:lnSpc>
              <a:spcBef>
                <a:spcPct val="0"/>
              </a:spcBef>
              <a:spcAft>
                <a:spcPts val="1800"/>
              </a:spcAft>
              <a:buClrTx/>
              <a:buSzTx/>
              <a:buFontTx/>
              <a:buAutoNum type="arabicPeriod"/>
              <a:tabLst/>
              <a:defRPr/>
            </a:pPr>
            <a:endParaRPr kumimoji="0" lang="en-US" sz="1800" b="0" i="0" u="none" strike="noStrike" kern="1200" cap="none" spc="0" normalizeH="0" baseline="0" noProof="0" dirty="0">
              <a:ln>
                <a:noFill/>
              </a:ln>
              <a:solidFill>
                <a:schemeClr val="tx1"/>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31</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448665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r>
              <a:rPr lang="pl-PL" sz="1100" dirty="0">
                <a:solidFill>
                  <a:srgbClr val="663300"/>
                </a:solidFill>
                <a:latin typeface="Tenorite" panose="00000500000000000000" pitchFamily="2" charset="0"/>
              </a:rPr>
              <a:t>Schools of Management </a:t>
            </a:r>
            <a:r>
              <a:rPr lang="pl-PL" sz="1100" dirty="0" err="1">
                <a:solidFill>
                  <a:srgbClr val="663300"/>
                </a:solidFill>
                <a:latin typeface="Tenorite" panose="00000500000000000000" pitchFamily="2" charset="0"/>
              </a:rPr>
              <a:t>Thought</a:t>
            </a:r>
            <a:endParaRPr lang="pl-PL" sz="1100" dirty="0">
              <a:solidFill>
                <a:srgbClr val="663300"/>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32</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0" ma:contentTypeDescription="Utwórz nowy dokument." ma:contentTypeScope="" ma:versionID="a3793d6af2a795110064f53c8f17028c">
  <xsd:schema xmlns:xsd="http://www.w3.org/2001/XMLSchema" xmlns:xs="http://www.w3.org/2001/XMLSchema" xmlns:p="http://schemas.microsoft.com/office/2006/metadata/properties" targetNamespace="http://schemas.microsoft.com/office/2006/metadata/properties" ma:root="true" ma:fieldsID="5fb9aac25f9b64d69d83117132aa463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D1309999-888E-44BA-A188-888AF21B1F1C}">
  <ds:schemaRefs>
    <ds:schemaRef ds:uri="http://schemas.microsoft.com/sharepoint/v3/contenttype/forms"/>
  </ds:schemaRefs>
</ds:datastoreItem>
</file>

<file path=customXml/itemProps3.xml><?xml version="1.0" encoding="utf-8"?>
<ds:datastoreItem xmlns:ds="http://schemas.openxmlformats.org/officeDocument/2006/customXml" ds:itemID="{40473737-9DF1-4740-B085-FBD667E9993B}"/>
</file>

<file path=docProps/app.xml><?xml version="1.0" encoding="utf-8"?>
<Properties xmlns="http://schemas.openxmlformats.org/officeDocument/2006/extended-properties" xmlns:vt="http://schemas.openxmlformats.org/officeDocument/2006/docPropsVTypes">
  <Template>Projekt Mroźny</Template>
  <TotalTime>1177</TotalTime>
  <Words>1926</Words>
  <Application>Microsoft Office PowerPoint</Application>
  <PresentationFormat>Panoramiczny</PresentationFormat>
  <Paragraphs>290</Paragraphs>
  <Slides>32</Slides>
  <Notes>32</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32</vt:i4>
      </vt:variant>
    </vt:vector>
  </HeadingPairs>
  <TitlesOfParts>
    <vt:vector size="38" baseType="lpstr">
      <vt:lpstr>Arial</vt:lpstr>
      <vt:lpstr>Calibri</vt:lpstr>
      <vt:lpstr>Tenorite</vt:lpstr>
      <vt:lpstr>Times New Roman</vt:lpstr>
      <vt:lpstr>Wingdings</vt:lpstr>
      <vt:lpstr>FrostyVTI</vt:lpstr>
      <vt:lpstr>Introduction  to management</vt:lpstr>
      <vt:lpstr>Introduction</vt:lpstr>
      <vt:lpstr>Exercise 1</vt:lpstr>
      <vt:lpstr>Schools of Management Thought</vt:lpstr>
      <vt:lpstr>Schools of Management Thought</vt:lpstr>
      <vt:lpstr>Scientific  Management</vt:lpstr>
      <vt:lpstr>Scientific  Management</vt:lpstr>
      <vt:lpstr>Frederick Winslow Taylor </vt:lpstr>
      <vt:lpstr>Exercise 2:  Henry Ford –  Facts &amp; Summary</vt:lpstr>
      <vt:lpstr>Lilian and  Frank Gilbreth</vt:lpstr>
      <vt:lpstr>Administrative Management</vt:lpstr>
      <vt:lpstr>Administrative Management</vt:lpstr>
      <vt:lpstr>Administrative Management</vt:lpstr>
      <vt:lpstr>Administrative Management</vt:lpstr>
      <vt:lpstr>Human-Relation School of Management</vt:lpstr>
      <vt:lpstr>Elton Mayo –  Hawthorne Studies</vt:lpstr>
      <vt:lpstr>Elton Mayo - Hawthorne Studies</vt:lpstr>
      <vt:lpstr>Elton Mayo - Hawthorne Studies</vt:lpstr>
      <vt:lpstr>Conclusions of Hawthorne Studies</vt:lpstr>
      <vt:lpstr>Douglas McGregor - Theory X and theory Y</vt:lpstr>
      <vt:lpstr>Douglas McGregor - Theory X and theory Y</vt:lpstr>
      <vt:lpstr>Exercise 3 –  Theory X/Y</vt:lpstr>
      <vt:lpstr>Quantitative School of Management</vt:lpstr>
      <vt:lpstr>The Systems  Perspective</vt:lpstr>
      <vt:lpstr>The Systems  Perspective</vt:lpstr>
      <vt:lpstr>Contingency School of Management </vt:lpstr>
      <vt:lpstr>Test</vt:lpstr>
      <vt:lpstr>Test</vt:lpstr>
      <vt:lpstr>Test</vt:lpstr>
      <vt:lpstr>Test</vt:lpstr>
      <vt:lpstr>Test - Answers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Głaszczka</cp:lastModifiedBy>
  <cp:revision>30</cp:revision>
  <dcterms:created xsi:type="dcterms:W3CDTF">2022-09-23T12:53:53Z</dcterms:created>
  <dcterms:modified xsi:type="dcterms:W3CDTF">2025-10-09T11:32:16Z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